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
- docs/progress.md
- audit-report/00-summary.md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docs/design/gld/final_design.md
- docs/design/ch/final_design.md
- docs/design/gw/final_design.md
- docs/design/server/final_design.md
- docs/progress.md
- ActivityAI/codexactivity.md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
- Pertamina_GLD_Protocol_Reference.md
- docs/progress.md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docs/design/gld/final_design.md
- docs/design/ch/final_design.md
- docs/design/gw/final_design.md
- docs/design/server/final_design.md
- docs/design/gld-ch/payload-contract.draft.md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docs/design/gld/final_design.md
- docs/design/gld-ch/payload-contract.draft.md
- docs/firmware/gld-ads-mcp-channel-mapping-report.md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docs/design/ch/final_design.md
- docs/design/gld-ch/payload-contract.draft.md
- Pertamina_GLD_Protocol_Reference.md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docs/design/gw/final_design.md
- docs/design/server/final_design.md
- server/nodered/README.md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Pertamina_GLD_Protocol_Reference.md
- docs/progress.md
- docs/design/gld-ch/payload-contract.draft.md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docs/design/gld/final_design.md
- docs/design/ch/final_design.md
- docs/design/gw/final_design.md
- docs/design/server/final_design.md
- docs/progress.md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docs/design/gld/final_design.md
- docs/design/ch/final_design.md
- docs/design/gw/final_design.md
- docs/design/gld-ch/payload-contract.draft.md
- Pertamina_GLD_Protocol_Reference.md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docs/design/gld/final_design.md
- docs/design/ch/final_design.md
- docs/design/gw/final_design.md
- docs/firmware/gld-ads-mcp-channel-mapping-report.md
- docs/firmware/gld-tpl5010-powercycle-test-com3-report.md
-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docs/progress.md
- Pertamina_GLD_Protocol_Reference.md
- docs/design/gld-ch/payload-contract.draft.md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ActivityAI/codexactivity.md
- server/nodered/field-test-logs/field-test-20260729.csv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docs/progress.md
- ActivityAI/codexactivity.md
- audit-report/00-summary.md
- server/nodered/README.md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docs/firmware/gld-tpl5010-powercycle-test-com3-report.md
- docs/design/gld/final_design.md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audit-report/00-summary.md
- docs/firmware/gld-tpl5010-powercycle-test-com3-report.md
- ActivityAI/codexactivity.md
- docs/progress.md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
- docs/progress.md
- audit-report/00-summary.md
- ActivityAI/codexactivity.md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515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</a:rPr>
              <a:t>Pertamina Gas Leak Detection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</a:rPr>
              <a:t>Desain sistem, cara kerja, spesifikasi, dan hasil perbandingan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5413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Ringkasan teknis berbasis dokumen desain, protokol, firmware, Node-RED, dan log uji lapangan repo.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5148072"/>
            <a:ext cx="71323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1143000"/>
            <a:ext cx="306324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67344" y="1271016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Output utama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1618488"/>
            <a:ext cx="2770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Sistem GLD siap dijelaskan sebagai rantai sensor - edge inference - LoRa STAR/MESH - MQTT/Node-RED.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8321040" y="2423160"/>
            <a:ext cx="306324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551176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Bukti kunci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67344" y="2898648"/>
            <a:ext cx="2770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Normal pull, alarm push, dataset capture, TPL5010 sleep-wake, dan field-test logging sudah terdokumentasi.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321040" y="3703320"/>
            <a:ext cx="306324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3831336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Batas klaim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7344" y="4178808"/>
            <a:ext cx="27706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Akurasi model final tidak diklaim; repo menandai model replacement sebagai pekerjaan lanjutan.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EXECUTIVE 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sudah membentuk rantai deteksi end-to-end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Dari sensor gas di node ujung sampai dashboard server lokal.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3832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6367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1. Edge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" y="1984248"/>
            <a:ext cx="3090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GLD membaca 8 sensor MQ melalui ADS1256, melakukan moving average dan inferensi ML lokal, lalu membentuk payload 4 byte yang terenkripsi.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3832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6367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2. Resilient radio path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81144" y="1984248"/>
            <a:ext cx="3090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CH memisahkan STAR untuk GLD dan MESH untuk CH/Gateway, menyimpan NodeCache, serta meneruskan alarm prioritas tanpa menunggu pull.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3832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16367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3. Server observability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30184" y="1984248"/>
            <a:ext cx="3090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Gateway mengubah frame MESH menjadi MQTT; Node-RED melakukan decrypt, dedup, alarm routing, topology UI, dan field-test logs.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196596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959352"/>
            <a:ext cx="180136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Kesimpulan teknis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16352" y="3785616"/>
            <a:ext cx="8183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Rantai normal dan alarm telah terbukti pada bench dan field-test, sementara klaim performa klasifikasi gas masih menunggu model trained final dan dataset validasi lapangan.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AGENDA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pembahasan mengikuti rantai sistem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Setiap bagian menjawab apa yang dibangun, bagaimana bekerja, dan bukti hasilnya.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15600" cy="3794760"/>
        </p:xfrm>
        <a:graphic>
          <a:graphicData uri="http://schemas.openxmlformats.org/drawingml/2006/table">
            <a:tbl>
              <a:tblPr/>
              <a:tblGrid>
                <a:gridCol w="658368"/>
                <a:gridCol w="2331720"/>
                <a:gridCol w="7525512"/>
              </a:tblGrid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01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Desain sistem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Topologi GLD, CH, Gateway, server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02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Cara kerja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Jalur normal pull, alarm push, downlink, dataset/nulling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03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Spesifikasi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Hardware, radio, payload, power, kapasitas cache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04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Hasil uji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Bench, field-test logs, power-cycle, mapping sensor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05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Perbandingan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Mode normal vs alarm, bench vs field, sebelum vs sesudah hardening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06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Implikasi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Keterbatasan dan rekomendasi pengembangan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1508760"/>
            <a:ext cx="1051560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157276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17904" y="157276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Desain sistem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9624" y="1572768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Topologi GLD, CH, Gateway, server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DESAIN SISTEM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dibagi menjadi empat peran yang jelas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GLD menangkap data, CH mengelola cluster, Gateway menjembatani MESH-MQTT, Server memproses data.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22402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048256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GLD node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2395728"/>
            <a:ext cx="1947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8 MQ sensors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ADS1256 24-bit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ML inference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AES-GCM uplink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2402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2048256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Cluster Head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75304" y="2395728"/>
            <a:ext cx="1947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STAR receiver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NodeCache 32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Alarm queue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MESH parent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22402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2048256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Gateway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9944" y="2395728"/>
            <a:ext cx="1947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MESH root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WiFi/LAN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MQTT bridge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Topology publish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9098280" y="1920240"/>
            <a:ext cx="22402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44584" y="2048256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Server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44584" y="2395728"/>
            <a:ext cx="1947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Node-RED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AES decrypt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Dedup/replay guard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Dashboard/logging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2834640" y="2514600"/>
            <a:ext cx="58521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0" y="2514600"/>
            <a:ext cx="58521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2514600"/>
            <a:ext cx="585216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423160" y="2066544"/>
            <a:ext cx="1005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LoRa STAR 920 MHz SF7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175504" y="2066544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LoRa MESH 921 MHz SF9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202168" y="2066544"/>
            <a:ext cx="7315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MQTT :1884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6002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507992"/>
            <a:ext cx="14356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Design principle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14600" y="4224528"/>
            <a:ext cx="877824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Gas inference tetap di edge sehingga jaringan hanya membawa hasil ringkas.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CH tidak perlu decrypt payload; ia menjaga cache dan prioritas alarm sebagai opaque record.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Server menjadi tempat decrypt, dedup, topology state, command, dan logging.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DESAIN GLD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GLD menyatukan sensing, inference, crypto, dan power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Runtime aktif memakai mode persistent: inference, dataset, dan nulling.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7889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9961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Sensing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1847088"/>
            <a:ext cx="2496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8 sensor MQ: MQ8, MQ135, MQ3, MQ5, MQ4, MQ7, MQ6, MQ2. ADS input 0..7 dan TCA/MCP mux 7,6,5,0,1,2,3,4.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657600" y="1371600"/>
            <a:ext cx="25146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3904" y="1499616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Inference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3904" y="1847088"/>
            <a:ext cx="2221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Scan tiap 1.000 ms, moving average 10 sampel, model class dipetakan ke clearGas/LPG/methane/propane/butane/anomaly.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23317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49961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Uplink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47104" y="1847088"/>
            <a:ext cx="2039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Payload 4 byte dienkripsi AES-128-GCM menjadi 29 byte, dibungkus AppFrame 39 byte.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961120" y="1371600"/>
            <a:ext cx="25603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07424" y="149961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Power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07424" y="1847088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24 V, 5 V, atau battery. Battery session pulse DONE lalu CLR untuk mematikan main rail.</a:t>
            </a:r>
            <a:endParaRPr lang="en-US" sz="107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127248"/>
          <a:ext cx="5440680" cy="1874520"/>
        </p:xfrm>
        <a:graphic>
          <a:graphicData uri="http://schemas.openxmlformats.org/drawingml/2006/table">
            <a:tbl>
              <a:tblPr/>
              <a:tblGrid>
                <a:gridCol w="1143000"/>
                <a:gridCol w="3154680"/>
                <a:gridCol w="1143000"/>
              </a:tblGrid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Mode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Fungsi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Koneksi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inference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ADS scan, ML, LoRa uplink, RX window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WiFi off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dataset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Capture data via MQTT untuk training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WiFi/MQTT on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nulling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Kalibrasi DAC baseline per sensor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Offline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13232" y="3127248"/>
            <a:ext cx="544068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3191256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Mode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1892808" y="319125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Fungsi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5047488" y="3191256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Koneksi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6537960" y="3154680"/>
            <a:ext cx="13258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20256" y="3227832"/>
            <a:ext cx="116128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Alarm rule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028432" y="3108960"/>
            <a:ext cx="3337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alarm = gasClass != clearGas &amp;&amp; confidence &gt;= 30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65392" y="3794760"/>
            <a:ext cx="4663440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11827"/>
                </a:solidFill>
              </a:rPr>
              <a:t>Normal monitoring mengirim frame setiap 10 detik.</a:t>
            </a:r>
            <a:endParaRPr lang="en-US" sz="1210" dirty="0"/>
          </a:p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11827"/>
                </a:solidFill>
              </a:rPr>
              <a:t>Alarm meminta compact ACK dan dapat diulang jika belum terkonfirmasi.</a:t>
            </a:r>
            <a:endParaRPr lang="en-US" sz="1210" dirty="0"/>
          </a:p>
          <a:p>
            <a:pPr marL="177800" indent="-177800">
              <a:buSzPct val="100000"/>
              <a:buChar char="•"/>
            </a:pPr>
            <a:r>
              <a:rPr lang="en-US" sz="1210" dirty="0">
                <a:solidFill>
                  <a:srgbClr val="111827"/>
                </a:solidFill>
              </a:rPr>
              <a:t>Downlink SET_MODE diterima hanya setelah uplink membuka RX window.</a:t>
            </a:r>
            <a:endParaRPr lang="en-US" sz="1210" dirty="0"/>
          </a:p>
        </p:txBody>
      </p:sp>
      <p:sp>
        <p:nvSpPr>
          <p:cNvPr id="27" name="Shape 24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DESAIN 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adalah buffer, router, dan pengawal prioritas alarm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Dual radio memisahkan trafik GLD lokal dan trafik MESH menuju parent/Gateway.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4231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9105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Radio A - STAR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938528"/>
            <a:ext cx="213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Menerima GLD SENSOR_DATA pada 920 MHz SF7, mengirim compact alarm ACK dan downlink GLD.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231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59105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Radio B - MESH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21024" y="1938528"/>
            <a:ext cx="213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Meneruskan alarm, CH_HELLO, pull response, dan relay frame pada 921 MHz SF9.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4231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59105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NodeCache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4224" y="1938528"/>
            <a:ext cx="213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32 slot, menyimpan seq, flags, lastSeen, dan encrypted payload terbaru dari GLD.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961120" y="1463040"/>
            <a:ext cx="242316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07424" y="159105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Routing state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07424" y="1938528"/>
            <a:ext cx="213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JOINING, JOINED, failover, parent dwell, anti-loop, dan route verify.</a:t>
            </a:r>
            <a:endParaRPr lang="en-US" sz="107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154680"/>
          <a:ext cx="10515600" cy="1874520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6720840"/>
              </a:tblGrid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Kapasitas / ambang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Nilai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Implikasi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NodeCache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32 GLD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satu snapshot terbaru per node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Alarm queue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8 item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alarm diprioritaskan dari data normal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Data stale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5 menit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tidak ikut pull response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Entry expire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1 jam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slot cache dibersihkan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Response MESH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maks 2 GLD record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</a:rPr>
                        <a:t>34 byte per record, payload max 80 byte</a:t>
                      </a:r>
                      <a:endParaRPr lang="en-US" sz="89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41248" y="3154680"/>
            <a:ext cx="1051560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21868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Kapasitas / ambang</a:t>
            </a:r>
            <a:endParaRPr lang="en-US" sz="890" dirty="0"/>
          </a:p>
        </p:txBody>
      </p:sp>
      <p:sp>
        <p:nvSpPr>
          <p:cNvPr id="21" name="Text 18"/>
          <p:cNvSpPr/>
          <p:nvPr/>
        </p:nvSpPr>
        <p:spPr>
          <a:xfrm>
            <a:off x="3346704" y="321868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Nilai</a:t>
            </a:r>
            <a:endParaRPr lang="en-US" sz="890" dirty="0"/>
          </a:p>
        </p:txBody>
      </p:sp>
      <p:sp>
        <p:nvSpPr>
          <p:cNvPr id="22" name="Text 19"/>
          <p:cNvSpPr/>
          <p:nvPr/>
        </p:nvSpPr>
        <p:spPr>
          <a:xfrm>
            <a:off x="4672584" y="3218688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Implikasi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GATEWAY DAN SERVER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dan Node-RED mengubah radio mesh menjadi data operasional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Gateway tetap sederhana; server memikul decode, dedup, command, UI, dan logging.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927080" cy="2240280"/>
        </p:xfrm>
        <a:graphic>
          <a:graphicData uri="http://schemas.openxmlformats.org/drawingml/2006/table">
            <a:tbl>
              <a:tblPr/>
              <a:tblGrid>
                <a:gridCol w="1234440"/>
                <a:gridCol w="1965960"/>
                <a:gridCol w="2331720"/>
                <a:gridCol w="539496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Layer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Input utama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Output utama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Tanggung jawab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Gateway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LoRa MESH RX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MQTT uplink/status/topology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Bridge WiFi/MQTT, compact ACK, CH_CONFIG response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Node-RED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MQTT uplink/topology/cmd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decoded/alarm/topology/error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AES-GCM decrypt, replay guard, topology state, command signing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Dataset flow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MQTT dataset data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MySQL + CSV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Capture training data dengan schema sensor_voltage/gain/feature_order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Operator hub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COM + HTTP local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Provisioning/monitoring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</a:rPr>
                        <a:t>Flash firmware, configure NVS, observe topology</a:t>
                      </a:r>
                      <a:endParaRPr lang="en-US" sz="84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1417320"/>
            <a:ext cx="1092708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" y="1481328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Layer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1956816" y="1481328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Input utama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3922776" y="148132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Output utama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6254496" y="1481328"/>
            <a:ext cx="5321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Tanggung jawab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777240" y="4251960"/>
            <a:ext cx="18745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4325112"/>
            <a:ext cx="17099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MQTT topics kunci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907792" y="4005072"/>
            <a:ext cx="8138160" cy="10789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</a:rPr>
              <a:t>gld/gateway/uplink - JSON wrapper frame MESH dari Gateway.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</a:rPr>
              <a:t>gld/server/decoded - data GLD non-alarm setelah decrypt.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</a:rPr>
              <a:t>gld/server/alarm - alarm GLD yang lolos autentikasi.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827"/>
                </a:solidFill>
              </a:rPr>
              <a:t>gld/gateway/cmd/pull dan cmd/node - jalur perintah dari server.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CARA KERJA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normal memakai pull agar data cache terkirim sesuai kebutuhan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Data clear/normal tersimpan di CH sampai server meminta melalui hopList rute.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901952"/>
            <a:ext cx="246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10512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GLD kirim SENSOR_DATA normal setiap 10 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2029968"/>
            <a:ext cx="6400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1828800"/>
            <a:ext cx="411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1336" y="1901952"/>
            <a:ext cx="246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79392" y="1810512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CH update NodeCache dan tandai unsent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4768" y="2029968"/>
            <a:ext cx="6400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30568" y="1828800"/>
            <a:ext cx="411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246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60920" y="1810512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Server publish cmd/pull dengan hopList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17152" y="2029968"/>
            <a:ext cx="6400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02952" y="1828800"/>
            <a:ext cx="411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85248" y="1901952"/>
            <a:ext cx="246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24160" y="1810512"/>
            <a:ext cx="1097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CH balas CLUSTER_DATA_RESPONSE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154680"/>
          <a:ext cx="4206240" cy="2148840"/>
        </p:xfrm>
        <a:graphic>
          <a:graphicData uri="http://schemas.openxmlformats.org/drawingml/2006/table">
            <a:tbl>
              <a:tblPr/>
              <a:tblGrid>
                <a:gridCol w="1965960"/>
                <a:gridCol w="2240280"/>
              </a:tblGrid>
              <a:tr h="3069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Bukti bench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Nilai terverifikasi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requestId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recordCount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nodeIdHex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0xF001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decryptOk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gasClass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 clearGas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confidence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22960" y="3154680"/>
            <a:ext cx="4206240" cy="306977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3218688"/>
            <a:ext cx="189280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Bukti bench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825496" y="3218688"/>
            <a:ext cx="2167128" cy="23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Nilai terverifikasi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77840" y="3218688"/>
            <a:ext cx="539496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24144" y="3346704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Interpretasi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724144" y="3694176"/>
            <a:ext cx="51023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Normal path efektif untuk polling berkala: server hanya menarik cache CH ketika route tersedia, sedangkan alarm tidak menunggu mekanisme ini.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CARA KERJA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alarm bersifat push dan prioritas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Saat gasClass bukan clearGas dan confidence cukup, CH meneruskan alarm tanpa menunggu request server.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46888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4533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GLD alarm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892808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typeFlags 0x50/0xD0, payload AES-GCM, compact ACK diperlukan.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246120" y="1901952"/>
            <a:ext cx="6400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31920" y="1417320"/>
            <a:ext cx="24688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78224" y="154533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CH alarm queue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78224" y="1892808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Update cache, ACK ke GLD, enqueue AlarmPush ke MESH.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446520" y="1901952"/>
            <a:ext cx="6400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1417320"/>
            <a:ext cx="24688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154533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Gateway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78624" y="1892808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Terima MESH alarm, publish MQTT, kirim compact ACK ke CH.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9646920" y="1901952"/>
            <a:ext cx="6400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332720" y="1417320"/>
            <a:ext cx="114300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79024" y="1545336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Server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79024" y="1892808"/>
            <a:ext cx="8503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gld/server/alarm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063240"/>
          <a:ext cx="4434840" cy="1920240"/>
        </p:xfrm>
        <a:graphic>
          <a:graphicData uri="http://schemas.openxmlformats.org/drawingml/2006/table">
            <a:tbl>
              <a:tblPr/>
              <a:tblGrid>
                <a:gridCol w="196596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Bukti alarm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Nilai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Topic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gld/server/alarm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outer.typeFlags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208 / 0xD0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gasClass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1 LPG (bench)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confidence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decryptOk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9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22960" y="3063240"/>
            <a:ext cx="443484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3127248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Bukti alarm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2825496" y="312724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Nilai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5897880" y="3200400"/>
            <a:ext cx="5166360" cy="1298448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44184" y="332841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Mengapa jalur ini berbeda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044184" y="3675888"/>
            <a:ext cx="4873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Alarm adalah traffic darurat. Sistem menukar efisiensi polling dengan latensi lebih rendah: CH langsung push ke parent/Gateway, lalu server memproses alarm sebagai stream MQTT.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SPESIFIKASI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Spesifikasi radio dan payload dibuat ringkas tetapi autentik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Frame GLD aktif hanya membawa hasil klasifikasi dan baterai, bukan raw sensor penuh.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5623560" cy="1371600"/>
        </p:xfrm>
        <a:graphic>
          <a:graphicData uri="http://schemas.openxmlformats.org/drawingml/2006/table">
            <a:tbl>
              <a:tblPr/>
              <a:tblGrid>
                <a:gridCol w="1417320"/>
                <a:gridCol w="1005840"/>
                <a:gridCol w="822960"/>
                <a:gridCol w="502920"/>
                <a:gridCol w="502920"/>
                <a:gridCol w="685800"/>
                <a:gridCol w="6858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Freq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BW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SF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CR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Sync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TX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STAR GLD-CH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920.0 MHz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125 kHz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4/5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0x12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17 dBm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MESH CH-GW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921.0 MHz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125 kHz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4/5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0x34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17 dBm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Field-test MESH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921.0 MHz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125 kHz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4/5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0x34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hingga 22 dBm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1325880"/>
            <a:ext cx="562356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138988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Domain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093976" y="138988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Freq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099816" y="13898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BW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22776" y="138988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SF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425696" y="1389888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28616" y="138988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Sync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14416" y="1389888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TX</a:t>
            </a:r>
            <a:endParaRPr lang="en-US" sz="8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25880"/>
          <a:ext cx="5074920" cy="2057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26974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Item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Ukuran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Makna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Plain payload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4 byte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gasClass, confidence, batteryMv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AES-GCM payload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29 byte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keyId, nonce, ciphertext, tag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AppFrame GLD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39 byte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8 byte header + 29 byte payload + CRC16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GLDRecord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34 byte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nodeId, seq, flags, payloadLen, encrypted payload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Cluster response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maks 2 record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</a:rPr>
                        <a:t>6 + 2 x 34 = 74 byte dari 80 byte MESH</a:t>
                      </a:r>
                      <a:endParaRPr lang="en-US" sz="82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492240" y="1325880"/>
            <a:ext cx="507492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28816" y="138988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Item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7946136" y="1389888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Ukuran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8906256" y="1389888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Makna</a:t>
            </a:r>
            <a:endParaRPr lang="en-US" sz="820" dirty="0"/>
          </a:p>
        </p:txBody>
      </p:sp>
      <p:sp>
        <p:nvSpPr>
          <p:cNvPr id="20" name="Shape 16"/>
          <p:cNvSpPr/>
          <p:nvPr/>
        </p:nvSpPr>
        <p:spPr>
          <a:xfrm>
            <a:off x="777240" y="3977640"/>
            <a:ext cx="1737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9536" y="4050792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Security boundary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788920" y="3767328"/>
            <a:ext cx="81381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11827"/>
                </a:solidFill>
              </a:rPr>
              <a:t>GLD mengenkripsi data menggunakan AES-128-GCM dengan nonce 12 byte dan tag 12 byte.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11827"/>
                </a:solidFill>
              </a:rPr>
              <a:t>CH menyimpan payload terenkripsi sebagai opaque bytes; decrypt dilakukan di server.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11827"/>
                </a:solidFill>
              </a:rPr>
              <a:t>Downlink SET_MODE final memakai AES-CMAC 4 byte dan replay guard commandId.</a:t>
            </a:r>
            <a:endParaRPr lang="en-US" sz="1240" dirty="0"/>
          </a:p>
        </p:txBody>
      </p:sp>
      <p:sp>
        <p:nvSpPr>
          <p:cNvPr id="23" name="Shape 19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SPESIFIKASI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Spesifikasi hardware difokuskan pada sensing, radio, dan daya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Beberapa pin berbeda antara profil 4D ESP32-S3 dan WROOM bench.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72800" cy="2514600"/>
        </p:xfrm>
        <a:graphic>
          <a:graphicData uri="http://schemas.openxmlformats.org/drawingml/2006/table">
            <a:tbl>
              <a:tblPr/>
              <a:tblGrid>
                <a:gridCol w="1554480"/>
                <a:gridCol w="3246120"/>
                <a:gridCol w="3017520"/>
                <a:gridCol w="3154680"/>
              </a:tblGrid>
              <a:tr h="359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Komponen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GLD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CH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Gateway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MCU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ESP32-S3 WROOM/4D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ESP32-S3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4D ESP32-S3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Sensor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8 MQ via ADS1256 + TCA/MCP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Tidak baca sensor gas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Tidak baca sensor gas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Radio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SX1262 STAR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2x SX1262: STAR + MESH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SX1262 MESH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Power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24 V / 5 V / battery + TPL5010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battery ADC + WDT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WiFi/LAN powered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Storage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NVS mode + nulling profile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NVS CH ID + parent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provisioned WiFi/MQTT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Output lokal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lamp/buzzer/LED opsional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serial/topology logs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status LED</a:t>
                      </a:r>
                      <a:endParaRPr lang="en-US" sz="83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1325880"/>
            <a:ext cx="1097280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13898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Komponen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2231136" y="138988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GLD</a:t>
            </a:r>
            <a:endParaRPr lang="en-US" sz="830" dirty="0"/>
          </a:p>
        </p:txBody>
      </p:sp>
      <p:sp>
        <p:nvSpPr>
          <p:cNvPr id="10" name="Text 7"/>
          <p:cNvSpPr/>
          <p:nvPr/>
        </p:nvSpPr>
        <p:spPr>
          <a:xfrm>
            <a:off x="5477256" y="1389888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CH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8494776" y="138988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Gateway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749808" y="4370832"/>
            <a:ext cx="3291840" cy="105156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44988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Mapping sensor sudah direkonsiliasi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" y="4846320"/>
            <a:ext cx="2999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ADS0..7 selaras dengan TCA/MCP 7,6,5,0,1,2,3,4; live sweep menunjukkan delta sekitar 469-484 mV.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434840" y="4370832"/>
            <a:ext cx="329184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81144" y="44988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Battery wake terbukti fungsional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81144" y="4846320"/>
            <a:ext cx="2999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TPL5010 + latch memberi rata-rata ON 60,22 s, OFF 100,71 s, periode wake-to-wake 160,95 s.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119872" y="4370832"/>
            <a:ext cx="32918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44988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Produksi vs field-test dipisah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66176" y="4846320"/>
            <a:ext cx="2999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563"/>
                </a:solidFill>
              </a:rPr>
              <a:t>README menegaskan env normal gld/ch/gw terpisah dari field-test dan power-cycle builds.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HASIL UJI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test membuktikan dua jalur komunikasi utama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Normal path dan alarm path sama-sama mencapai Node-RED dengan decrypt valid.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481328"/>
            <a:ext cx="516636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09344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Normal pull path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956816"/>
            <a:ext cx="4873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GLD -&gt; CH cache -&gt; Gateway -&gt; Node-RED decoded.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Terakhir: requestId=1, recordCount=1, decryptOk=true, clearGas confidence 100.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309360" y="1481328"/>
            <a:ext cx="516636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609344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Alarm push path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55664" y="1956816"/>
            <a:ext cx="4873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GLD alarm -&gt; CH alarmQueue -&gt; Gateway -&gt; Node-RED alarm.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4B5563"/>
                </a:solidFill>
              </a:rPr>
              <a:t>Terakhir: gld/server/alarm, decryptOk=true, LPG confidence 30.</a:t>
            </a:r>
            <a:endParaRPr lang="en-US" sz="122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971800"/>
          <a:ext cx="10652760" cy="2057400"/>
        </p:xfrm>
        <a:graphic>
          <a:graphicData uri="http://schemas.openxmlformats.org/drawingml/2006/table">
            <a:tbl>
              <a:tblPr/>
              <a:tblGrid>
                <a:gridCol w="1508760"/>
                <a:gridCol w="4251960"/>
                <a:gridCol w="489204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Aspek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Normal pull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Alarm push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Trigger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Server request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GLD alarm flag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CH behavior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Pilih cache non-alarm oldest-first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ACK GLD + enqueue alarm push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Server topic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gld/server/decoded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gld/server/alarm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Bukti terakhir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recordCount=1, clearGas 100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LPG 30, decryptOk=true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Implikasi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Cocok untuk monitoring periodik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</a:rPr>
                        <a:t>Cocok untuk kejadian darurat</a:t>
                      </a:r>
                      <a:endParaRPr lang="en-US" sz="86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77240" y="2971800"/>
            <a:ext cx="1065276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" y="303580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Aspek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2322576" y="3035808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Normal pull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6574536" y="3035808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Alarm push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HASIL UJI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Field-test logger memberi bukti kuantitatif tanpa serial monitor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Log 29 Juli 2026 merangkum topologi, pull, alarm, replay, dan kualitas link.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2461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54533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2.580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2104" y="18928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baris 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2461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54533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35424" y="18928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pull request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2461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54533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27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38744" y="189280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alarm methane 0x1002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324612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271576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" y="306324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clearGas 0x1001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2587752"/>
            <a:ext cx="32461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271576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-73,1 dBm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35424" y="306324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RSSI rata-rata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2587752"/>
            <a:ext cx="32461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271576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9,0 dB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38744" y="306324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SNR rata-rata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977640"/>
          <a:ext cx="5212080" cy="1371600"/>
        </p:xfrm>
        <a:graphic>
          <a:graphicData uri="http://schemas.openxmlformats.org/drawingml/2006/table">
            <a:tbl>
              <a:tblPr/>
              <a:tblGrid>
                <a:gridCol w="1508760"/>
                <a:gridCol w="777240"/>
                <a:gridCol w="29260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Response status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Count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Makna ringkas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2, recordCount 0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Data belum tersedia / not available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0, recordCount 1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190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Data OK berisi satu GLD record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1, recordCount 0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Cache empty</a:t>
                      </a:r>
                      <a:endParaRPr lang="en-US" sz="8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77240" y="3977640"/>
            <a:ext cx="521208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3816" y="404164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Response status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322576" y="4041648"/>
            <a:ext cx="704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Count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099816" y="40416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Makna ringkas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446520" y="4023360"/>
            <a:ext cx="4800600" cy="1115568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92824" y="415137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Catatan interpretasi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92824" y="4498848"/>
            <a:ext cx="4507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B5563"/>
                </a:solidFill>
              </a:rPr>
              <a:t>RSSI/SNR rata-rata bagus untuk banyak event, tetapi ekstrem -127,5 dBm dan SNR -15,5 dB menunjukkan kondisi field masih memerlukan route selection, failover, dan logging pasif.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PERBANDINGAN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Perbandingan: komunikasi matang, model final perlu validasi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Yang sudah kuat adalah protokol dan jalur end-to-end; akurasi gas masih bergantung model replacement.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2999232"/>
        </p:xfrm>
        <a:graphic>
          <a:graphicData uri="http://schemas.openxmlformats.org/drawingml/2006/table">
            <a:tbl>
              <a:tblPr/>
              <a:tblGrid>
                <a:gridCol w="1325880"/>
                <a:gridCol w="4114800"/>
                <a:gridCol w="5577840"/>
              </a:tblGrid>
              <a:tr h="4284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Dimensi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Sebelum/risiko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Sesudah/bukti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Normal data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CH/Gateway harus selaras pull contract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recordCount=1, decryptOk=true, clearGas 100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Alarm data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ACK/push sempat menjadi follow-up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alarm methane 0x1002 dan LPG bench masuk server alarm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Field observability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Perlu serial monitor tiap board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field-test CSV/JSONL pasif, 2.580 baris log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Routing field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Loop/weak link muncul pada jarak ekstrem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GW retry, weak-link guard, CH field-test parent optimization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Security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Kunci kosong/test key tidak boleh jadi produksi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flow wajib env key/token, replay state atomik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ML inference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Feature order pernah salah dan dataset repo kosong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</a:rPr>
                        <a:t>bug fixed; validasi model final tetap wajib</a:t>
                      </a:r>
                      <a:endParaRPr lang="en-US" sz="81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1234440"/>
            <a:ext cx="1101852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129844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Dimensi</a:t>
            </a:r>
            <a:endParaRPr lang="en-US" sz="810" dirty="0"/>
          </a:p>
        </p:txBody>
      </p:sp>
      <p:sp>
        <p:nvSpPr>
          <p:cNvPr id="9" name="Text 6"/>
          <p:cNvSpPr/>
          <p:nvPr/>
        </p:nvSpPr>
        <p:spPr>
          <a:xfrm>
            <a:off x="1956816" y="129844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Sebelum/risiko</a:t>
            </a:r>
            <a:endParaRPr lang="en-US" sz="810" dirty="0"/>
          </a:p>
        </p:txBody>
      </p:sp>
      <p:sp>
        <p:nvSpPr>
          <p:cNvPr id="10" name="Text 7"/>
          <p:cNvSpPr/>
          <p:nvPr/>
        </p:nvSpPr>
        <p:spPr>
          <a:xfrm>
            <a:off x="6071616" y="1298448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</a:rPr>
              <a:t>Sesudah/bukti</a:t>
            </a:r>
            <a:endParaRPr lang="en-US" sz="810" dirty="0"/>
          </a:p>
        </p:txBody>
      </p:sp>
      <p:sp>
        <p:nvSpPr>
          <p:cNvPr id="11" name="Shape 8"/>
          <p:cNvSpPr/>
          <p:nvPr/>
        </p:nvSpPr>
        <p:spPr>
          <a:xfrm>
            <a:off x="777240" y="4754880"/>
            <a:ext cx="1508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4828032"/>
            <a:ext cx="13441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Readiness call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0320" y="4572000"/>
            <a:ext cx="8641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Sistem siap dipresentasikan sebagai platform deteksi dan komunikasi end-to-end. Untuk klaim deteksi gas produksi, gunakan dataset validasi real-hardware dan model trained final sebagai bukti tambahan.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HASIL UJI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Power-cycle battery sudah lulus secara fungsional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TPL5010, latch, DONE, dan CLR terbukti membentuk siklus wake-sleep berulang.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3695419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75688"/>
            <a:ext cx="35491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ON 60,22 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609819" y="1874520"/>
            <a:ext cx="6180101" cy="65836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2971" y="2075688"/>
            <a:ext cx="60337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</a:rPr>
              <a:t>OFF 100,71 s</a:t>
            </a:r>
            <a:endParaRPr lang="en-US" sz="102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218688"/>
          <a:ext cx="4343400" cy="1874520"/>
        </p:xfrm>
        <a:graphic>
          <a:graphicData uri="http://schemas.openxmlformats.org/drawingml/2006/table">
            <a:tbl>
              <a:tblPr/>
              <a:tblGrid>
                <a:gridCol w="2331720"/>
                <a:gridCol w="2011680"/>
              </a:tblGrid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Nilai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Rata-rata ON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60,22 detik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Rata-rata OFF lengkap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100,71 detik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Wake-to-wake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160,95 detik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PASS fungsional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Keterbatasan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Belum oscilloscope/logic analyzer</a:t>
                      </a:r>
                      <a:endParaRPr lang="en-US" sz="95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68680" y="3218688"/>
            <a:ext cx="434340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" y="3282696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36976" y="328269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Nilai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06440" y="3429000"/>
            <a:ext cx="5120640" cy="1243584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52744" y="355701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Makna untuk desain lapangan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52744" y="3904488"/>
            <a:ext cx="4828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4B5563"/>
                </a:solidFill>
              </a:rPr>
              <a:t>Firmware dapat mematikan main rail setelah sesi battery dan board dapat wake kembali otomatis. Ini mengurangi kebutuhan always-on MCU, meski arus ON/OFF dan waveform mikrodetik masih perlu pengukuran instrumen.</a:t>
            </a:r>
            <a:endParaRPr lang="en-US" sz="1210" dirty="0"/>
          </a:p>
        </p:txBody>
      </p:sp>
      <p:sp>
        <p:nvSpPr>
          <p:cNvPr id="17" name="Shape 14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IMPLIKASI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yang perlu dinyatakan secara jujur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Deck ini memisahkan bukti sistem dari klaim performa klasifikasi gas.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24612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54533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Model gas final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23544" y="1892808"/>
            <a:ext cx="29535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Repo menandai model replacement sebagai next step. Audit juga mencatat dataset CSV in-repo tidak cukup untuk regression check akurasi.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24612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54533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Pengukuran power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81144" y="1892808"/>
            <a:ext cx="29535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TPL5010 PASS secara fungsional, tetapi waveform DONE/CLR/WAKE belum diverifikasi dengan oscilloscope.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24612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54533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Field link budget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38744" y="1892808"/>
            <a:ext cx="29535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Log menunjukkan link ekstrem sangat lemah; deployment butuh penempatan CH/GW, failover, dan threshold yang divalidasi.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68680" y="3429000"/>
            <a:ext cx="21031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502152"/>
            <a:ext cx="19385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Rekomendasi berikutnya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3182112"/>
            <a:ext cx="800100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11827"/>
                </a:solidFill>
              </a:rPr>
              <a:t>Ambil dataset gas real-hardware per kelas dengan protokol label yang konsisten.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11827"/>
                </a:solidFill>
              </a:rPr>
              <a:t>Replace model_data dan scaler_params dari training final, lalu uji confusion matrix di hardware.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11827"/>
                </a:solidFill>
              </a:rPr>
              <a:t>Lakukan field range test dengan logger aktif: topology, pull, alarm, RSSI/SNR, dan route transitions.</a:t>
            </a:r>
            <a:endParaRPr lang="en-US" sz="1230" dirty="0"/>
          </a:p>
          <a:p>
            <a:pPr marL="177800" indent="-177800">
              <a:buSzPct val="100000"/>
              <a:buChar char="•"/>
            </a:pPr>
            <a:r>
              <a:rPr lang="en-US" sz="1230" dirty="0">
                <a:solidFill>
                  <a:srgbClr val="111827"/>
                </a:solidFill>
              </a:rPr>
              <a:t>Ukur konsumsi arus ON/OFF dan waveform TPL5010 menggunakan oscilloscope atau logic analyzer.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PENUTUP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012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end-to-end sudah ada; bukti model final menyusul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Bagian komunikasi, protokol, topology, alarm, dan power sudah punya bukti teknis yang dapat dipresentasikan.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246120" cy="132588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63677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Yang sudah kuat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984248"/>
            <a:ext cx="2953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Desain modular GLD-CH-GW-Server, protokol AppFrame/AES, normal pull, alarm push, topology UI, dan field-test logging.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24612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63677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Yang perlu dijaga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26864" y="1984248"/>
            <a:ext cx="2953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Pemakaian build produksi vs field-test, credential MQTT/AES, dan dokumentasi route/link quality saat deployment.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24612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63677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Yang belum boleh diklaim berlebih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84464" y="1984248"/>
            <a:ext cx="2953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B5563"/>
                </a:solidFill>
              </a:rPr>
              <a:t>Akurasi klasifikasi gas produksi sebelum ada dataset validasi dan model trained final dari hardware target.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960120" y="4315968"/>
            <a:ext cx="10012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Deck ini dirancang untuk menjadi bahan presentasi teknis: bisa dipakai langsung, lalu diperbarui ketika data akurasi model final tersedia.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Pertamina GLD - technical presentation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77295" y="65471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Pertamina GLD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Pertamina Gas Leak Detection - Presentasi Teknis Detail</dc:title>
  <dc:subject>Detailed technical presentation: design, operation, specification, and comparison results</dc:subject>
  <dc:creator>OpenAI Codex</dc:creator>
  <cp:lastModifiedBy>OpenAI Codex</cp:lastModifiedBy>
  <cp:revision>1</cp:revision>
  <dcterms:created xsi:type="dcterms:W3CDTF">2026-08-26T06:17:32Z</dcterms:created>
  <dcterms:modified xsi:type="dcterms:W3CDTF">2026-08-26T06:17:32Z</dcterms:modified>
</cp:coreProperties>
</file>
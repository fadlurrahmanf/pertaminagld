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b9714746554566" /><Relationship Type="http://schemas.openxmlformats.org/officeDocument/2006/relationships/extended-properties" Target="/docProps/app.xml" Id="R6e43d397db394135" /><Relationship Type="http://schemas.openxmlformats.org/officeDocument/2006/relationships/officeDocument" Target="/ppt/presentation.xml" Id="Rdf7fc09628b94a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dbdfff655b433b"/>
  </p:sldMasterIdLst>
  <p:notesMasterIdLst>
    <p:notesMasterId xmlns:r="http://schemas.openxmlformats.org/officeDocument/2006/relationships" r:id="R7f99b2cd8c284dbd"/>
  </p:notesMasterIdLst>
  <p:sldIdLst>
    <p:sldId xmlns:r="http://schemas.openxmlformats.org/officeDocument/2006/relationships" id="256" r:id="Rc2834c37ae284c45"/>
    <p:sldId xmlns:r="http://schemas.openxmlformats.org/officeDocument/2006/relationships" id="257" r:id="R98d7c2892cba4b78"/>
    <p:sldId xmlns:r="http://schemas.openxmlformats.org/officeDocument/2006/relationships" id="258" r:id="R86a87e72976d4518"/>
    <p:sldId xmlns:r="http://schemas.openxmlformats.org/officeDocument/2006/relationships" id="259" r:id="R7ae3dfe080ed45a9"/>
    <p:sldId xmlns:r="http://schemas.openxmlformats.org/officeDocument/2006/relationships" id="260" r:id="Rca536fa529974139"/>
    <p:sldId xmlns:r="http://schemas.openxmlformats.org/officeDocument/2006/relationships" id="261" r:id="Raff9bf589be9482e"/>
    <p:sldId xmlns:r="http://schemas.openxmlformats.org/officeDocument/2006/relationships" id="262" r:id="R6e81d28fc5ea4f28"/>
    <p:sldId xmlns:r="http://schemas.openxmlformats.org/officeDocument/2006/relationships" id="263" r:id="R537422f5d2f24f69"/>
    <p:sldId xmlns:r="http://schemas.openxmlformats.org/officeDocument/2006/relationships" id="264" r:id="R78a79dfe9d9c4250"/>
    <p:sldId xmlns:r="http://schemas.openxmlformats.org/officeDocument/2006/relationships" id="265" r:id="Rbd5578c6e2be4e87"/>
    <p:sldId xmlns:r="http://schemas.openxmlformats.org/officeDocument/2006/relationships" id="266" r:id="R0d5376f8963241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5c57ee778149f5" /><Relationship Type="http://schemas.openxmlformats.org/officeDocument/2006/relationships/slideMaster" Target="/ppt/slideMasters/slideMaster1.xml" Id="R16dbdfff655b433b" /><Relationship Type="http://schemas.openxmlformats.org/officeDocument/2006/relationships/notesMaster" Target="/ppt/notesMasters/notesMaster1.xml" Id="R7f99b2cd8c284dbd" /><Relationship Type="http://schemas.openxmlformats.org/officeDocument/2006/relationships/presProps" Target="/ppt/presProps.xml" Id="Rd5b014b64c704485" /><Relationship Type="http://schemas.openxmlformats.org/officeDocument/2006/relationships/tableStyles" Target="/ppt/tableStyles.xml" Id="Ree9291d462834cb4" /><Relationship Type="http://schemas.openxmlformats.org/officeDocument/2006/relationships/slide" Target="/ppt/slides/slide1.xml" Id="Rc2834c37ae284c45" /><Relationship Type="http://schemas.openxmlformats.org/officeDocument/2006/relationships/slide" Target="/ppt/slides/slide2.xml" Id="R98d7c2892cba4b78" /><Relationship Type="http://schemas.openxmlformats.org/officeDocument/2006/relationships/slide" Target="/ppt/slides/slide3.xml" Id="R86a87e72976d4518" /><Relationship Type="http://schemas.openxmlformats.org/officeDocument/2006/relationships/slide" Target="/ppt/slides/slide4.xml" Id="R7ae3dfe080ed45a9" /><Relationship Type="http://schemas.openxmlformats.org/officeDocument/2006/relationships/slide" Target="/ppt/slides/slide5.xml" Id="Rca536fa529974139" /><Relationship Type="http://schemas.openxmlformats.org/officeDocument/2006/relationships/slide" Target="/ppt/slides/slide6.xml" Id="Raff9bf589be9482e" /><Relationship Type="http://schemas.openxmlformats.org/officeDocument/2006/relationships/slide" Target="/ppt/slides/slide7.xml" Id="R6e81d28fc5ea4f28" /><Relationship Type="http://schemas.openxmlformats.org/officeDocument/2006/relationships/slide" Target="/ppt/slides/slide8.xml" Id="R537422f5d2f24f69" /><Relationship Type="http://schemas.openxmlformats.org/officeDocument/2006/relationships/slide" Target="/ppt/slides/slide9.xml" Id="R78a79dfe9d9c4250" /><Relationship Type="http://schemas.openxmlformats.org/officeDocument/2006/relationships/slide" Target="/ppt/slides/slide10.xml" Id="Rbd5578c6e2be4e87" /><Relationship Type="http://schemas.openxmlformats.org/officeDocument/2006/relationships/slide" Target="/ppt/slides/slide11.xml" Id="R0d5376f89632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05abbb6fc64b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3a767469e840a6" /><Relationship Type="http://schemas.openxmlformats.org/officeDocument/2006/relationships/notesMaster" Target="/ppt/notesMasters/notesMaster1.xml" Id="Rbc0c141c57a9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644c4af8ec4f94" /><Relationship Type="http://schemas.openxmlformats.org/officeDocument/2006/relationships/notesMaster" Target="/ppt/notesMasters/notesMaster1.xml" Id="R1ab4386a9cf44f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3c18f553154a7c" /><Relationship Type="http://schemas.openxmlformats.org/officeDocument/2006/relationships/notesMaster" Target="/ppt/notesMasters/notesMaster1.xml" Id="R3233e91d21a745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cbf972a8014190" /><Relationship Type="http://schemas.openxmlformats.org/officeDocument/2006/relationships/notesMaster" Target="/ppt/notesMasters/notesMaster1.xml" Id="R3252b4c0062b47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9492cd85064d3d" /><Relationship Type="http://schemas.openxmlformats.org/officeDocument/2006/relationships/notesMaster" Target="/ppt/notesMasters/notesMaster1.xml" Id="Ra380c3d5abe749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1e2035650a40b9" /><Relationship Type="http://schemas.openxmlformats.org/officeDocument/2006/relationships/notesMaster" Target="/ppt/notesMasters/notesMaster1.xml" Id="R1569088a126348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d866a5162b4ad6" /><Relationship Type="http://schemas.openxmlformats.org/officeDocument/2006/relationships/notesMaster" Target="/ppt/notesMasters/notesMaster1.xml" Id="R786e88dadf674c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6aa5f3efc4308" /><Relationship Type="http://schemas.openxmlformats.org/officeDocument/2006/relationships/notesMaster" Target="/ppt/notesMasters/notesMaster1.xml" Id="Ree0d749a3df746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9d2bf067f14ef3" /><Relationship Type="http://schemas.openxmlformats.org/officeDocument/2006/relationships/notesMaster" Target="/ppt/notesMasters/notesMaster1.xml" Id="R7ac3eeed4ea244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bc5ce4978643a6" /><Relationship Type="http://schemas.openxmlformats.org/officeDocument/2006/relationships/notesMaster" Target="/ppt/notesMasters/notesMaster1.xml" Id="Rd5f64a07fdf345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9d78b8a48a4e0d" /><Relationship Type="http://schemas.openxmlformats.org/officeDocument/2006/relationships/notesMaster" Target="/ppt/notesMasters/notesMaster1.xml" Id="R3a7979bade3943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Catatan rapat yang diberikan pengguna, 13 Agustus 2026.</a:t>
            </a:r>
          </a:p>
          <a:p xmlns:a="http://schemas.openxmlformats.org/drawingml/2006/main">
            <a:r>
              <a:t>Repository PertaminaGLD: dokumen desain dan source firmware (audit read-only).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Catatan rapat pengguna.</a:t>
            </a:r>
          </a:p>
          <a:p xmlns:a="http://schemas.openxmlformats.org/drawingml/2006/main">
            <a:r>
              <a:t>docs/design/gw-server/final_design.md</a:t>
            </a:r>
          </a:p>
          <a:p xmlns:a="http://schemas.openxmlformats.org/drawingml/2006/main">
            <a:r>
              <a:t>docs/design/gld-ch/payload-contract.draft.md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docs/design/gld/final_design.md:594-595</a:t>
            </a:r>
          </a:p>
          <a:p xmlns:a="http://schemas.openxmlformats.org/drawingml/2006/main">
            <a:r>
              <a:t>docs/design/gld-ch/payload-contract.draft.md:177-202</a:t>
            </a:r>
          </a:p>
          <a:p xmlns:a="http://schemas.openxmlformats.org/drawingml/2006/main">
            <a:r>
              <a:t>docs/design/gw-server/final_design.md:38-47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Pemetaan integrasi berdasarkan catatan rapat dan source PertaminaGLD.</a:t>
            </a:r>
          </a:p>
          <a:p xmlns:a="http://schemas.openxmlformats.org/drawingml/2006/main">
            <a:r>
              <a:t>docs/design/gw-server/final_design.md:58-104</a:t>
            </a:r>
          </a:p>
          <a:p xmlns:a="http://schemas.openxmlformats.org/drawingml/2006/main">
            <a:r>
              <a:t>docs/design/ch/final_design.md:174-194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Catatan rapat pengguna.</a:t>
            </a:r>
          </a:p>
          <a:p xmlns:a="http://schemas.openxmlformats.org/drawingml/2006/main">
            <a:r>
              <a:t>docs/design/gld/final_design.md:167-179 (mode power firmware; bukan bukti rating 2 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firmware/gateway/src/GatewayMqttMeshMain.cpp:636-655, 788-828, 1589-1686</a:t>
            </a:r>
          </a:p>
          <a:p xmlns:a="http://schemas.openxmlformats.org/drawingml/2006/main">
            <a:r>
              <a:t>firmware/config/ServerConfig.h:36-64</a:t>
            </a:r>
          </a:p>
          <a:p xmlns:a="http://schemas.openxmlformats.org/drawingml/2006/main">
            <a:r>
              <a:t>firmware/config/GwConfig.h:97-103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server/nodered/flows/flows.json</a:t>
            </a:r>
          </a:p>
          <a:p xmlns:a="http://schemas.openxmlformats.org/drawingml/2006/main">
            <a:r>
              <a:t>docs/design/server/final_design.md:96-136</a:t>
            </a:r>
          </a:p>
          <a:p xmlns:a="http://schemas.openxmlformats.org/drawingml/2006/main">
            <a:r>
              <a:t>docs/design/gw-server/final_design.md:58-104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docs/design/gld-ch/payload-contract.draft.md:20-44, 116-166, 192-242</a:t>
            </a:r>
          </a:p>
          <a:p xmlns:a="http://schemas.openxmlformats.org/drawingml/2006/main">
            <a:r>
              <a:t>firmware/gateway/src/GatewayMqttMeshMain.cpp:1281-1325</a:t>
            </a:r>
          </a:p>
          <a:p xmlns:a="http://schemas.openxmlformats.org/drawingml/2006/main">
            <a:r>
              <a:t>firmware/config/GwConfig.h:27-35 (status GW 10 detik; buffer bukan ukuran payload).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Catatan rapat pengguna.</a:t>
            </a:r>
          </a:p>
          <a:p xmlns:a="http://schemas.openxmlformats.org/drawingml/2006/main">
            <a:r>
              <a:t>docs/design/gw-server/final_design.md:186-195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Rangkuman tanggung jawab dari catatan rapat dan audit integrasi PertaminaGLD.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Catatan rapat pengguna.</a:t>
            </a:r>
          </a:p>
          <a:p xmlns:a="http://schemas.openxmlformats.org/drawingml/2006/main">
            <a:r>
              <a:t>Acceptance synthesis from source-backed integration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6ed4e2418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ac7a58139a4636" /><Relationship Type="http://schemas.openxmlformats.org/officeDocument/2006/relationships/slideLayout" Target="/ppt/slideLayouts/slideLayout1.xml" Id="R30f2e38614ec45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2e38614ec45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1c44d25ab4d26" /><Relationship Type="http://schemas.openxmlformats.org/officeDocument/2006/relationships/notesSlide" Target="/ppt/notesSlides/notesSlide1.xml" Id="R49bb898a11e045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c0ae01ffb42f9" /><Relationship Type="http://schemas.openxmlformats.org/officeDocument/2006/relationships/notesSlide" Target="/ppt/notesSlides/notesSlide2.xml" Id="R7eff75d5f3bf48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dd7d9558d425d" /><Relationship Type="http://schemas.openxmlformats.org/officeDocument/2006/relationships/notesSlide" Target="/ppt/notesSlides/notesSlide3.xml" Id="R1ea64b5eb13c4c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051c612ae4c8d" /><Relationship Type="http://schemas.openxmlformats.org/officeDocument/2006/relationships/notesSlide" Target="/ppt/notesSlides/notesSlide4.xml" Id="R05336de1f02447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2e907bf3a48fc" /><Relationship Type="http://schemas.openxmlformats.org/officeDocument/2006/relationships/notesSlide" Target="/ppt/notesSlides/notesSlide5.xml" Id="Radc2f977ad8549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44b0f042147c1" /><Relationship Type="http://schemas.openxmlformats.org/officeDocument/2006/relationships/notesSlide" Target="/ppt/notesSlides/notesSlide6.xml" Id="R58c1d4522e3a4f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b5de203ff4262" /><Relationship Type="http://schemas.openxmlformats.org/officeDocument/2006/relationships/notesSlide" Target="/ppt/notesSlides/notesSlide7.xml" Id="R5e22e20951de40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148ca9b76481a" /><Relationship Type="http://schemas.openxmlformats.org/officeDocument/2006/relationships/notesSlide" Target="/ppt/notesSlides/notesSlide8.xml" Id="R41005129bc3d4a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6051c630b4bec" /><Relationship Type="http://schemas.openxmlformats.org/officeDocument/2006/relationships/notesSlide" Target="/ppt/notesSlides/notesSlide9.xml" Id="R4172ad289b9746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491da7fb84e53" /><Relationship Type="http://schemas.openxmlformats.org/officeDocument/2006/relationships/notesSlide" Target="/ppt/notesSlides/notesSlide10.xml" Id="Rc8f4735ec6b245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38866bc0b4fda" /><Relationship Type="http://schemas.openxmlformats.org/officeDocument/2006/relationships/notesSlide" Target="/ppt/notesSlides/notesSlide11.xml" Id="Rac025c77527d48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1266815F-01F8-45F1-86A8-59B5FEB4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PERTAMINA × LGU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8D3E00D-5B3E-47E6-8534-D54D2F84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810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Kesiapan Integrasi</a:t>
            </a:r>
          </a:p>
          <a:p xmlns:a="http://schemas.openxmlformats.org/drawingml/2006/main">
            <a:pPr algn="l">
              <a:defRPr sz="4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GLD · CH · Gateway · Server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3C3143C-D966-4AF4-AB36-773E1B84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Daftar pertanyaan dan keputusan sebelum pemasangan awal</a:t>
            </a:r>
          </a:p>
        </p:txBody>
      </p:sp>
      <p:sp>
        <p:nvSpPr>
          <p:cNvPr id="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EE43043-6DE8-4A8B-917B-C2850DB6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0125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C6A538-7DBC-4F30-A98E-4E9FF2DD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13 Agustus 2026</a:t>
            </a:r>
          </a:p>
        </p:txBody>
      </p:sp>
    </p:spTree>
    <p:extLst>
      <p:ext uri="{BB962C8B-B14F-4D97-AF65-F5344CB8AC3E}">
        <p14:creationId xmlns:p14="http://schemas.microsoft.com/office/powerpoint/2010/main" val="2974200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0461F9-C50B-4ACF-AA11-32F15D59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99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Tujuan rapat: menetapkan prasyarat sebelum tanggal pemasangan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DEA7CC6-BE0E-4A41-9B23-BF2D7185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C530403-735E-46F2-879A-67D5B50B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62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Tanggal pemasangan awal baru dapat dijanjikan setelah empat kelompok keputusan ditutup bersama.</a:t>
            </a:r>
          </a:p>
        </p:txBody>
      </p:sp>
      <p:sp>
        <p:nvSpPr>
          <p:cNvPr id="4" name="gate-0">
            <a:extLst xmlns:a="http://schemas.openxmlformats.org/drawingml/2006/main">
              <a:ext uri="{FF2B5EF4-FFF2-40B4-BE49-F238E27FC236}">
                <a16:creationId xmlns:a16="http://schemas.microsoft.com/office/drawing/2014/main" id="{5564908A-DFBD-4FC7-B094-CCD6522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2E6E76-2CF9-4FE6-96B4-BF34BC60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CE3778-5D8F-459F-AC4F-6460F7A7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Fisik siap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AB9C0A4-E03B-41A4-AC68-2D4500DB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Power, mounting, antena, akses</a:t>
            </a:r>
          </a:p>
        </p:txBody>
      </p:sp>
      <p:sp>
        <p:nvSpPr>
          <p:cNvPr id="8" name="gate-1">
            <a:extLst xmlns:a="http://schemas.openxmlformats.org/drawingml/2006/main">
              <a:ext uri="{FF2B5EF4-FFF2-40B4-BE49-F238E27FC236}">
                <a16:creationId xmlns:a16="http://schemas.microsoft.com/office/drawing/2014/main" id="{41AFC729-4DC5-4D00-ADCF-41BFBB1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38375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8A1485-B63F-46F9-802B-462538DB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1477F2-13BC-46E4-A65D-C32338CF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Jaringan siap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515DEE5-E9D3-48E4-B3C3-55949DD2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IP, firewall, broker, security</a:t>
            </a:r>
          </a:p>
        </p:txBody>
      </p:sp>
      <p:sp>
        <p:nvSpPr>
          <p:cNvPr id="12" name="gate-2">
            <a:extLst xmlns:a="http://schemas.openxmlformats.org/drawingml/2006/main">
              <a:ext uri="{FF2B5EF4-FFF2-40B4-BE49-F238E27FC236}">
                <a16:creationId xmlns:a16="http://schemas.microsoft.com/office/drawing/2014/main" id="{DA56907F-8161-475E-9AA5-29603AC3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B20C9B-06E4-49F1-A3A0-F711B5DD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71BDDB0-621E-46CE-8F19-808FB42B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Server siap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E0D68C4-6D23-42A4-A289-8C825AF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VM/OS, database, hak admin</a:t>
            </a:r>
          </a:p>
        </p:txBody>
      </p:sp>
      <p:sp>
        <p:nvSpPr>
          <p:cNvPr id="16" name="gate-3">
            <a:extLst xmlns:a="http://schemas.openxmlformats.org/drawingml/2006/main">
              <a:ext uri="{FF2B5EF4-FFF2-40B4-BE49-F238E27FC236}">
                <a16:creationId xmlns:a16="http://schemas.microsoft.com/office/drawing/2014/main" id="{5D500FDD-D4E1-4706-8CF4-D9CE1502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A5CBE8F-00F0-4728-B24C-586AD03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162A9F0-BC43-4C62-8848-3A893010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SAT disepakati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9DF1827-9425-46E9-923D-38AC8AD9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Uji normal, alarm, command, recovery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6911ED3-EF1C-4A2B-A549-DA59E89F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 yang diminta dari Pertamina: PIC, keputusan teknis, bukti kesiapan, dan target tanggal per item.</a:t>
            </a:r>
          </a:p>
        </p:txBody>
      </p:sp>
    </p:spTree>
    <p:extLst>
      <p:ext uri="{BB962C8B-B14F-4D97-AF65-F5344CB8AC3E}">
        <p14:creationId xmlns:p14="http://schemas.microsoft.com/office/powerpoint/2010/main" val="10878218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F657D0-44B5-41B8-9673-D4D20667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8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Arsitektur end-to-end: data naik, kontrol kembali melalui jalur yang sama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923CC60-AD36-47E1-AAC7-30EA51BE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data-arrow-1">
            <a:extLst xmlns:a="http://schemas.openxmlformats.org/drawingml/2006/main">
              <a:ext uri="{FF2B5EF4-FFF2-40B4-BE49-F238E27FC236}">
                <a16:creationId xmlns:a16="http://schemas.microsoft.com/office/drawing/2014/main" id="{478B1BC0-D9BD-4CC5-B16C-099B137E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60007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ata-arrow-2">
            <a:extLst xmlns:a="http://schemas.openxmlformats.org/drawingml/2006/main">
              <a:ext uri="{FF2B5EF4-FFF2-40B4-BE49-F238E27FC236}">
                <a16:creationId xmlns:a16="http://schemas.microsoft.com/office/drawing/2014/main" id="{5CAC31CC-93C9-4172-B26E-3A355BF1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42862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data-arrow-3">
            <a:extLst xmlns:a="http://schemas.openxmlformats.org/drawingml/2006/main">
              <a:ext uri="{FF2B5EF4-FFF2-40B4-BE49-F238E27FC236}">
                <a16:creationId xmlns:a16="http://schemas.microsoft.com/office/drawing/2014/main" id="{0E614AC2-A721-44CE-862D-28F8032B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42862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control-arrow-1">
            <a:extLst xmlns:a="http://schemas.openxmlformats.org/drawingml/2006/main">
              <a:ext uri="{FF2B5EF4-FFF2-40B4-BE49-F238E27FC236}">
                <a16:creationId xmlns:a16="http://schemas.microsoft.com/office/drawing/2014/main" id="{C3145D39-5882-4A39-BFB1-D86BE50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14750"/>
            <a:ext cx="600075" cy="3333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6670"/>
          </a:solidFill>
          <a:ln xmlns:a="http://schemas.openxmlformats.org/drawingml/2006/main" w="0">
            <a:solidFill>
              <a:srgbClr val="5F6670"/>
            </a:solidFill>
            <a:prstDash val="solid"/>
          </a:ln>
        </p:spPr>
      </p:sp>
      <p:sp>
        <p:nvSpPr>
          <p:cNvPr id="7" name="control-arrow-2">
            <a:extLst xmlns:a="http://schemas.openxmlformats.org/drawingml/2006/main">
              <a:ext uri="{FF2B5EF4-FFF2-40B4-BE49-F238E27FC236}">
                <a16:creationId xmlns:a16="http://schemas.microsoft.com/office/drawing/2014/main" id="{319BEA09-F5A1-497F-AAA7-94BC484D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14750"/>
            <a:ext cx="428625" cy="3333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6670"/>
          </a:solidFill>
          <a:ln xmlns:a="http://schemas.openxmlformats.org/drawingml/2006/main" w="0">
            <a:solidFill>
              <a:srgbClr val="5F6670"/>
            </a:solidFill>
            <a:prstDash val="solid"/>
          </a:ln>
        </p:spPr>
      </p:sp>
      <p:sp>
        <p:nvSpPr>
          <p:cNvPr id="8" name="control-arrow-3">
            <a:extLst xmlns:a="http://schemas.openxmlformats.org/drawingml/2006/main">
              <a:ext uri="{FF2B5EF4-FFF2-40B4-BE49-F238E27FC236}">
                <a16:creationId xmlns:a16="http://schemas.microsoft.com/office/drawing/2014/main" id="{E6A47556-7A06-44A5-BD60-5ED851E0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428625" cy="3333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6670"/>
          </a:solidFill>
          <a:ln xmlns:a="http://schemas.openxmlformats.org/drawingml/2006/main" w="0">
            <a:solidFill>
              <a:srgbClr val="5F6670"/>
            </a:solidFill>
            <a:prstDash val="solid"/>
          </a:ln>
        </p:spPr>
      </p:sp>
      <p:sp>
        <p:nvSpPr>
          <p:cNvPr id="9" name="node-0">
            <a:extLst xmlns:a="http://schemas.openxmlformats.org/drawingml/2006/main">
              <a:ext uri="{FF2B5EF4-FFF2-40B4-BE49-F238E27FC236}">
                <a16:creationId xmlns:a16="http://schemas.microsoft.com/office/drawing/2014/main" id="{FFBB0F0F-9913-4A71-9CF2-0F9EC193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0FACEE7-9D77-4FF3-BCC1-61BAFF0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GLD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9741F0A-2A05-4BF8-B84A-D8985A99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Sensor gas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24 VDC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1AAFBEA7-B346-4C64-996B-F8C78193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955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050AAB-849C-41AD-9F6C-BF1F3246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62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A240352-7A77-4416-BE5B-66C15EF8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0670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STAR receiver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Cache + MESH</a:t>
            </a:r>
          </a:p>
        </p:txBody>
      </p:sp>
      <p:sp>
        <p:nvSpPr>
          <p:cNvPr id="15" name="node-2">
            <a:extLst xmlns:a="http://schemas.openxmlformats.org/drawingml/2006/main">
              <a:ext uri="{FF2B5EF4-FFF2-40B4-BE49-F238E27FC236}">
                <a16:creationId xmlns:a16="http://schemas.microsoft.com/office/drawing/2014/main" id="{26BFFE1B-23BA-4DEE-9B96-7CB2A0E8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E21D91-3C15-4544-92DC-CE375A4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GATEWAY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A75B75E-7FE1-4EA4-B3A6-0428DC27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70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LoRa MESH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Wi-Fi + MQTT</a:t>
            </a:r>
          </a:p>
        </p:txBody>
      </p:sp>
      <p:sp>
        <p:nvSpPr>
          <p:cNvPr id="18" name="node-3">
            <a:extLst xmlns:a="http://schemas.openxmlformats.org/drawingml/2006/main">
              <a:ext uri="{FF2B5EF4-FFF2-40B4-BE49-F238E27FC236}">
                <a16:creationId xmlns:a16="http://schemas.microsoft.com/office/drawing/2014/main" id="{A69347D7-EB20-4A4E-9B5F-19403740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94E175-8835-451B-B147-FDCA6A91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62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34DF845-2474-45A4-8EAE-D422B094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670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Broker · Node-RED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DB · Dashboard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69E276B-F994-41E1-AC43-19B8AD9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DATA / ALARM →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1716800-35A8-4513-83F9-E018B662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← COMMAND / ACK</a:t>
            </a:r>
          </a:p>
        </p:txBody>
      </p:sp>
      <p:sp>
        <p:nvSpPr>
          <p:cNvPr id="23" name="normal-alarm-note">
            <a:extLst xmlns:a="http://schemas.openxmlformats.org/drawingml/2006/main">
              <a:ext uri="{FF2B5EF4-FFF2-40B4-BE49-F238E27FC236}">
                <a16:creationId xmlns:a16="http://schemas.microsoft.com/office/drawing/2014/main" id="{6033C377-D427-46B7-A1CB-8ADBC701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839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5022254-10AF-4FA2-A068-7C67C1ED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Normal: disimpan di cache CH lalu diambil (pull)  ·  Alarm: dikirim segera (push) dan di-ACK berjenjang</a:t>
            </a:r>
          </a:p>
        </p:txBody>
      </p:sp>
    </p:spTree>
    <p:extLst>
      <p:ext uri="{BB962C8B-B14F-4D97-AF65-F5344CB8AC3E}">
        <p14:creationId xmlns:p14="http://schemas.microsoft.com/office/powerpoint/2010/main" val="19193738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232B7E-FFCB-451D-9B25-290CCA8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835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Empat layer memisahkan kebutuhan lapangan, jaringan, proses data, dan pengguna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904B4ED-BE6A-4524-8722-A7D05347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layer-0">
            <a:extLst xmlns:a="http://schemas.openxmlformats.org/drawingml/2006/main">
              <a:ext uri="{FF2B5EF4-FFF2-40B4-BE49-F238E27FC236}">
                <a16:creationId xmlns:a16="http://schemas.microsoft.com/office/drawing/2014/main" id="{5814310E-21EA-4EDA-8713-29D94E70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839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3F8ACC-F382-4EAD-8DD8-AD482AB0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  APPLICATION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9ED02EB-4CEF-4616-A852-49572690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Dashboard web · alarm · histori · user/role · audit · laporan</a:t>
            </a:r>
          </a:p>
        </p:txBody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852387B5-7953-4F01-BFFF-5C75AF88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0839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5C96E4-CCA5-4EE1-9C40-8FC7E1F2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  DATA PROCESSING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8DCCD60-C4EC-45BA-8318-340DFC9E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MQTT broker · validasi · decrypt · dedup · database · integrasi alarm</a:t>
            </a:r>
          </a:p>
        </p:txBody>
      </p:sp>
      <p:sp>
        <p:nvSpPr>
          <p:cNvPr id="9" name="layer-2">
            <a:extLst xmlns:a="http://schemas.openxmlformats.org/drawingml/2006/main">
              <a:ext uri="{FF2B5EF4-FFF2-40B4-BE49-F238E27FC236}">
                <a16:creationId xmlns:a16="http://schemas.microsoft.com/office/drawing/2014/main" id="{820E4A8F-9DAA-49D1-A737-F0ABCF4B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10839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B34AFA-3E72-49EB-B042-92A3974B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  NETWORKING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CAAE264-9AEA-4100-BD05-6338E5B1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LoRa STAR/MESH · Wi-Fi · IP/DNS/NTP · firewall · MQTT · TLS/ACL</a:t>
            </a:r>
          </a:p>
        </p:txBody>
      </p:sp>
      <p:sp>
        <p:nvSpPr>
          <p:cNvPr id="12" name="layer-3">
            <a:extLst xmlns:a="http://schemas.openxmlformats.org/drawingml/2006/main">
              <a:ext uri="{FF2B5EF4-FFF2-40B4-BE49-F238E27FC236}">
                <a16:creationId xmlns:a16="http://schemas.microsoft.com/office/drawing/2014/main" id="{27EC0083-6A96-493E-B94F-9843BBAF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839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40694FE-3E38-4604-B9CC-D1329F45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  PHYSICAL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89C95F3-9F72-47E4-8D40-A1F6091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GLD · CH · GW · server/VM · power · mounting · antenna · cable · protection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C0EBDCD-B8BD-4EEA-A74F-91D7966B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083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dan operasional berlaku lintas layer—bukan hanya urusan Wi-Fi.</a:t>
            </a:r>
          </a:p>
        </p:txBody>
      </p:sp>
    </p:spTree>
    <p:extLst>
      <p:ext uri="{BB962C8B-B14F-4D97-AF65-F5344CB8AC3E}">
        <p14:creationId xmlns:p14="http://schemas.microsoft.com/office/powerpoint/2010/main" val="534060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08D29B-668C-4FFD-9F6D-187DFFF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506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Pertanyaan Physical Layer: titik pemasangan harus jelas dan tersertifikasi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3A98D96-3D60-4D8E-BF94-703F12E9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E78481-D812-422B-B058-275203EF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GLD</a:t>
            </a:r>
          </a:p>
        </p:txBody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62347510-3BC7-49B8-879D-2FFC5659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CF82788-3A8B-4308-994D-0D4F7027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6212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 mana titik 24 VDC per GLD, polaritas, grounding, MCB/fuse, konektor, dan hasil ukur?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306E8930-59B5-4B73-BB5F-B8E4865A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1DC4C267-17B8-4454-A818-95B1CAD3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145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Apakah kapasitas 2 A tersedia per titik dekat sensor existing?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7734A972-C132-4C09-A456-91801703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C92BAAB-1350-4357-A730-78EDCF84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6702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Apakah area termasuk hazardous area; standar enclosure, gland, kabel, surge, dan sertifikasi apa?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C1E34DC-81E2-4EF5-AD8C-3EAA1660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33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 · PANEL SURYA · ANTENA</a:t>
            </a:r>
          </a:p>
        </p:txBody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11186459-56B2-4F14-9EE3-2FA83A2D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4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44523304-347E-4343-96F9-0704C181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Batas tinggi/posisi antenna, rute kabel, grounding dan lightning protection?</a:t>
            </a:r>
          </a:p>
        </p:txBody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70E71F50-69F9-4469-8B7B-B554F02A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0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DAF8EA47-99C8-44A3-9C56-4F9BABE2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145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Standar kabel panel surya–CH, baterai yang diizinkan, orientasi panel, dan beban angin?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C298F9CA-E1E0-4709-BE2B-FDB57E3B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52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501F91B-794E-40B6-B76E-31A45BBF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Ukuran mounting/lubang, baut/mur/bracket, tangga, kunci akses, serta PIC penyedia?</a:t>
            </a:r>
          </a:p>
        </p:txBody>
      </p:sp>
      <p:sp>
        <p:nvSpPr>
          <p:cNvPr id="17" name="physical-callout">
            <a:extLst xmlns:a="http://schemas.openxmlformats.org/drawingml/2006/main">
              <a:ext uri="{FF2B5EF4-FFF2-40B4-BE49-F238E27FC236}">
                <a16:creationId xmlns:a16="http://schemas.microsoft.com/office/drawing/2014/main" id="{BAB49BCF-5A95-47E7-B55E-BC5ECB5B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93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D42058D-2537-4EBD-A129-3978E6DE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Catatan “power 24 V selesai” perlu ditutup dengan lokasi terminal dan bukti ukur saat serah terima.</a:t>
            </a:r>
          </a:p>
        </p:txBody>
      </p:sp>
    </p:spTree>
    <p:extLst>
      <p:ext uri="{BB962C8B-B14F-4D97-AF65-F5344CB8AC3E}">
        <p14:creationId xmlns:p14="http://schemas.microsoft.com/office/powerpoint/2010/main" val="9278019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2420A3-BB57-4124-BB41-A38B259E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1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Pertanyaan Networking Layer: definisikan jalur IP, broker, dan kontrol akses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24FAC4D-FC4D-437F-8348-8DC1AA65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6F2B06D-F2FC-4206-9D71-91457D0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“Satu jaringan” tidak harus satu SSID.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FD2F8C-03EE-451F-9BA5-70759A52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709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Yang wajib: Gateway memperoleh IP dan dapat mencapai broker melalui routing/firewall yang disetujui.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39585E84-2369-47F0-8DB1-55D76CE9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A18702AB-970D-4A99-834C-A22BAF8E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SSID/VLAN/subnet, DHCP reservation atau static IP, DNS, NTP, proxy/captive portal?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7AC85D90-B42B-48F1-BB77-D3395C35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510716B-5C84-432F-9732-DD6F9350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Registrasi MAC: format, daftar device, PIC approval, dan SLA aktivasi?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6ACE9A88-4C0A-407C-9171-FEE9A8CF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675328C-060A-4AC1-98D3-A021A0C1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3377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Wi-Fi PSK atau WPA2/3-Enterprise/802.1X? Jika enterprise: EAP, CA, identity, client certificate?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2DEB5553-D97E-4859-9A22-826F394E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0DDA7DEA-19E3-481A-9482-7F067E13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Broker disediakan Pertamina atau LGU; FQDN/IP, port produksi, arah firewall, QoS dan topic ACL?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9A0665A7-894E-4313-969F-8A9B9555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10767138-CB8D-47C6-83F7-C79D71D5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3867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Apakah TLS/mTLS wajib; siapa menerbitkan dan merotasi certificate/secret?</a:t>
            </a:r>
          </a:p>
        </p:txBody>
      </p:sp>
      <p:sp>
        <p:nvSpPr>
          <p:cNvPr id="15" name="source-gap">
            <a:extLst xmlns:a="http://schemas.openxmlformats.org/drawingml/2006/main">
              <a:ext uri="{FF2B5EF4-FFF2-40B4-BE49-F238E27FC236}">
                <a16:creationId xmlns:a16="http://schemas.microsoft.com/office/drawing/2014/main" id="{D0C77DEC-7635-496C-AC0A-26C5BBAE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162050"/>
            <a:ext cx="3286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B0AA29E-69B4-4F88-885A-7B7CC0DC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144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GW saat ini: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Wi-Fi station + plain MQTT</a:t>
            </a:r>
          </a:p>
        </p:txBody>
      </p:sp>
    </p:spTree>
    <p:extLst>
      <p:ext uri="{BB962C8B-B14F-4D97-AF65-F5344CB8AC3E}">
        <p14:creationId xmlns:p14="http://schemas.microsoft.com/office/powerpoint/2010/main" val="15325076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2ECFAC-487F-4D5E-A9B6-C46FAEA2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Pertanyaan Data Processing: Pertamina perlu menetapkan platform server dan kebijakan data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1B260F3-8201-460B-ACAB-9E703B0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server-column">
            <a:extLst xmlns:a="http://schemas.openxmlformats.org/drawingml/2006/main">
              <a:ext uri="{FF2B5EF4-FFF2-40B4-BE49-F238E27FC236}">
                <a16:creationId xmlns:a16="http://schemas.microsoft.com/office/drawing/2014/main" id="{DB4F7ACA-1FE3-4324-AFB6-9E39A43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191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1713E4-EB81-4282-9964-0EF826C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PLATFORM SERVER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199988AF-409E-4B95-AAF8-5061307D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3B7FEB4E-C3FB-4249-B156-FFDEA9F3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90750"/>
            <a:ext cx="4524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Server berupa VM atau bare-metal? Lokasi, availability, CPU/RAM/storage, UPS?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CC999723-6327-45EF-9AFB-886727C5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B6C9D30-8CB7-4A41-82EA-D9A4B68D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05150"/>
            <a:ext cx="4524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OS dan versi; hak admin; kebijakan Docker, Node.js/Node-RED, broker, antivirus, patching?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06B5D374-A7AD-420E-AD70-98C8BE45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7C7B903A-77E2-4B81-9FF7-F8528191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19550"/>
            <a:ext cx="4524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Database standar; retention, backup/restore, archive, kapasitas dan ownership DBA?</a:t>
            </a:r>
          </a:p>
        </p:txBody>
      </p:sp>
      <p:sp>
        <p:nvSpPr>
          <p:cNvPr id="11" name="data-column">
            <a:extLst xmlns:a="http://schemas.openxmlformats.org/drawingml/2006/main">
              <a:ext uri="{FF2B5EF4-FFF2-40B4-BE49-F238E27FC236}">
                <a16:creationId xmlns:a16="http://schemas.microsoft.com/office/drawing/2014/main" id="{F3645B86-7B1B-4B3C-99DC-C1B75961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28750"/>
            <a:ext cx="528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2F88FDC-B685-4738-85BD-F3D735DC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383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OPERASI DATA</a:t>
            </a:r>
          </a:p>
        </p:txBody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E1D25F99-71B1-4238-AF8A-8735DE24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76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A3AFA1C-8211-4BCD-BDBB-BEECA93A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619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NTP/timezone dan timestamp authoritative; toleransi duplikat, keterlambatan, restart?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4F8E22A7-E2EF-435F-8119-03D0DB5A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90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BC81BD5-4923-4B49-ABD3-CD590564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4619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Integrasi alarm ke SCADA/DCS/email/SMS/ticketing; severity, PIC, ACK dan SLA?</a:t>
            </a:r>
          </a:p>
        </p:txBody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EE744D2D-9BB2-4681-89AB-EBB9A6D9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22C31D6-FAA2-4668-9019-87013890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619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Monitoring broker/flow/database, log retention, RTO/RPO dan maintenance window?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AC2B14-5AB4-4424-A004-66BC5899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 membuktikan flow Node-RED/decode/decrypt/topology; bukan spesifikasi server produksi Pertamina.</a:t>
            </a:r>
          </a:p>
        </p:txBody>
      </p:sp>
    </p:spTree>
    <p:extLst>
      <p:ext uri="{BB962C8B-B14F-4D97-AF65-F5344CB8AC3E}">
        <p14:creationId xmlns:p14="http://schemas.microsoft.com/office/powerpoint/2010/main" val="13717139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D5F9AC-BE64-498E-8EF6-1338899E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1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Kapasitas payload harus disepakati per layer, bukan satu angka umum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C17516D-2582-43B2-AB75-7A8B6AB8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6B531AFA-2A86-47FE-A19D-F7B27A8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33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59CA9E6-7F7D-41C3-93C9-A38942D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39 B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7D8623-0813-4E0F-85A6-5CC63A60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GLD LoRa AppFrame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312ACA-7A7B-4C33-82D4-B45F6E4C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8 header + 29 encrypted + 2 CRC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1252B056-D44C-4F20-8FDD-98F193C0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333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A81576-DF62-4C10-8E72-1FA89A18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5737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44 B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2787A2B-B2E2-4D44-A7D9-213CC831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Alarm single-record MESH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63202B-D24B-48A7-9797-C9B1A016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34 record + 10 frame overhead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482EA849-88BD-4623-8871-E18B2365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333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50BB8D-3973-40E1-8A56-05D4DBDA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Variabel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42AC418-4750-4742-BA57-5E789117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MQTT JSON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31FD0CE-AC31-4390-9324-F54E2257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Frame hex + metadata + radio metrics</a:t>
            </a:r>
          </a:p>
        </p:txBody>
      </p:sp>
      <p:sp>
        <p:nvSpPr>
          <p:cNvPr id="15" name="bullet-0">
            <a:extLst xmlns:a="http://schemas.openxmlformats.org/drawingml/2006/main">
              <a:ext uri="{FF2B5EF4-FFF2-40B4-BE49-F238E27FC236}">
                <a16:creationId xmlns:a16="http://schemas.microsoft.com/office/drawing/2014/main" id="{CA78BC4A-3197-4A52-8170-B83F1A98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67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</p:sp>
      <p:sp>
        <p:nvSpPr>
          <p:cNvPr id="1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0B8CB25D-2C73-4F4C-A5D0-99ADCB99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10601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Apakah target periode normal 10 detik berlaku per GLD? Berapa maksimum GLD/CH/GW dan burst alarm?</a:t>
            </a:r>
          </a:p>
        </p:txBody>
      </p:sp>
      <p:sp>
        <p:nvSpPr>
          <p:cNvPr id="17" name="bullet-1">
            <a:extLst xmlns:a="http://schemas.openxmlformats.org/drawingml/2006/main">
              <a:ext uri="{FF2B5EF4-FFF2-40B4-BE49-F238E27FC236}">
                <a16:creationId xmlns:a16="http://schemas.microsoft.com/office/drawing/2014/main" id="{61DCEDD0-A006-4028-8F84-FFD1A34B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</p:sp>
      <p:sp>
        <p:nvSpPr>
          <p:cNvPr id="1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9A335B9-A8CA-4C2C-B82F-4240A3B1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05375"/>
            <a:ext cx="10601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Minta batas broker: maximum payload, message rate, connection, QoS, retained dan LWT.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1AA370B8-F232-487A-8C46-A9E17361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14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</p:sp>
      <p:sp>
        <p:nvSpPr>
          <p:cNvPr id="2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B0D38295-1378-4CC2-8B23-EC2F2AA1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29250"/>
            <a:ext cx="10601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Ukur sampel MQTT aktual sebelum sizing; angka ±90 byte dari catatan rapat belum menjadi kontrak semua layer.</a:t>
            </a:r>
          </a:p>
        </p:txBody>
      </p:sp>
    </p:spTree>
    <p:extLst>
      <p:ext uri="{BB962C8B-B14F-4D97-AF65-F5344CB8AC3E}">
        <p14:creationId xmlns:p14="http://schemas.microsoft.com/office/powerpoint/2010/main" val="16476479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85E37A-4B8F-48D2-8466-7EE97B2A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Pertanyaan Application Layer: sepakati siapa memakai sistem dan apa yang dianggap berhasil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351BD7A-F797-44E1-8606-09E3CCD5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app-0">
            <a:extLst xmlns:a="http://schemas.openxmlformats.org/drawingml/2006/main">
              <a:ext uri="{FF2B5EF4-FFF2-40B4-BE49-F238E27FC236}">
                <a16:creationId xmlns:a16="http://schemas.microsoft.com/office/drawing/2014/main" id="{09FC6BDC-7C1E-4A9E-8314-134638E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1911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8EFB57F-45A6-45AE-8D81-FCA4654A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AKSES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6711A5-EF6F-471E-9F19-CBFBA0D8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Viewer/operator/admin? SSO/LDAP/AD, MFA, session timeout, audit log?</a:t>
            </a:r>
          </a:p>
        </p:txBody>
      </p:sp>
      <p:sp>
        <p:nvSpPr>
          <p:cNvPr id="6" name="app-1">
            <a:extLst xmlns:a="http://schemas.openxmlformats.org/drawingml/2006/main">
              <a:ext uri="{FF2B5EF4-FFF2-40B4-BE49-F238E27FC236}">
                <a16:creationId xmlns:a16="http://schemas.microsoft.com/office/drawing/2014/main" id="{6AE7A1A6-7C74-4E1C-8670-F1E7B16E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76375"/>
            <a:ext cx="51911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D5DA16-977F-4821-954C-13C7C5AD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1C0CDDB-DAA7-4ED9-87FA-A884B29E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621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Topologi, health, histori/trend, filter site/device, alarm ACK, report/export?</a:t>
            </a:r>
          </a:p>
        </p:txBody>
      </p:sp>
      <p:sp>
        <p:nvSpPr>
          <p:cNvPr id="9" name="app-2">
            <a:extLst xmlns:a="http://schemas.openxmlformats.org/drawingml/2006/main">
              <a:ext uri="{FF2B5EF4-FFF2-40B4-BE49-F238E27FC236}">
                <a16:creationId xmlns:a16="http://schemas.microsoft.com/office/drawing/2014/main" id="{08FDB628-1C7D-4999-961D-08701EF6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1911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1464168-8177-4C85-BD46-DEE08807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OPERASI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1D3930-F9E8-4D13-8DFF-C3641A46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Concurrent users, browser/resolusi/bahasa, SLA, support dan maintenance window?</a:t>
            </a:r>
          </a:p>
        </p:txBody>
      </p:sp>
      <p:sp>
        <p:nvSpPr>
          <p:cNvPr id="12" name="app-3">
            <a:extLst xmlns:a="http://schemas.openxmlformats.org/drawingml/2006/main">
              <a:ext uri="{FF2B5EF4-FFF2-40B4-BE49-F238E27FC236}">
                <a16:creationId xmlns:a16="http://schemas.microsoft.com/office/drawing/2014/main" id="{0D000ED5-450E-4EF4-928B-B0A86ABD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14750"/>
            <a:ext cx="51911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81A600-11ED-481B-BD36-AD16043E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ACCEPTANCE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88571B5-A40A-4182-A2A4-B75AE23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005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Skenario UAT, data pembanding, kriteria lulus, PIC dan penandatangan sign-off?</a:t>
            </a:r>
          </a:p>
        </p:txBody>
      </p:sp>
    </p:spTree>
    <p:extLst>
      <p:ext uri="{BB962C8B-B14F-4D97-AF65-F5344CB8AC3E}">
        <p14:creationId xmlns:p14="http://schemas.microsoft.com/office/powerpoint/2010/main" val="16577025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6A7E91-450A-4F5A-A2F8-E86B7912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59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Pembagian tanggung jawab mencegah item kritis jatuh di antara dua tim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EC9AA17-A306-49C1-A97E-0F5F3550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lgu">
            <a:extLst xmlns:a="http://schemas.openxmlformats.org/drawingml/2006/main">
              <a:ext uri="{FF2B5EF4-FFF2-40B4-BE49-F238E27FC236}">
                <a16:creationId xmlns:a16="http://schemas.microsoft.com/office/drawing/2014/main" id="{57D1BA36-4D44-47DA-8EEA-56B57F2B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38137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77C01C-2E08-4CAC-B3C2-307B78D0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LGU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6DCE325A-0E11-4E4A-BD15-337F50FD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DAD9AB5-22AA-46BF-926F-4A50CE3A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90750"/>
            <a:ext cx="2714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Perangkat, firmware, diagram dan daftar MAC/device ID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A96B7ECD-BA65-4284-9828-313A41AE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3FD03F65-4FAB-4651-AED7-5230777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76550"/>
            <a:ext cx="2714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Drawing mounting dan kebutuhan power/network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C307B1C7-B2FA-4141-9EC4-A76B09E6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48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21DE0C9-D786-4ADE-A599-72B1B6EE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2714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Spec MQTT/payload dan installer dashboard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8CF04F86-1072-4C6F-91E8-C73E8E33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3E212A0-9E58-40D0-A854-BCAECFE5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48150"/>
            <a:ext cx="2714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Commissioning script, dokumentasi dan training</a:t>
            </a:r>
          </a:p>
        </p:txBody>
      </p:sp>
      <p:sp>
        <p:nvSpPr>
          <p:cNvPr id="13" name="pertamina">
            <a:extLst xmlns:a="http://schemas.openxmlformats.org/drawingml/2006/main">
              <a:ext uri="{FF2B5EF4-FFF2-40B4-BE49-F238E27FC236}">
                <a16:creationId xmlns:a16="http://schemas.microsoft.com/office/drawing/2014/main" id="{ACD0B4E0-E99A-4458-A4C2-9181EC5E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81125"/>
            <a:ext cx="338137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DE6FE7E-4DBD-45B9-B06E-100A7CC2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PERTAMINA</a:t>
            </a:r>
          </a:p>
        </p:txBody>
      </p:sp>
      <p:sp>
        <p:nvSpPr>
          <p:cNvPr id="15" name="bullet-0">
            <a:extLst xmlns:a="http://schemas.openxmlformats.org/drawingml/2006/main">
              <a:ext uri="{FF2B5EF4-FFF2-40B4-BE49-F238E27FC236}">
                <a16:creationId xmlns:a16="http://schemas.microsoft.com/office/drawing/2014/main" id="{58F5F2AE-2623-47C0-B119-CC669075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76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13C4355-66AA-4D4E-B6B9-19384BF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90750"/>
            <a:ext cx="2714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Power/proteksi, izin, akses dan infrastruktur mounting</a:t>
            </a:r>
          </a:p>
        </p:txBody>
      </p:sp>
      <p:sp>
        <p:nvSpPr>
          <p:cNvPr id="17" name="bullet-1">
            <a:extLst xmlns:a="http://schemas.openxmlformats.org/drawingml/2006/main">
              <a:ext uri="{FF2B5EF4-FFF2-40B4-BE49-F238E27FC236}">
                <a16:creationId xmlns:a16="http://schemas.microsoft.com/office/drawing/2014/main" id="{2841B123-970C-49EE-A94E-865068ED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62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A8AB259-5199-4096-80B9-ABE76FB2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76550"/>
            <a:ext cx="2714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SSID/VLAN/IP/DNS/NTP/firewall/NAC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26CB6B49-17F0-4599-835A-E2911E33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48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ABFB58FE-516C-4CF0-AFB1-124C7F89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62350"/>
            <a:ext cx="2714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Server/VM/OS, broker/DB policy, account/certificate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0C9B7ED5-D219-4C4B-9706-AFCCF9FA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D8E4B1B4-41D1-41D9-A6DA-A4F0F48B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248150"/>
            <a:ext cx="2714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Retention, integrasi alarm, SLA dan security approval</a:t>
            </a:r>
          </a:p>
        </p:txBody>
      </p:sp>
      <p:sp>
        <p:nvSpPr>
          <p:cNvPr id="23" name="shared">
            <a:extLst xmlns:a="http://schemas.openxmlformats.org/drawingml/2006/main">
              <a:ext uri="{FF2B5EF4-FFF2-40B4-BE49-F238E27FC236}">
                <a16:creationId xmlns:a16="http://schemas.microsoft.com/office/drawing/2014/main" id="{BC83BC0B-6767-4F37-92D6-8006A547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81125"/>
            <a:ext cx="28384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0911791-6720-4B31-BF16-318A92BE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716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BERSAMA</a:t>
            </a:r>
          </a:p>
        </p:txBody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2530BD4D-3199-4871-B34E-DD47FD1B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76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36B"/>
          </a:solidFill>
          <a:ln xmlns:a="http://schemas.openxmlformats.org/drawingml/2006/main" w="9525">
            <a:solidFill>
              <a:srgbClr val="2FA36B"/>
            </a:solidFill>
            <a:prstDash val="solid"/>
          </a:ln>
        </p:spPr>
      </p:sp>
      <p:sp>
        <p:nvSpPr>
          <p:cNvPr id="2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D6812FE2-7E6E-4D96-A136-6607F54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Site &amp; radio survey</a:t>
            </a:r>
          </a:p>
        </p:txBody>
      </p:sp>
      <p:sp>
        <p:nvSpPr>
          <p:cNvPr id="27" name="bullet-1">
            <a:extLst xmlns:a="http://schemas.openxmlformats.org/drawingml/2006/main">
              <a:ext uri="{FF2B5EF4-FFF2-40B4-BE49-F238E27FC236}">
                <a16:creationId xmlns:a16="http://schemas.microsoft.com/office/drawing/2014/main" id="{79AC4FDD-29BB-4ABC-BA63-D374C8BE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62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36B"/>
          </a:solidFill>
          <a:ln xmlns:a="http://schemas.openxmlformats.org/drawingml/2006/main" w="9525">
            <a:solidFill>
              <a:srgbClr val="2FA36B"/>
            </a:solidFill>
            <a:prstDash val="solid"/>
          </a:ln>
        </p:spPr>
      </p:sp>
      <p:sp>
        <p:nvSpPr>
          <p:cNvPr id="2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0FFABFD-5FA4-4B19-AEC9-447FEF11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76550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Cybersecurity review</a:t>
            </a:r>
          </a:p>
        </p:txBody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94EAC95D-0CA2-4EB3-B479-0FC78931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48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36B"/>
          </a:solidFill>
          <a:ln xmlns:a="http://schemas.openxmlformats.org/drawingml/2006/main" w="9525">
            <a:solidFill>
              <a:srgbClr val="2FA36B"/>
            </a:solidFill>
            <a:prstDash val="solid"/>
          </a:ln>
        </p:spPr>
      </p:sp>
      <p:sp>
        <p:nvSpPr>
          <p:cNvPr id="3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408F0B7-362A-4E2D-B1BC-209D569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62350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FAT / SAT / UAT</a:t>
            </a:r>
          </a:p>
        </p:txBody>
      </p:sp>
      <p:sp>
        <p:nvSpPr>
          <p:cNvPr id="31" name="bullet-3">
            <a:extLst xmlns:a="http://schemas.openxmlformats.org/drawingml/2006/main">
              <a:ext uri="{FF2B5EF4-FFF2-40B4-BE49-F238E27FC236}">
                <a16:creationId xmlns:a16="http://schemas.microsoft.com/office/drawing/2014/main" id="{85CEADE9-F20C-4095-A245-41F17440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36B"/>
          </a:solidFill>
          <a:ln xmlns:a="http://schemas.openxmlformats.org/drawingml/2006/main" w="9525">
            <a:solidFill>
              <a:srgbClr val="2FA36B"/>
            </a:solidFill>
            <a:prstDash val="solid"/>
          </a:ln>
        </p:spPr>
      </p:sp>
      <p:sp>
        <p:nvSpPr>
          <p:cNvPr id="3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17ED3C8-1229-4879-88CA-9B9ECACA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48150"/>
            <a:ext cx="209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Rollback, handover, sign-off</a:t>
            </a:r>
          </a:p>
        </p:txBody>
      </p:sp>
    </p:spTree>
    <p:extLst>
      <p:ext uri="{BB962C8B-B14F-4D97-AF65-F5344CB8AC3E}">
        <p14:creationId xmlns:p14="http://schemas.microsoft.com/office/powerpoint/2010/main" val="6770363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602B9C-06DA-4A72-A522-08FD862A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2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Keputusan yang diminta: tutup readiness gate, lalu tetapkan tanggal pemasangan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A7DFB86-EDA6-440C-BDE8-A47F1043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step-no-0">
            <a:extLst xmlns:a="http://schemas.openxmlformats.org/drawingml/2006/main">
              <a:ext uri="{FF2B5EF4-FFF2-40B4-BE49-F238E27FC236}">
                <a16:creationId xmlns:a16="http://schemas.microsoft.com/office/drawing/2014/main" id="{D9F1004F-C6CF-46BE-A81E-63FC2E27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BF1DAC4-E562-4B9B-9492-F628685B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2FCD2F-39F4-4C69-8335-102771E2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192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PHYSICAL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ACDDD6-C3BE-4690-88F7-B2A4383B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192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Titik power, mounting, antenna route, akses dan sertifikasi disetujui</a:t>
            </a:r>
          </a:p>
        </p:txBody>
      </p:sp>
      <p:cxnSp>
        <p:nvCxnSpPr>
          <p:cNvPr id="30" name="step-line-0"/>
          <p:cNvCxnSpPr/>
          <p:nvPr/>
        </p:nvCxnSpPr>
        <p:spPr>
          <a:xfrm xmlns:a="http://schemas.openxmlformats.org/drawingml/2006/main">
            <a:off x="752475" y="20955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step-no-1">
            <a:extLst xmlns:a="http://schemas.openxmlformats.org/drawingml/2006/main">
              <a:ext uri="{FF2B5EF4-FFF2-40B4-BE49-F238E27FC236}">
                <a16:creationId xmlns:a16="http://schemas.microsoft.com/office/drawing/2014/main" id="{152153E3-3AFB-4732-8C23-311519E3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D613120-19F5-4569-B95D-4DEA2D84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9E1FFF-C05A-4101-950F-39A3BD54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416DBA-7F23-4576-AEE0-337CF20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GW mendapat IP; broker reachable; MQTT CONNACK + ACL publish/subscribe terbukti</a:t>
            </a:r>
          </a:p>
        </p:txBody>
      </p:sp>
      <p:cxnSp>
        <p:nvCxnSpPr>
          <p:cNvPr id="35" name="step-line-1"/>
          <p:cNvCxnSpPr/>
          <p:nvPr/>
        </p:nvCxnSpPr>
        <p:spPr>
          <a:xfrm xmlns:a="http://schemas.openxmlformats.org/drawingml/2006/main">
            <a:off x="752475" y="30956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3" name="step-no-2">
            <a:extLst xmlns:a="http://schemas.openxmlformats.org/drawingml/2006/main">
              <a:ext uri="{FF2B5EF4-FFF2-40B4-BE49-F238E27FC236}">
                <a16:creationId xmlns:a16="http://schemas.microsoft.com/office/drawing/2014/main" id="{92DDDA21-2A2A-4E82-B1DB-149D50D6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4B80A08-FD5D-4355-8554-56F805D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EB7AC82-F9FD-4A01-BD68-E858108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7169FBC-C687-4835-A695-4E89CF49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194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OS/spec/admin window; broker, Node-RED, database dan HTTPS siap</a:t>
            </a:r>
          </a:p>
        </p:txBody>
      </p:sp>
      <p:cxnSp>
        <p:nvCxnSpPr>
          <p:cNvPr id="40" name="step-line-2"/>
          <p:cNvCxnSpPr/>
          <p:nvPr/>
        </p:nvCxnSpPr>
        <p:spPr>
          <a:xfrm xmlns:a="http://schemas.openxmlformats.org/drawingml/2006/main">
            <a:off x="752475" y="40957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8" name="step-no-3">
            <a:extLst xmlns:a="http://schemas.openxmlformats.org/drawingml/2006/main">
              <a:ext uri="{FF2B5EF4-FFF2-40B4-BE49-F238E27FC236}">
                <a16:creationId xmlns:a16="http://schemas.microsoft.com/office/drawing/2014/main" id="{9C2A1C72-CE69-419C-BBB1-5731047F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C59124F-F39B-4ACD-822E-0D140EB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7B30845-C852-4C43-B5B2-9C93ED2B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SAT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7EEED6A-E38E-43B4-B1B8-AB871E67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Normal, alarm, topology, command, restart/reconnect, outage recovery dan dashboard lulus</a:t>
            </a:r>
          </a:p>
        </p:txBody>
      </p:sp>
      <p:sp>
        <p:nvSpPr>
          <p:cNvPr id="22" name="decision">
            <a:extLst xmlns:a="http://schemas.openxmlformats.org/drawingml/2006/main">
              <a:ext uri="{FF2B5EF4-FFF2-40B4-BE49-F238E27FC236}">
                <a16:creationId xmlns:a16="http://schemas.microsoft.com/office/drawing/2014/main" id="{F5659CF7-6637-4215-8C8D-BBA1733D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8394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C4303E6-119E-458C-8EB1-00F4F4E7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4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Mohon Pertamina menetapkan PIC dan target tanggal untuk setiap gate; jadwal pemasangan mengikuti gate terakhir yang selesai.</a:t>
            </a:r>
          </a:p>
        </p:txBody>
      </p:sp>
    </p:spTree>
    <p:extLst>
      <p:ext uri="{BB962C8B-B14F-4D97-AF65-F5344CB8AC3E}">
        <p14:creationId xmlns:p14="http://schemas.microsoft.com/office/powerpoint/2010/main" val="846115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2026-08-13T15:02:48.2450000Z</dcterms:created>
  <dcterms:modified xsi:type="dcterms:W3CDTF">2026-08-13T15:02:48.2450000Z</dcterms:modified>
</coreProperties>
</file>
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Poin revisi pengguna, 13 Agustus 2026.</a:t>
            </a:r>
          </a:p>
          <a:p>
            <a:r>
              <a:t>PDF sumber: output/pdf/PertaminaGLD-Pembagian-Tugas-LGU-Pertamina.pdf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Poin revisi pengguna - sisi GLD.</a:t>
            </a:r>
          </a:p>
          <a:p>
            <a:r>
              <a:t>Static repo evidence does not prove 2 A site capacity or field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Poin revisi pengguna - sisi 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Poin revisi pengguna - sisi Gateway.</a:t>
            </a:r>
          </a:p>
          <a:p>
            <a:r>
              <a:t>firmware/gateway/src/GatewayMqttMeshMain.cpp</a:t>
            </a:r>
          </a:p>
          <a:p>
            <a:r>
              <a:t>firmware/config/GwConfig.h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Poin revisi pengguna - sisi Server.</a:t>
            </a:r>
          </a:p>
          <a:p>
            <a:r>
              <a:t>LGU requirements versus Pertamina actual environment must be reconciled before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Pembagian tugas hasil konsolidasi poin pengguna.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Pembagian tugas hasil konsolidasi poin pengguna.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6130A553-FDC1-447A-8113-D43DF5E3B5E3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PERTAMINA × LGU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CCF02AE-16A9-4784-9787-A9A210ED76BE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9906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Kebutuhan Lapangan dan</a:t>
            </a:r>
          </a:p>
          <a:p>
            <a:pPr algn="l">
              <a:defRPr sz="4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Pembagian Tugas Integrasi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63AFBCD-0A6B-41F7-8518-B9D21D85F619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762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GLD · CH · Gateway · Server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EB558AE-2322-4EE8-BC75-2021673E856C}"/>
              </a:ext>
            </a:extLst>
          </p:cNvPr>
          <p:cNvSpPr>
            <a:spLocks noGrp="1"/>
          </p:cNvSpPr>
          <p:nvPr/>
        </p:nvSpPr>
        <p:spPr>
          <a:xfrm>
            <a:off x="400050" y="468630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Dokumen koordinasi sebelum pemasangan lapangan</a:t>
            </a:r>
          </a:p>
        </p:txBody>
      </p:sp>
      <p:sp>
        <p:nvSpPr>
          <p:cNvPr id="5" name="accent">
            <a:extLst>
              <a:ext uri="{FF2B5EF4-FFF2-40B4-BE49-F238E27FC236}">
                <a16:creationId xmlns:a16="http://schemas.microsoft.com/office/drawing/2014/main" id="{D3BFD5DE-B381-4EE0-81AB-826BA2786AE1}"/>
              </a:ext>
            </a:extLst>
          </p:cNvPr>
          <p:cNvSpPr>
            <a:spLocks noGrp="1"/>
          </p:cNvSpPr>
          <p:nvPr/>
        </p:nvSpPr>
        <p:spPr>
          <a:xfrm>
            <a:off x="9429750" y="4686300"/>
            <a:ext cx="1905000" cy="76200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BE3E5F-AC1E-4A1C-8E44-26DAC0DA834D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13 Agustus 2026</a:t>
            </a:r>
          </a:p>
        </p:txBody>
      </p:sp>
    </p:spTree>
    <p:extLst>
      <p:ext uri="{BB962C8B-B14F-4D97-AF65-F5344CB8AC3E}">
        <p14:creationId xmlns:p14="http://schemas.microsoft.com/office/powerpoint/2010/main" val="162483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6FECC314-D90A-4A39-8B12-0A6E3AF9C43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GLD: suplai 24 VDC kontinu harus diverifikasi di lokasi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B98153B-B091-402D-BCBA-B9967996CD2F}"/>
              </a:ext>
            </a:extLst>
          </p:cNvPr>
          <p:cNvSpPr>
            <a:spLocks noGrp="1"/>
          </p:cNvSpPr>
          <p:nvPr/>
        </p:nvSpPr>
        <p:spPr>
          <a:xfrm>
            <a:off x="11287125" y="63341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7A5BE45-FEAF-49C2-AEB5-8E1F421AE052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194"/>
          </a:bodyPr>
          <a:lstStyle/>
          <a:p>
            <a:pPr algn="l">
              <a:defRPr sz="180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Kebutuhan LGU</a:t>
            </a:r>
          </a:p>
        </p:txBody>
      </p:sp>
      <p:sp>
        <p:nvSpPr>
          <p:cNvPr id="4" name="bullet-0">
            <a:extLst>
              <a:ext uri="{FF2B5EF4-FFF2-40B4-BE49-F238E27FC236}">
                <a16:creationId xmlns:a16="http://schemas.microsoft.com/office/drawing/2014/main" id="{A62EABA4-D1E2-43CE-B26D-03DC8BFE7253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5" name="bullet-text-0">
            <a:extLst>
              <a:ext uri="{FF2B5EF4-FFF2-40B4-BE49-F238E27FC236}">
                <a16:creationId xmlns:a16="http://schemas.microsoft.com/office/drawing/2014/main" id="{CD67C99A-3BE7-46B7-A523-45FA2DCA2708}"/>
              </a:ext>
            </a:extLst>
          </p:cNvPr>
          <p:cNvSpPr>
            <a:spLocks noGrp="1"/>
          </p:cNvSpPr>
          <p:nvPr/>
        </p:nvSpPr>
        <p:spPr>
          <a:xfrm>
            <a:off x="638175" y="1714500"/>
            <a:ext cx="49815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Suplai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24 VDC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dengan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kapasitas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minimal 2 A yang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tersedia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secara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kontin</a:t>
            </a:r>
            <a:r>
              <a:rPr lang="en-US"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bullet-1">
            <a:extLst>
              <a:ext uri="{FF2B5EF4-FFF2-40B4-BE49-F238E27FC236}">
                <a16:creationId xmlns:a16="http://schemas.microsoft.com/office/drawing/2014/main" id="{595F73FE-3474-47CE-8F67-B119E04DCE74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7" name="bullet-text-1">
            <a:extLst>
              <a:ext uri="{FF2B5EF4-FFF2-40B4-BE49-F238E27FC236}">
                <a16:creationId xmlns:a16="http://schemas.microsoft.com/office/drawing/2014/main" id="{B3673A91-6FB5-4E12-BC52-C1957CA07C99}"/>
              </a:ext>
            </a:extLst>
          </p:cNvPr>
          <p:cNvSpPr>
            <a:spLocks noGrp="1"/>
          </p:cNvSpPr>
          <p:nvPr/>
        </p:nvSpPr>
        <p:spPr>
          <a:xfrm>
            <a:off x="638175" y="2647950"/>
            <a:ext cx="49815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Pemasangan direncanakan dekat sensor existing agar memanfaatkan sumber daya tersedia.</a:t>
            </a:r>
          </a:p>
        </p:txBody>
      </p:sp>
      <p:sp>
        <p:nvSpPr>
          <p:cNvPr id="8" name="bullet-2">
            <a:extLst>
              <a:ext uri="{FF2B5EF4-FFF2-40B4-BE49-F238E27FC236}">
                <a16:creationId xmlns:a16="http://schemas.microsoft.com/office/drawing/2014/main" id="{4E0DEDC4-89CB-4996-9233-FA050DF0961E}"/>
              </a:ext>
            </a:extLst>
          </p:cNvPr>
          <p:cNvSpPr>
            <a:spLocks noGrp="1"/>
          </p:cNvSpPr>
          <p:nvPr/>
        </p:nvSpPr>
        <p:spPr>
          <a:xfrm>
            <a:off x="400050" y="3657600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9" name="bullet-text-2">
            <a:extLst>
              <a:ext uri="{FF2B5EF4-FFF2-40B4-BE49-F238E27FC236}">
                <a16:creationId xmlns:a16="http://schemas.microsoft.com/office/drawing/2014/main" id="{292A2589-94A1-4750-8618-5B9C1E470751}"/>
              </a:ext>
            </a:extLst>
          </p:cNvPr>
          <p:cNvSpPr>
            <a:spLocks noGrp="1"/>
          </p:cNvSpPr>
          <p:nvPr/>
        </p:nvSpPr>
        <p:spPr>
          <a:xfrm>
            <a:off x="638175" y="3581400"/>
            <a:ext cx="49815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Battery GLD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belum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siap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untuk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operasi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kontin</a:t>
            </a:r>
            <a:r>
              <a:rPr lang="en-US"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;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optimasi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power management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masih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dikembangkan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pertamina-power">
            <a:extLst>
              <a:ext uri="{FF2B5EF4-FFF2-40B4-BE49-F238E27FC236}">
                <a16:creationId xmlns:a16="http://schemas.microsoft.com/office/drawing/2014/main" id="{6CEC2EAF-CED6-44E2-BC08-536B5602E28F}"/>
              </a:ext>
            </a:extLst>
          </p:cNvPr>
          <p:cNvSpPr>
            <a:spLocks noGrp="1"/>
          </p:cNvSpPr>
          <p:nvPr/>
        </p:nvSpPr>
        <p:spPr>
          <a:xfrm>
            <a:off x="6000750" y="1238250"/>
            <a:ext cx="5238750" cy="3095625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C74E30A-CD9D-41A1-8B7B-3CACE9906ABA}"/>
              </a:ext>
            </a:extLst>
          </p:cNvPr>
          <p:cNvSpPr>
            <a:spLocks noGrp="1"/>
          </p:cNvSpPr>
          <p:nvPr/>
        </p:nvSpPr>
        <p:spPr>
          <a:xfrm>
            <a:off x="6229350" y="1466850"/>
            <a:ext cx="476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194"/>
          </a:bodyPr>
          <a:lstStyle/>
          <a:p>
            <a:pPr algn="l">
              <a:defRPr sz="1800" b="1">
                <a:solidFill>
                  <a:srgbClr val="268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8A5E"/>
                </a:solidFill>
                <a:latin typeface="Arial"/>
                <a:ea typeface="Arial"/>
                <a:cs typeface="Arial"/>
              </a:rPr>
              <a:t>Konfirmasi Pertamina</a:t>
            </a:r>
          </a:p>
        </p:txBody>
      </p:sp>
      <p:sp>
        <p:nvSpPr>
          <p:cNvPr id="12" name="bullet-0">
            <a:extLst>
              <a:ext uri="{FF2B5EF4-FFF2-40B4-BE49-F238E27FC236}">
                <a16:creationId xmlns:a16="http://schemas.microsoft.com/office/drawing/2014/main" id="{7017645E-7C49-4094-8607-0371F5BF11B9}"/>
              </a:ext>
            </a:extLst>
          </p:cNvPr>
          <p:cNvSpPr>
            <a:spLocks noGrp="1"/>
          </p:cNvSpPr>
          <p:nvPr/>
        </p:nvSpPr>
        <p:spPr>
          <a:xfrm>
            <a:off x="6229350" y="2076450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13" name="bullet-text-0">
            <a:extLst>
              <a:ext uri="{FF2B5EF4-FFF2-40B4-BE49-F238E27FC236}">
                <a16:creationId xmlns:a16="http://schemas.microsoft.com/office/drawing/2014/main" id="{6E73ECFB-1E41-4F06-9A14-50074BF373ED}"/>
              </a:ext>
            </a:extLst>
          </p:cNvPr>
          <p:cNvSpPr>
            <a:spLocks noGrp="1"/>
          </p:cNvSpPr>
          <p:nvPr/>
        </p:nvSpPr>
        <p:spPr>
          <a:xfrm>
            <a:off x="6467475" y="2000250"/>
            <a:ext cx="4524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Pastikan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kapasitas</a:t>
            </a:r>
            <a:r>
              <a:rPr lang="en-U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sumber</a:t>
            </a:r>
            <a:r>
              <a:rPr lang="en-US"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power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existing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cukup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untuk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GLD.</a:t>
            </a:r>
          </a:p>
        </p:txBody>
      </p:sp>
      <p:sp>
        <p:nvSpPr>
          <p:cNvPr id="14" name="bullet-1">
            <a:extLst>
              <a:ext uri="{FF2B5EF4-FFF2-40B4-BE49-F238E27FC236}">
                <a16:creationId xmlns:a16="http://schemas.microsoft.com/office/drawing/2014/main" id="{9F3DC049-EBBB-456D-8A91-5BC141483056}"/>
              </a:ext>
            </a:extLst>
          </p:cNvPr>
          <p:cNvSpPr>
            <a:spLocks noGrp="1"/>
          </p:cNvSpPr>
          <p:nvPr/>
        </p:nvSpPr>
        <p:spPr>
          <a:xfrm>
            <a:off x="6229350" y="2809875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15" name="bullet-text-1">
            <a:extLst>
              <a:ext uri="{FF2B5EF4-FFF2-40B4-BE49-F238E27FC236}">
                <a16:creationId xmlns:a16="http://schemas.microsoft.com/office/drawing/2014/main" id="{5105B5B7-74E2-4024-9563-51DC6F451CA4}"/>
              </a:ext>
            </a:extLst>
          </p:cNvPr>
          <p:cNvSpPr>
            <a:spLocks noGrp="1"/>
          </p:cNvSpPr>
          <p:nvPr/>
        </p:nvSpPr>
        <p:spPr>
          <a:xfrm>
            <a:off x="6467475" y="2733675"/>
            <a:ext cx="4524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titik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terminal,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polaritas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proteksi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grounding,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konektor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dan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standar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kabel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6" name="bullet-2">
            <a:extLst>
              <a:ext uri="{FF2B5EF4-FFF2-40B4-BE49-F238E27FC236}">
                <a16:creationId xmlns:a16="http://schemas.microsoft.com/office/drawing/2014/main" id="{171C27B9-F89A-41D5-9EE8-E5CC7A836480}"/>
              </a:ext>
            </a:extLst>
          </p:cNvPr>
          <p:cNvSpPr>
            <a:spLocks noGrp="1"/>
          </p:cNvSpPr>
          <p:nvPr/>
        </p:nvSpPr>
        <p:spPr>
          <a:xfrm>
            <a:off x="6229350" y="3543300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17" name="bullet-text-2">
            <a:extLst>
              <a:ext uri="{FF2B5EF4-FFF2-40B4-BE49-F238E27FC236}">
                <a16:creationId xmlns:a16="http://schemas.microsoft.com/office/drawing/2014/main" id="{21438A12-5FAC-4047-B72A-6DCCABEC7FC8}"/>
              </a:ext>
            </a:extLst>
          </p:cNvPr>
          <p:cNvSpPr>
            <a:spLocks noGrp="1"/>
          </p:cNvSpPr>
          <p:nvPr/>
        </p:nvSpPr>
        <p:spPr>
          <a:xfrm>
            <a:off x="6467475" y="3467100"/>
            <a:ext cx="4524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Lakukan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verifikasi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tegangan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/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arus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dan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setujui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titik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pengambilan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daya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8" name="boundary">
            <a:extLst>
              <a:ext uri="{FF2B5EF4-FFF2-40B4-BE49-F238E27FC236}">
                <a16:creationId xmlns:a16="http://schemas.microsoft.com/office/drawing/2014/main" id="{72F557E6-6985-456A-9BC5-870B5EE65CB1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0839450" cy="876300"/>
          </a:xfrm>
          <a:prstGeom prst="rect">
            <a:avLst/>
          </a:prstGeom>
          <a:solidFill>
            <a:srgbClr val="FFF4D7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86916678-3051-42B0-B1C2-8E6C708C986A}"/>
              </a:ext>
            </a:extLst>
          </p:cNvPr>
          <p:cNvSpPr>
            <a:spLocks noGrp="1"/>
          </p:cNvSpPr>
          <p:nvPr/>
        </p:nvSpPr>
        <p:spPr>
          <a:xfrm>
            <a:off x="590550" y="50292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Batas penerapan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BECD904-1394-4F53-9295-18BF0D65F313}"/>
              </a:ext>
            </a:extLst>
          </p:cNvPr>
          <p:cNvSpPr>
            <a:spLocks noGrp="1"/>
          </p:cNvSpPr>
          <p:nvPr/>
        </p:nvSpPr>
        <p:spPr>
          <a:xfrm>
            <a:off x="2857500" y="4991100"/>
            <a:ext cx="809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10000"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Tahap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lapangan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saat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menggunakan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24 VDC.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Opsi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baterai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tidak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diposisikan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sebagai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sumber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kontin</a:t>
            </a:r>
            <a:r>
              <a:rPr lang="en-US"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sampai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optimasi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selesai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dan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hasil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pengembangan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divalidasi</a:t>
            </a: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92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-title">
            <a:extLst>
              <a:ext uri="{FF2B5EF4-FFF2-40B4-BE49-F238E27FC236}">
                <a16:creationId xmlns:a16="http://schemas.microsoft.com/office/drawing/2014/main" id="{6484FD34-6C79-4B01-9313-8F86A650801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596"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CH: desain LGU mengikuti struktur existing, instalasi fisik oleh Pertamina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8B637A1F-F97A-41DB-A67A-917861A30684}"/>
              </a:ext>
            </a:extLst>
          </p:cNvPr>
          <p:cNvSpPr>
            <a:spLocks noGrp="1"/>
          </p:cNvSpPr>
          <p:nvPr/>
        </p:nvSpPr>
        <p:spPr>
          <a:xfrm>
            <a:off x="11287125" y="63341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3C686B4-52A2-4510-88D0-71C2F2693F76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Mounting CH dan panel surya disesuaikan dengan tiang atau handrail existing di area Pertamina.</a:t>
            </a:r>
          </a:p>
        </p:txBody>
      </p:sp>
      <p:sp>
        <p:nvSpPr>
          <p:cNvPr id="4" name="row-0">
            <a:extLst>
              <a:ext uri="{FF2B5EF4-FFF2-40B4-BE49-F238E27FC236}">
                <a16:creationId xmlns:a16="http://schemas.microsoft.com/office/drawing/2014/main" id="{FB748337-A0BA-471A-849B-9ECAC171BF7B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10839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5" name="num-0">
            <a:extLst>
              <a:ext uri="{FF2B5EF4-FFF2-40B4-BE49-F238E27FC236}">
                <a16:creationId xmlns:a16="http://schemas.microsoft.com/office/drawing/2014/main" id="{4EEAF315-6266-4FFC-9EFF-92542CF71A9B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619125" cy="5524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815CF57-1DA5-45BB-88CE-8ADAC66B6BBB}"/>
              </a:ext>
            </a:extLst>
          </p:cNvPr>
          <p:cNvSpPr>
            <a:spLocks noGrp="1"/>
          </p:cNvSpPr>
          <p:nvPr/>
        </p:nvSpPr>
        <p:spPr>
          <a:xfrm>
            <a:off x="542925" y="1781175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6C82205-21EC-42D7-AEE7-F056F6459AB9}"/>
              </a:ext>
            </a:extLst>
          </p:cNvPr>
          <p:cNvSpPr>
            <a:spLocks noGrp="1"/>
          </p:cNvSpPr>
          <p:nvPr/>
        </p:nvSpPr>
        <p:spPr>
          <a:xfrm>
            <a:off x="1219200" y="17621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Desain mounting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AF35BAE-A285-44E8-81E7-2259F1B2FED6}"/>
              </a:ext>
            </a:extLst>
          </p:cNvPr>
          <p:cNvSpPr>
            <a:spLocks noGrp="1"/>
          </p:cNvSpPr>
          <p:nvPr/>
        </p:nvSpPr>
        <p:spPr>
          <a:xfrm>
            <a:off x="3762375" y="17335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LGU membuat mounting berdasarkan foto, ukuran dan kondisi struktur existing.</a:t>
            </a:r>
          </a:p>
        </p:txBody>
      </p:sp>
      <p:sp>
        <p:nvSpPr>
          <p:cNvPr id="9" name="row-1">
            <a:extLst>
              <a:ext uri="{FF2B5EF4-FFF2-40B4-BE49-F238E27FC236}">
                <a16:creationId xmlns:a16="http://schemas.microsoft.com/office/drawing/2014/main" id="{41CF2BA6-2D58-4F3D-BC61-D19857739C66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10839450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0" name="num-1">
            <a:extLst>
              <a:ext uri="{FF2B5EF4-FFF2-40B4-BE49-F238E27FC236}">
                <a16:creationId xmlns:a16="http://schemas.microsoft.com/office/drawing/2014/main" id="{14E40E2C-1A81-43EF-9D97-1816FE804C89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619125" cy="5524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80C104F-8F0C-468E-975F-A303160708CC}"/>
              </a:ext>
            </a:extLst>
          </p:cNvPr>
          <p:cNvSpPr>
            <a:spLocks noGrp="1"/>
          </p:cNvSpPr>
          <p:nvPr/>
        </p:nvSpPr>
        <p:spPr>
          <a:xfrm>
            <a:off x="542925" y="2371725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F569598-4A79-45BD-8C5C-FE9A26836CE8}"/>
              </a:ext>
            </a:extLst>
          </p:cNvPr>
          <p:cNvSpPr>
            <a:spLocks noGrp="1"/>
          </p:cNvSpPr>
          <p:nvPr/>
        </p:nvSpPr>
        <p:spPr>
          <a:xfrm>
            <a:off x="1219200" y="23526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Panel surya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A2ECD02-9B79-4D2E-94AF-7C3E435F1118}"/>
              </a:ext>
            </a:extLst>
          </p:cNvPr>
          <p:cNvSpPr>
            <a:spLocks noGrp="1"/>
          </p:cNvSpPr>
          <p:nvPr/>
        </p:nvSpPr>
        <p:spPr>
          <a:xfrm>
            <a:off x="3762375" y="23241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LGU memilih panel tersertifikasi; Pertamina menentukan sertifikasi yang diterima.</a:t>
            </a:r>
          </a:p>
        </p:txBody>
      </p:sp>
      <p:sp>
        <p:nvSpPr>
          <p:cNvPr id="14" name="row-2">
            <a:extLst>
              <a:ext uri="{FF2B5EF4-FFF2-40B4-BE49-F238E27FC236}">
                <a16:creationId xmlns:a16="http://schemas.microsoft.com/office/drawing/2014/main" id="{B163F91B-2207-4FE3-B4EC-ACEA723EDF24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10839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5" name="num-2">
            <a:extLst>
              <a:ext uri="{FF2B5EF4-FFF2-40B4-BE49-F238E27FC236}">
                <a16:creationId xmlns:a16="http://schemas.microsoft.com/office/drawing/2014/main" id="{867D8968-957F-46A9-9E33-785F354B155E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619125" cy="5524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1A66B67-4256-4B81-A5CB-442770AD1755}"/>
              </a:ext>
            </a:extLst>
          </p:cNvPr>
          <p:cNvSpPr>
            <a:spLocks noGrp="1"/>
          </p:cNvSpPr>
          <p:nvPr/>
        </p:nvSpPr>
        <p:spPr>
          <a:xfrm>
            <a:off x="542925" y="2962275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5C2B541-5AF6-455E-926C-30B5D862B658}"/>
              </a:ext>
            </a:extLst>
          </p:cNvPr>
          <p:cNvSpPr>
            <a:spLocks noGrp="1"/>
          </p:cNvSpPr>
          <p:nvPr/>
        </p:nvSpPr>
        <p:spPr>
          <a:xfrm>
            <a:off x="1219200" y="29432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Instalasi lapangan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874576D-ED68-4559-AFFB-C9018EBBF940}"/>
              </a:ext>
            </a:extLst>
          </p:cNvPr>
          <p:cNvSpPr>
            <a:spLocks noGrp="1"/>
          </p:cNvSpPr>
          <p:nvPr/>
        </p:nvSpPr>
        <p:spPr>
          <a:xfrm>
            <a:off x="3762375" y="29146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Tim Pertamina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melaksanakan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instalasi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dengan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personel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dan tools yang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sesuai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row-3">
            <a:extLst>
              <a:ext uri="{FF2B5EF4-FFF2-40B4-BE49-F238E27FC236}">
                <a16:creationId xmlns:a16="http://schemas.microsoft.com/office/drawing/2014/main" id="{44057CE8-6328-4416-86DF-64EB2BAC64B8}"/>
              </a:ext>
            </a:extLst>
          </p:cNvPr>
          <p:cNvSpPr>
            <a:spLocks noGrp="1"/>
          </p:cNvSpPr>
          <p:nvPr/>
        </p:nvSpPr>
        <p:spPr>
          <a:xfrm>
            <a:off x="400050" y="3390900"/>
            <a:ext cx="10839450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0" name="num-3">
            <a:extLst>
              <a:ext uri="{FF2B5EF4-FFF2-40B4-BE49-F238E27FC236}">
                <a16:creationId xmlns:a16="http://schemas.microsoft.com/office/drawing/2014/main" id="{35593A52-69AF-47F8-A4E4-3BCD11141A50}"/>
              </a:ext>
            </a:extLst>
          </p:cNvPr>
          <p:cNvSpPr>
            <a:spLocks noGrp="1"/>
          </p:cNvSpPr>
          <p:nvPr/>
        </p:nvSpPr>
        <p:spPr>
          <a:xfrm>
            <a:off x="400050" y="3390900"/>
            <a:ext cx="619125" cy="5524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EAF5319-569F-42F8-AFA9-8780E2F13DF2}"/>
              </a:ext>
            </a:extLst>
          </p:cNvPr>
          <p:cNvSpPr>
            <a:spLocks noGrp="1"/>
          </p:cNvSpPr>
          <p:nvPr/>
        </p:nvSpPr>
        <p:spPr>
          <a:xfrm>
            <a:off x="542925" y="3552825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146B85A9-F5C6-4AB2-89B3-3AC6858920D4}"/>
              </a:ext>
            </a:extLst>
          </p:cNvPr>
          <p:cNvSpPr>
            <a:spLocks noGrp="1"/>
          </p:cNvSpPr>
          <p:nvPr/>
        </p:nvSpPr>
        <p:spPr>
          <a:xfrm>
            <a:off x="1219200" y="35337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Mur, baut, kunci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D13BB8D5-023D-46E2-BF07-614E3DE10C0D}"/>
              </a:ext>
            </a:extLst>
          </p:cNvPr>
          <p:cNvSpPr>
            <a:spLocks noGrp="1"/>
          </p:cNvSpPr>
          <p:nvPr/>
        </p:nvSpPr>
        <p:spPr>
          <a:xfrm>
            <a:off x="3762375" y="35052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Pertamina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memberikan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standar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fastener dan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ukuran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kunci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pas yang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digunakan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4" name="row-4">
            <a:extLst>
              <a:ext uri="{FF2B5EF4-FFF2-40B4-BE49-F238E27FC236}">
                <a16:creationId xmlns:a16="http://schemas.microsoft.com/office/drawing/2014/main" id="{544C6A9C-4B2A-494C-88C9-1E8BFAB25110}"/>
              </a:ext>
            </a:extLst>
          </p:cNvPr>
          <p:cNvSpPr>
            <a:spLocks noGrp="1"/>
          </p:cNvSpPr>
          <p:nvPr/>
        </p:nvSpPr>
        <p:spPr>
          <a:xfrm>
            <a:off x="400050" y="3981450"/>
            <a:ext cx="10839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5" name="num-4">
            <a:extLst>
              <a:ext uri="{FF2B5EF4-FFF2-40B4-BE49-F238E27FC236}">
                <a16:creationId xmlns:a16="http://schemas.microsoft.com/office/drawing/2014/main" id="{7ECFBEFF-1F39-445C-A270-9AA7A8EAF3D0}"/>
              </a:ext>
            </a:extLst>
          </p:cNvPr>
          <p:cNvSpPr>
            <a:spLocks noGrp="1"/>
          </p:cNvSpPr>
          <p:nvPr/>
        </p:nvSpPr>
        <p:spPr>
          <a:xfrm>
            <a:off x="400050" y="3981450"/>
            <a:ext cx="619125" cy="5524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14DEE4E9-80D1-467E-9F7B-4C6AA1461FCF}"/>
              </a:ext>
            </a:extLst>
          </p:cNvPr>
          <p:cNvSpPr>
            <a:spLocks noGrp="1"/>
          </p:cNvSpPr>
          <p:nvPr/>
        </p:nvSpPr>
        <p:spPr>
          <a:xfrm>
            <a:off x="542925" y="4143375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28F6B900-6B48-4FD7-8ABA-624D5D677D33}"/>
              </a:ext>
            </a:extLst>
          </p:cNvPr>
          <p:cNvSpPr>
            <a:spLocks noGrp="1"/>
          </p:cNvSpPr>
          <p:nvPr/>
        </p:nvSpPr>
        <p:spPr>
          <a:xfrm>
            <a:off x="1219200" y="41243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Batas pemasangan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AEDD643F-E1B4-4AA4-B17A-EC1ADBB2DA69}"/>
              </a:ext>
            </a:extLst>
          </p:cNvPr>
          <p:cNvSpPr>
            <a:spLocks noGrp="1"/>
          </p:cNvSpPr>
          <p:nvPr/>
        </p:nvSpPr>
        <p:spPr>
          <a:xfrm>
            <a:off x="3762375" y="40957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Pertamina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memberi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batas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tinggi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antenna, area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berbahaya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dan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jalur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yang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diizinkan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9" name="row-5">
            <a:extLst>
              <a:ext uri="{FF2B5EF4-FFF2-40B4-BE49-F238E27FC236}">
                <a16:creationId xmlns:a16="http://schemas.microsoft.com/office/drawing/2014/main" id="{4B118719-6960-408B-BDF8-A8D4843961FF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10839450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0" name="num-5">
            <a:extLst>
              <a:ext uri="{FF2B5EF4-FFF2-40B4-BE49-F238E27FC236}">
                <a16:creationId xmlns:a16="http://schemas.microsoft.com/office/drawing/2014/main" id="{E65FCD39-BC7D-41BB-ABFB-04036B93C576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619125" cy="5524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BF1F8093-B201-4869-B9CE-E28F84544452}"/>
              </a:ext>
            </a:extLst>
          </p:cNvPr>
          <p:cNvSpPr>
            <a:spLocks noGrp="1"/>
          </p:cNvSpPr>
          <p:nvPr/>
        </p:nvSpPr>
        <p:spPr>
          <a:xfrm>
            <a:off x="542925" y="4733925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FCCAD600-362D-42ED-B82E-CD2704455821}"/>
              </a:ext>
            </a:extLst>
          </p:cNvPr>
          <p:cNvSpPr>
            <a:spLocks noGrp="1"/>
          </p:cNvSpPr>
          <p:nvPr/>
        </p:nvSpPr>
        <p:spPr>
          <a:xfrm>
            <a:off x="1219200" y="47148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Kabel panel–CH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B63D3FFE-3F0E-49ED-A25C-9CB71A0D92A0}"/>
              </a:ext>
            </a:extLst>
          </p:cNvPr>
          <p:cNvSpPr>
            <a:spLocks noGrp="1"/>
          </p:cNvSpPr>
          <p:nvPr/>
        </p:nvSpPr>
        <p:spPr>
          <a:xfrm>
            <a:off x="3762375" y="46863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Pertamina memberi jenis kabel, konektor, proteksi dan standar instalasi.</a:t>
            </a:r>
          </a:p>
        </p:txBody>
      </p:sp>
      <p:sp>
        <p:nvSpPr>
          <p:cNvPr id="34" name="row-6">
            <a:extLst>
              <a:ext uri="{FF2B5EF4-FFF2-40B4-BE49-F238E27FC236}">
                <a16:creationId xmlns:a16="http://schemas.microsoft.com/office/drawing/2014/main" id="{F9CC807B-DA5E-4522-BF0F-C85FF0348D29}"/>
              </a:ext>
            </a:extLst>
          </p:cNvPr>
          <p:cNvSpPr>
            <a:spLocks noGrp="1"/>
          </p:cNvSpPr>
          <p:nvPr/>
        </p:nvSpPr>
        <p:spPr>
          <a:xfrm>
            <a:off x="400050" y="5162550"/>
            <a:ext cx="10839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5" name="num-6">
            <a:extLst>
              <a:ext uri="{FF2B5EF4-FFF2-40B4-BE49-F238E27FC236}">
                <a16:creationId xmlns:a16="http://schemas.microsoft.com/office/drawing/2014/main" id="{E9957BE8-4FCA-45E1-A16A-8A8796209D80}"/>
              </a:ext>
            </a:extLst>
          </p:cNvPr>
          <p:cNvSpPr>
            <a:spLocks noGrp="1"/>
          </p:cNvSpPr>
          <p:nvPr/>
        </p:nvSpPr>
        <p:spPr>
          <a:xfrm>
            <a:off x="400050" y="5162550"/>
            <a:ext cx="619125" cy="5524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B9CB10A5-71AA-4B1C-AF5A-66C2DD762837}"/>
              </a:ext>
            </a:extLst>
          </p:cNvPr>
          <p:cNvSpPr>
            <a:spLocks noGrp="1"/>
          </p:cNvSpPr>
          <p:nvPr/>
        </p:nvSpPr>
        <p:spPr>
          <a:xfrm>
            <a:off x="542925" y="5324475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C160959F-0D17-4359-97F9-1593C37E8B53}"/>
              </a:ext>
            </a:extLst>
          </p:cNvPr>
          <p:cNvSpPr>
            <a:spLocks noGrp="1"/>
          </p:cNvSpPr>
          <p:nvPr/>
        </p:nvSpPr>
        <p:spPr>
          <a:xfrm>
            <a:off x="1219200" y="53054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Ketentuan battery</a:t>
            </a:r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460B5E45-575A-4C79-84D8-A939FF59C009}"/>
              </a:ext>
            </a:extLst>
          </p:cNvPr>
          <p:cNvSpPr>
            <a:spLocks noGrp="1"/>
          </p:cNvSpPr>
          <p:nvPr/>
        </p:nvSpPr>
        <p:spPr>
          <a:xfrm>
            <a:off x="3762375" y="52768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Pertamina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menetapkan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jenis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, enclosure,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sertifikasi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,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inspeksi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dan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pembatasan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lokasi</a:t>
            </a:r>
            <a:r>
              <a:rPr sz="1275" b="0" dirty="0">
                <a:solidFill>
                  <a:srgbClr val="111827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914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title">
            <a:extLst>
              <a:ext uri="{FF2B5EF4-FFF2-40B4-BE49-F238E27FC236}">
                <a16:creationId xmlns:a16="http://schemas.microsoft.com/office/drawing/2014/main" id="{BD9B8588-C933-48F5-AFA1-9102AF089B9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996"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Gateway: Pertamina perlu membuka jalur IP dan menjelaskan security jaringan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CF6CD72B-0CAA-4B50-9FAC-0220EBDC8E57}"/>
              </a:ext>
            </a:extLst>
          </p:cNvPr>
          <p:cNvSpPr>
            <a:spLocks noGrp="1"/>
          </p:cNvSpPr>
          <p:nvPr/>
        </p:nvSpPr>
        <p:spPr>
          <a:xfrm>
            <a:off x="11287125" y="63341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left-panel">
            <a:extLst>
              <a:ext uri="{FF2B5EF4-FFF2-40B4-BE49-F238E27FC236}">
                <a16:creationId xmlns:a16="http://schemas.microsoft.com/office/drawing/2014/main" id="{A6431229-1907-4AC2-849F-1488B2561CB5}"/>
              </a:ext>
            </a:extLst>
          </p:cNvPr>
          <p:cNvSpPr>
            <a:spLocks noGrp="1"/>
          </p:cNvSpPr>
          <p:nvPr/>
        </p:nvSpPr>
        <p:spPr>
          <a:xfrm>
            <a:off x="400050" y="1285875"/>
            <a:ext cx="5334000" cy="3429000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4" name="right-panel">
            <a:extLst>
              <a:ext uri="{FF2B5EF4-FFF2-40B4-BE49-F238E27FC236}">
                <a16:creationId xmlns:a16="http://schemas.microsoft.com/office/drawing/2014/main" id="{9BE8B83C-32E0-46E5-95DE-1D66949F55FF}"/>
              </a:ext>
            </a:extLst>
          </p:cNvPr>
          <p:cNvSpPr>
            <a:spLocks noGrp="1"/>
          </p:cNvSpPr>
          <p:nvPr/>
        </p:nvSpPr>
        <p:spPr>
          <a:xfrm>
            <a:off x="6000750" y="1285875"/>
            <a:ext cx="5791200" cy="342900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82E0220-EEAD-4A27-977C-067FADB342E0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RENCANA LGU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1F2A2A5-864E-488D-8552-F5367715AB82}"/>
              </a:ext>
            </a:extLst>
          </p:cNvPr>
          <p:cNvSpPr>
            <a:spLocks noGrp="1"/>
          </p:cNvSpPr>
          <p:nvPr/>
        </p:nvSpPr>
        <p:spPr>
          <a:xfrm>
            <a:off x="6210300" y="1514475"/>
            <a:ext cx="531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INFORMASI PERTAMINA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1DD41A41-FCCA-4D5C-AF71-DB46BC0B09D8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E420511F-44CA-4BBF-A456-75B4E74EE1DC}"/>
              </a:ext>
            </a:extLst>
          </p:cNvPr>
          <p:cNvSpPr>
            <a:spLocks noGrp="1"/>
          </p:cNvSpPr>
          <p:nvPr/>
        </p:nvSpPr>
        <p:spPr>
          <a:xfrm>
            <a:off x="847725" y="2124075"/>
            <a:ext cx="4619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Gateway menggunakan adaptor 5 VDC dan ditempatkan di dalam ruangan.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95EDF654-D55E-4856-ABAB-FBB015EDDA1A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3AAB934D-D7C5-4588-AA24-A180079FBC15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4619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Antenna ditempatkan di rooftop dengan kebutuhan jalur kabel dan proteksi.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4D77244D-19DC-43C7-A176-B68AEB57E755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00FBE28A-5D20-4C0D-9D17-C0E2D9A33517}"/>
              </a:ext>
            </a:extLst>
          </p:cNvPr>
          <p:cNvSpPr>
            <a:spLocks noGrp="1"/>
          </p:cNvSpPr>
          <p:nvPr/>
        </p:nvSpPr>
        <p:spPr>
          <a:xfrm>
            <a:off x="847725" y="3305175"/>
            <a:ext cx="4619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Konfigurasi Wi-Fi dasar saat ini memakai SSID dan password.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4A6AE325-2BCF-498E-B327-C94BBC66DB55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4" name="bullet-text-3">
            <a:extLst>
              <a:ext uri="{FF2B5EF4-FFF2-40B4-BE49-F238E27FC236}">
                <a16:creationId xmlns:a16="http://schemas.microsoft.com/office/drawing/2014/main" id="{B799878A-ADC3-4F5F-ACC7-7553706549FF}"/>
              </a:ext>
            </a:extLst>
          </p:cNvPr>
          <p:cNvSpPr>
            <a:spLocks noGrp="1"/>
          </p:cNvSpPr>
          <p:nvPr/>
        </p:nvSpPr>
        <p:spPr>
          <a:xfrm>
            <a:off x="847725" y="3895725"/>
            <a:ext cx="4619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Gateway terhubung ke broker MQTT melalui IP atau hostname server.</a:t>
            </a:r>
          </a:p>
        </p:txBody>
      </p:sp>
      <p:sp>
        <p:nvSpPr>
          <p:cNvPr id="15" name="bullet-0">
            <a:extLst>
              <a:ext uri="{FF2B5EF4-FFF2-40B4-BE49-F238E27FC236}">
                <a16:creationId xmlns:a16="http://schemas.microsoft.com/office/drawing/2014/main" id="{5CD71ACA-3F01-4E83-8B2A-9923DB07A84E}"/>
              </a:ext>
            </a:extLst>
          </p:cNvPr>
          <p:cNvSpPr>
            <a:spLocks noGrp="1"/>
          </p:cNvSpPr>
          <p:nvPr/>
        </p:nvSpPr>
        <p:spPr>
          <a:xfrm>
            <a:off x="6210300" y="2200275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16" name="bullet-text-0">
            <a:extLst>
              <a:ext uri="{FF2B5EF4-FFF2-40B4-BE49-F238E27FC236}">
                <a16:creationId xmlns:a16="http://schemas.microsoft.com/office/drawing/2014/main" id="{7A17A3B0-7C09-40B1-B395-55547D4DABFF}"/>
              </a:ext>
            </a:extLst>
          </p:cNvPr>
          <p:cNvSpPr>
            <a:spLocks noGrp="1"/>
          </p:cNvSpPr>
          <p:nvPr/>
        </p:nvSpPr>
        <p:spPr>
          <a:xfrm>
            <a:off x="6448425" y="2124075"/>
            <a:ext cx="4953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Prosedur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registrasi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MAC, SSID/security, DHCP/static IP,</a:t>
            </a:r>
            <a:r>
              <a:rPr 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firewall.</a:t>
            </a:r>
          </a:p>
        </p:txBody>
      </p:sp>
      <p:sp>
        <p:nvSpPr>
          <p:cNvPr id="17" name="bullet-1">
            <a:extLst>
              <a:ext uri="{FF2B5EF4-FFF2-40B4-BE49-F238E27FC236}">
                <a16:creationId xmlns:a16="http://schemas.microsoft.com/office/drawing/2014/main" id="{49063CAB-70BC-4E73-AFE4-A49DF2E0B70D}"/>
              </a:ext>
            </a:extLst>
          </p:cNvPr>
          <p:cNvSpPr>
            <a:spLocks noGrp="1"/>
          </p:cNvSpPr>
          <p:nvPr/>
        </p:nvSpPr>
        <p:spPr>
          <a:xfrm>
            <a:off x="6210300" y="2790825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18" name="bullet-text-1">
            <a:extLst>
              <a:ext uri="{FF2B5EF4-FFF2-40B4-BE49-F238E27FC236}">
                <a16:creationId xmlns:a16="http://schemas.microsoft.com/office/drawing/2014/main" id="{BC865668-6AB9-4F51-A844-C6FA71B8AAF7}"/>
              </a:ext>
            </a:extLst>
          </p:cNvPr>
          <p:cNvSpPr>
            <a:spLocks noGrp="1"/>
          </p:cNvSpPr>
          <p:nvPr/>
        </p:nvSpPr>
        <p:spPr>
          <a:xfrm>
            <a:off x="6448425" y="2714625"/>
            <a:ext cx="4953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Alamat/port broker</a:t>
            </a:r>
            <a:r>
              <a:rPr 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(MQTT port 1884)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credential, TLS/</a:t>
            </a:r>
            <a:r>
              <a:rPr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mTLS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certificate dan topic ACL.</a:t>
            </a:r>
          </a:p>
        </p:txBody>
      </p:sp>
      <p:sp>
        <p:nvSpPr>
          <p:cNvPr id="19" name="bullet-2">
            <a:extLst>
              <a:ext uri="{FF2B5EF4-FFF2-40B4-BE49-F238E27FC236}">
                <a16:creationId xmlns:a16="http://schemas.microsoft.com/office/drawing/2014/main" id="{82FF3892-FDDA-4B3E-97A8-E5FFF643E9B0}"/>
              </a:ext>
            </a:extLst>
          </p:cNvPr>
          <p:cNvSpPr>
            <a:spLocks noGrp="1"/>
          </p:cNvSpPr>
          <p:nvPr/>
        </p:nvSpPr>
        <p:spPr>
          <a:xfrm>
            <a:off x="6210300" y="3381375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20" name="bullet-text-2">
            <a:extLst>
              <a:ext uri="{FF2B5EF4-FFF2-40B4-BE49-F238E27FC236}">
                <a16:creationId xmlns:a16="http://schemas.microsoft.com/office/drawing/2014/main" id="{2F902B39-B486-49D2-A785-173F19C6DEB4}"/>
              </a:ext>
            </a:extLst>
          </p:cNvPr>
          <p:cNvSpPr>
            <a:spLocks noGrp="1"/>
          </p:cNvSpPr>
          <p:nvPr/>
        </p:nvSpPr>
        <p:spPr>
          <a:xfrm>
            <a:off x="6448425" y="3305175"/>
            <a:ext cx="4953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Titik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sumber</a:t>
            </a:r>
            <a:r>
              <a:rPr 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power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indoor, </a:t>
            </a:r>
            <a:r>
              <a:rPr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akses</a:t>
            </a:r>
            <a:r>
              <a:rPr 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antenna </a:t>
            </a:r>
            <a:r>
              <a:rPr lang="en-US"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ke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rooftop</a:t>
            </a:r>
            <a:r>
              <a:rPr 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  <a:endParaRPr sz="1350" b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metric-0">
            <a:extLst>
              <a:ext uri="{FF2B5EF4-FFF2-40B4-BE49-F238E27FC236}">
                <a16:creationId xmlns:a16="http://schemas.microsoft.com/office/drawing/2014/main" id="{D5E65FC0-6BCF-4099-B706-4BD79BE6B87F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2476500" cy="895350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052C3134-F348-4C77-8E35-D9DBAB597408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115"/>
          </a:bodyPr>
          <a:lstStyle/>
          <a:p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&lt; 1 KB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AC24A9E4-CBD3-4A0A-9EDC-5D99EB8993EE}"/>
              </a:ext>
            </a:extLst>
          </p:cNvPr>
          <p:cNvSpPr>
            <a:spLocks noGrp="1"/>
          </p:cNvSpPr>
          <p:nvPr/>
        </p:nvSpPr>
        <p:spPr>
          <a:xfrm>
            <a:off x="571500" y="5629275"/>
            <a:ext cx="213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208"/>
          </a:bodyPr>
          <a:lstStyle/>
          <a:p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Target data per pesan</a:t>
            </a:r>
          </a:p>
        </p:txBody>
      </p:sp>
      <p:sp>
        <p:nvSpPr>
          <p:cNvPr id="26" name="metric-1">
            <a:extLst>
              <a:ext uri="{FF2B5EF4-FFF2-40B4-BE49-F238E27FC236}">
                <a16:creationId xmlns:a16="http://schemas.microsoft.com/office/drawing/2014/main" id="{C488D62D-DAB0-4761-8EA8-4E8323C96638}"/>
              </a:ext>
            </a:extLst>
          </p:cNvPr>
          <p:cNvSpPr>
            <a:spLocks noGrp="1"/>
          </p:cNvSpPr>
          <p:nvPr/>
        </p:nvSpPr>
        <p:spPr>
          <a:xfrm>
            <a:off x="3067050" y="5095875"/>
            <a:ext cx="2857500" cy="8953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281A9D64-BD21-42D9-8E70-3B242EF06040}"/>
              </a:ext>
            </a:extLst>
          </p:cNvPr>
          <p:cNvSpPr>
            <a:spLocks noGrp="1"/>
          </p:cNvSpPr>
          <p:nvPr/>
        </p:nvSpPr>
        <p:spPr>
          <a:xfrm>
            <a:off x="3238500" y="523875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33"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90 byte / 10 detik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14D279AC-231D-4F30-879A-87C6D115F555}"/>
              </a:ext>
            </a:extLst>
          </p:cNvPr>
          <p:cNvSpPr>
            <a:spLocks noGrp="1"/>
          </p:cNvSpPr>
          <p:nvPr/>
        </p:nvSpPr>
        <p:spPr>
          <a:xfrm>
            <a:off x="3238500" y="5629275"/>
            <a:ext cx="2514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208"/>
          </a:bodyPr>
          <a:lstStyle/>
          <a:p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Estimasi periode tercepat</a:t>
            </a:r>
          </a:p>
        </p:txBody>
      </p:sp>
      <p:sp>
        <p:nvSpPr>
          <p:cNvPr id="29" name="metric-2">
            <a:extLst>
              <a:ext uri="{FF2B5EF4-FFF2-40B4-BE49-F238E27FC236}">
                <a16:creationId xmlns:a16="http://schemas.microsoft.com/office/drawing/2014/main" id="{5C56D771-420E-4FEA-A5EE-21F76A62BB1C}"/>
              </a:ext>
            </a:extLst>
          </p:cNvPr>
          <p:cNvSpPr>
            <a:spLocks noGrp="1"/>
          </p:cNvSpPr>
          <p:nvPr/>
        </p:nvSpPr>
        <p:spPr>
          <a:xfrm>
            <a:off x="6115050" y="5095875"/>
            <a:ext cx="5124450" cy="895350"/>
          </a:xfrm>
          <a:prstGeom prst="rect">
            <a:avLst/>
          </a:prstGeom>
          <a:solidFill>
            <a:srgbClr val="FFF4D7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8171319E-8C81-413D-BD2C-9E136B22BA28}"/>
              </a:ext>
            </a:extLst>
          </p:cNvPr>
          <p:cNvSpPr>
            <a:spLocks noGrp="1"/>
          </p:cNvSpPr>
          <p:nvPr/>
        </p:nvSpPr>
        <p:spPr>
          <a:xfrm>
            <a:off x="6286500" y="5238750"/>
            <a:ext cx="478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115"/>
          </a:bodyPr>
          <a:lstStyle/>
          <a:p>
            <a:pPr algn="l">
              <a:defRPr sz="217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Validasi MQTT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F93C42CC-E320-4C54-9F89-7A69827B80B0}"/>
              </a:ext>
            </a:extLst>
          </p:cNvPr>
          <p:cNvSpPr>
            <a:spLocks noGrp="1"/>
          </p:cNvSpPr>
          <p:nvPr/>
        </p:nvSpPr>
        <p:spPr>
          <a:xfrm>
            <a:off x="6286500" y="5629275"/>
            <a:ext cx="4781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208"/>
          </a:bodyPr>
          <a:lstStyle/>
          <a:p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Ukur paket aktual karena JSON, topic, TCP/IP dan security menambah overhead</a:t>
            </a:r>
          </a:p>
        </p:txBody>
      </p:sp>
    </p:spTree>
    <p:extLst>
      <p:ext uri="{BB962C8B-B14F-4D97-AF65-F5344CB8AC3E}">
        <p14:creationId xmlns:p14="http://schemas.microsoft.com/office/powerpoint/2010/main" val="191123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E7FCD103-5318-4D05-81E5-FDB909B4F81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06"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Server: LGU menyediakan dashboard; Pertamina menetapkan lingkungan target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4B2B093-0F5B-430F-9D2D-42D1DE41DD97}"/>
              </a:ext>
            </a:extLst>
          </p:cNvPr>
          <p:cNvSpPr>
            <a:spLocks noGrp="1"/>
          </p:cNvSpPr>
          <p:nvPr/>
        </p:nvSpPr>
        <p:spPr>
          <a:xfrm>
            <a:off x="11287125" y="63341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left-panel">
            <a:extLst>
              <a:ext uri="{FF2B5EF4-FFF2-40B4-BE49-F238E27FC236}">
                <a16:creationId xmlns:a16="http://schemas.microsoft.com/office/drawing/2014/main" id="{104CE009-897D-4E24-BEEB-CE4DACE4F314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334000" cy="3905250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4" name="right-panel">
            <a:extLst>
              <a:ext uri="{FF2B5EF4-FFF2-40B4-BE49-F238E27FC236}">
                <a16:creationId xmlns:a16="http://schemas.microsoft.com/office/drawing/2014/main" id="{B23127F3-AD21-4B4F-8868-0368EBED1CB3}"/>
              </a:ext>
            </a:extLst>
          </p:cNvPr>
          <p:cNvSpPr>
            <a:spLocks noGrp="1"/>
          </p:cNvSpPr>
          <p:nvPr/>
        </p:nvSpPr>
        <p:spPr>
          <a:xfrm>
            <a:off x="6000750" y="1381125"/>
            <a:ext cx="5791200" cy="3905250"/>
          </a:xfrm>
          <a:prstGeom prst="rect">
            <a:avLst/>
          </a:prstGeom>
          <a:solidFill>
            <a:srgbClr val="DDEE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8E8697C-7855-4A62-9109-34E97AD1E9F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DISEDIAKAN LGU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8A2BFA8-86DF-425C-8D77-789FB9D14B1B}"/>
              </a:ext>
            </a:extLst>
          </p:cNvPr>
          <p:cNvSpPr>
            <a:spLocks noGrp="1"/>
          </p:cNvSpPr>
          <p:nvPr/>
        </p:nvSpPr>
        <p:spPr>
          <a:xfrm>
            <a:off x="6210300" y="1609725"/>
            <a:ext cx="531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DIBUTUHKAN DARI PERTAMINA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B53D279B-7443-488E-A2D2-8E151ED99F00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20D0F8C0-6ADE-47AD-A098-0B4A7D9EB49D}"/>
              </a:ext>
            </a:extLst>
          </p:cNvPr>
          <p:cNvSpPr>
            <a:spLocks noGrp="1"/>
          </p:cNvSpPr>
          <p:nvPr/>
        </p:nvSpPr>
        <p:spPr>
          <a:xfrm>
            <a:off x="847725" y="2219325"/>
            <a:ext cx="4619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Web dashboard, paket installer dan panduan konfigurasi.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E209BD7E-2B0C-4AE2-A87B-C905729AC4DB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69E4AA9E-ED55-4785-9349-6FC4F625994E}"/>
              </a:ext>
            </a:extLst>
          </p:cNvPr>
          <p:cNvSpPr>
            <a:spLocks noGrp="1"/>
          </p:cNvSpPr>
          <p:nvPr/>
        </p:nvSpPr>
        <p:spPr>
          <a:xfrm>
            <a:off x="847725" y="2943225"/>
            <a:ext cx="4619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Kebutuhan minimum CPU/RAM/storage, OS/runtime dan database yang didukung.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CEB64032-3509-4224-9C22-D73CEB93F28F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D64DBC6A-CE67-4C7C-8D2E-58CCDE590534}"/>
              </a:ext>
            </a:extLst>
          </p:cNvPr>
          <p:cNvSpPr>
            <a:spLocks noGrp="1"/>
          </p:cNvSpPr>
          <p:nvPr/>
        </p:nvSpPr>
        <p:spPr>
          <a:xfrm>
            <a:off x="847725" y="3667125"/>
            <a:ext cx="4619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Dependency, port, service, schema database dan prosedur startup/backup.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6321C1E2-0512-4834-8194-7483308690A7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85725" cy="85725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4" name="bullet-text-3">
            <a:extLst>
              <a:ext uri="{FF2B5EF4-FFF2-40B4-BE49-F238E27FC236}">
                <a16:creationId xmlns:a16="http://schemas.microsoft.com/office/drawing/2014/main" id="{8E7282CF-FBCF-42DA-B737-E1A0AA9920E6}"/>
              </a:ext>
            </a:extLst>
          </p:cNvPr>
          <p:cNvSpPr>
            <a:spLocks noGrp="1"/>
          </p:cNvSpPr>
          <p:nvPr/>
        </p:nvSpPr>
        <p:spPr>
          <a:xfrm>
            <a:off x="847725" y="4391025"/>
            <a:ext cx="4619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Dukungan instalasi, commissioning, dokumentasi dan training.</a:t>
            </a:r>
          </a:p>
        </p:txBody>
      </p:sp>
      <p:sp>
        <p:nvSpPr>
          <p:cNvPr id="15" name="bullet-0">
            <a:extLst>
              <a:ext uri="{FF2B5EF4-FFF2-40B4-BE49-F238E27FC236}">
                <a16:creationId xmlns:a16="http://schemas.microsoft.com/office/drawing/2014/main" id="{69B309B1-0B83-496A-81EE-E52942C38899}"/>
              </a:ext>
            </a:extLst>
          </p:cNvPr>
          <p:cNvSpPr>
            <a:spLocks noGrp="1"/>
          </p:cNvSpPr>
          <p:nvPr/>
        </p:nvSpPr>
        <p:spPr>
          <a:xfrm>
            <a:off x="6210300" y="2295525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16" name="bullet-text-0">
            <a:extLst>
              <a:ext uri="{FF2B5EF4-FFF2-40B4-BE49-F238E27FC236}">
                <a16:creationId xmlns:a16="http://schemas.microsoft.com/office/drawing/2014/main" id="{8DDD6D09-6B85-495B-ACFB-02BA685EDBEB}"/>
              </a:ext>
            </a:extLst>
          </p:cNvPr>
          <p:cNvSpPr>
            <a:spLocks noGrp="1"/>
          </p:cNvSpPr>
          <p:nvPr/>
        </p:nvSpPr>
        <p:spPr>
          <a:xfrm>
            <a:off x="6448425" y="2219325"/>
            <a:ext cx="4953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Spesifikasi aktual server/VM: CPU, RAM, storage dan availability.</a:t>
            </a:r>
          </a:p>
        </p:txBody>
      </p:sp>
      <p:sp>
        <p:nvSpPr>
          <p:cNvPr id="17" name="bullet-1">
            <a:extLst>
              <a:ext uri="{FF2B5EF4-FFF2-40B4-BE49-F238E27FC236}">
                <a16:creationId xmlns:a16="http://schemas.microsoft.com/office/drawing/2014/main" id="{F1A038EC-9BFA-4EAE-9D3D-151011145257}"/>
              </a:ext>
            </a:extLst>
          </p:cNvPr>
          <p:cNvSpPr>
            <a:spLocks noGrp="1"/>
          </p:cNvSpPr>
          <p:nvPr/>
        </p:nvSpPr>
        <p:spPr>
          <a:xfrm>
            <a:off x="6210300" y="3019425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18" name="bullet-text-1">
            <a:extLst>
              <a:ext uri="{FF2B5EF4-FFF2-40B4-BE49-F238E27FC236}">
                <a16:creationId xmlns:a16="http://schemas.microsoft.com/office/drawing/2014/main" id="{B735AA3D-6478-4654-887B-72616FF9879B}"/>
              </a:ext>
            </a:extLst>
          </p:cNvPr>
          <p:cNvSpPr>
            <a:spLocks noGrp="1"/>
          </p:cNvSpPr>
          <p:nvPr/>
        </p:nvSpPr>
        <p:spPr>
          <a:xfrm>
            <a:off x="6448425" y="2943225"/>
            <a:ext cx="4953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OS/versi, akses admin, container policy, antivirus dan patching.</a:t>
            </a:r>
          </a:p>
        </p:txBody>
      </p:sp>
      <p:sp>
        <p:nvSpPr>
          <p:cNvPr id="19" name="bullet-2">
            <a:extLst>
              <a:ext uri="{FF2B5EF4-FFF2-40B4-BE49-F238E27FC236}">
                <a16:creationId xmlns:a16="http://schemas.microsoft.com/office/drawing/2014/main" id="{2B4ABB48-0778-4365-B6B6-10A679286FC8}"/>
              </a:ext>
            </a:extLst>
          </p:cNvPr>
          <p:cNvSpPr>
            <a:spLocks noGrp="1"/>
          </p:cNvSpPr>
          <p:nvPr/>
        </p:nvSpPr>
        <p:spPr>
          <a:xfrm>
            <a:off x="6210300" y="3743325"/>
            <a:ext cx="85725" cy="85725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20" name="bullet-text-2">
            <a:extLst>
              <a:ext uri="{FF2B5EF4-FFF2-40B4-BE49-F238E27FC236}">
                <a16:creationId xmlns:a16="http://schemas.microsoft.com/office/drawing/2014/main" id="{026B918C-76E0-4906-A086-FE3BB3295A6E}"/>
              </a:ext>
            </a:extLst>
          </p:cNvPr>
          <p:cNvSpPr>
            <a:spLocks noGrp="1"/>
          </p:cNvSpPr>
          <p:nvPr/>
        </p:nvSpPr>
        <p:spPr>
          <a:xfrm>
            <a:off x="6448425" y="3667125"/>
            <a:ext cx="49530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Database, retention, backup/restore dan ownership DBA.</a:t>
            </a:r>
          </a:p>
        </p:txBody>
      </p:sp>
    </p:spTree>
    <p:extLst>
      <p:ext uri="{BB962C8B-B14F-4D97-AF65-F5344CB8AC3E}">
        <p14:creationId xmlns:p14="http://schemas.microsoft.com/office/powerpoint/2010/main" val="30547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B8FA9ACE-C018-4D80-8672-B312BB66798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Pembagian tugas LGU–Pertamina · Bagian 1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DA317694-FF67-4541-9535-2E8161754232}"/>
              </a:ext>
            </a:extLst>
          </p:cNvPr>
          <p:cNvSpPr>
            <a:spLocks noGrp="1"/>
          </p:cNvSpPr>
          <p:nvPr/>
        </p:nvSpPr>
        <p:spPr>
          <a:xfrm>
            <a:off x="11287125" y="63341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head-lgu">
            <a:extLst>
              <a:ext uri="{FF2B5EF4-FFF2-40B4-BE49-F238E27FC236}">
                <a16:creationId xmlns:a16="http://schemas.microsoft.com/office/drawing/2014/main" id="{0C934D1B-D9EB-48F1-895B-69E7EBCBEC60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5381625" cy="419100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5" name="head-ptm">
            <a:extLst>
              <a:ext uri="{FF2B5EF4-FFF2-40B4-BE49-F238E27FC236}">
                <a16:creationId xmlns:a16="http://schemas.microsoft.com/office/drawing/2014/main" id="{16AE74AD-4326-4DCE-BFBC-8431D7559241}"/>
              </a:ext>
            </a:extLst>
          </p:cNvPr>
          <p:cNvSpPr>
            <a:spLocks noGrp="1"/>
          </p:cNvSpPr>
          <p:nvPr/>
        </p:nvSpPr>
        <p:spPr>
          <a:xfrm>
            <a:off x="5781675" y="1409700"/>
            <a:ext cx="5457825" cy="419100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CC43FC5-E498-46E7-97A8-FB44193752D9}"/>
              </a:ext>
            </a:extLst>
          </p:cNvPr>
          <p:cNvSpPr>
            <a:spLocks noGrp="1"/>
          </p:cNvSpPr>
          <p:nvPr/>
        </p:nvSpPr>
        <p:spPr>
          <a:xfrm>
            <a:off x="590550" y="15144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LGU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EB50E40-BC7E-4DFB-978D-347AE8F652E4}"/>
              </a:ext>
            </a:extLst>
          </p:cNvPr>
          <p:cNvSpPr>
            <a:spLocks noGrp="1"/>
          </p:cNvSpPr>
          <p:nvPr/>
        </p:nvSpPr>
        <p:spPr>
          <a:xfrm>
            <a:off x="5972175" y="15144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PERTAMINA</a:t>
            </a:r>
          </a:p>
        </p:txBody>
      </p:sp>
      <p:sp>
        <p:nvSpPr>
          <p:cNvPr id="8" name="lgu-0">
            <a:extLst>
              <a:ext uri="{FF2B5EF4-FFF2-40B4-BE49-F238E27FC236}">
                <a16:creationId xmlns:a16="http://schemas.microsoft.com/office/drawing/2014/main" id="{0C9F093C-F79F-4C0E-8605-B0F8EB20D43E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53816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9" name="ptm-0">
            <a:extLst>
              <a:ext uri="{FF2B5EF4-FFF2-40B4-BE49-F238E27FC236}">
                <a16:creationId xmlns:a16="http://schemas.microsoft.com/office/drawing/2014/main" id="{B50884C2-41BF-46ED-9892-EB09DB09CE42}"/>
              </a:ext>
            </a:extLst>
          </p:cNvPr>
          <p:cNvSpPr>
            <a:spLocks noGrp="1"/>
          </p:cNvSpPr>
          <p:nvPr/>
        </p:nvSpPr>
        <p:spPr>
          <a:xfrm>
            <a:off x="5781675" y="1828800"/>
            <a:ext cx="54578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0" name="lgu-text-0">
            <a:extLst>
              <a:ext uri="{FF2B5EF4-FFF2-40B4-BE49-F238E27FC236}">
                <a16:creationId xmlns:a16="http://schemas.microsoft.com/office/drawing/2014/main" id="{BAD6511E-1515-4B49-82EF-935CBA9A819E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Power GLD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Tetapkan kebutuhan 24 VDC minimal 2 A kontinu dan detail koneksi.</a:t>
            </a:r>
          </a:p>
        </p:txBody>
      </p:sp>
      <p:sp>
        <p:nvSpPr>
          <p:cNvPr id="11" name="ptm-text-0">
            <a:extLst>
              <a:ext uri="{FF2B5EF4-FFF2-40B4-BE49-F238E27FC236}">
                <a16:creationId xmlns:a16="http://schemas.microsoft.com/office/drawing/2014/main" id="{AC80DE3F-7244-49A2-87C3-5CF93DB1B464}"/>
              </a:ext>
            </a:extLst>
          </p:cNvPr>
          <p:cNvSpPr>
            <a:spLocks noGrp="1"/>
          </p:cNvSpPr>
          <p:nvPr/>
        </p:nvSpPr>
        <p:spPr>
          <a:xfrm>
            <a:off x="5972175" y="1905000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Power GLD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Sediakan titik daya dan buktikan kapasitas melalui pengukuran.</a:t>
            </a:r>
          </a:p>
        </p:txBody>
      </p:sp>
      <p:sp>
        <p:nvSpPr>
          <p:cNvPr id="12" name="lgu-1">
            <a:extLst>
              <a:ext uri="{FF2B5EF4-FFF2-40B4-BE49-F238E27FC236}">
                <a16:creationId xmlns:a16="http://schemas.microsoft.com/office/drawing/2014/main" id="{5EB4E60B-E731-423D-BAE3-92535F223C6E}"/>
              </a:ext>
            </a:extLst>
          </p:cNvPr>
          <p:cNvSpPr>
            <a:spLocks noGrp="1"/>
          </p:cNvSpPr>
          <p:nvPr/>
        </p:nvSpPr>
        <p:spPr>
          <a:xfrm>
            <a:off x="400050" y="2447925"/>
            <a:ext cx="53816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3" name="ptm-1">
            <a:extLst>
              <a:ext uri="{FF2B5EF4-FFF2-40B4-BE49-F238E27FC236}">
                <a16:creationId xmlns:a16="http://schemas.microsoft.com/office/drawing/2014/main" id="{DE089FF0-2ECD-4E6A-A5C3-B4C30255210B}"/>
              </a:ext>
            </a:extLst>
          </p:cNvPr>
          <p:cNvSpPr>
            <a:spLocks noGrp="1"/>
          </p:cNvSpPr>
          <p:nvPr/>
        </p:nvSpPr>
        <p:spPr>
          <a:xfrm>
            <a:off x="5781675" y="2447925"/>
            <a:ext cx="54578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4" name="lgu-text-1">
            <a:extLst>
              <a:ext uri="{FF2B5EF4-FFF2-40B4-BE49-F238E27FC236}">
                <a16:creationId xmlns:a16="http://schemas.microsoft.com/office/drawing/2014/main" id="{F4802A98-4F22-492A-A985-DBB1AF7A927A}"/>
              </a:ext>
            </a:extLst>
          </p:cNvPr>
          <p:cNvSpPr>
            <a:spLocks noGrp="1"/>
          </p:cNvSpPr>
          <p:nvPr/>
        </p:nvSpPr>
        <p:spPr>
          <a:xfrm>
            <a:off x="590550" y="2524125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Lokasi GLD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Usulkan lokasi dekat sensor existing dan metode pemasangan.</a:t>
            </a:r>
          </a:p>
        </p:txBody>
      </p:sp>
      <p:sp>
        <p:nvSpPr>
          <p:cNvPr id="15" name="ptm-text-1">
            <a:extLst>
              <a:ext uri="{FF2B5EF4-FFF2-40B4-BE49-F238E27FC236}">
                <a16:creationId xmlns:a16="http://schemas.microsoft.com/office/drawing/2014/main" id="{BD373B12-6B60-4309-B821-E31685D3833B}"/>
              </a:ext>
            </a:extLst>
          </p:cNvPr>
          <p:cNvSpPr>
            <a:spLocks noGrp="1"/>
          </p:cNvSpPr>
          <p:nvPr/>
        </p:nvSpPr>
        <p:spPr>
          <a:xfrm>
            <a:off x="5972175" y="2524125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Lokasi GLD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akses, izin, titik pemasangan dan aturan proteksi.</a:t>
            </a:r>
          </a:p>
        </p:txBody>
      </p:sp>
      <p:sp>
        <p:nvSpPr>
          <p:cNvPr id="16" name="lgu-2">
            <a:extLst>
              <a:ext uri="{FF2B5EF4-FFF2-40B4-BE49-F238E27FC236}">
                <a16:creationId xmlns:a16="http://schemas.microsoft.com/office/drawing/2014/main" id="{6AB1CECC-19AF-4B05-A207-A340FA7FA7B5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53816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7" name="ptm-2">
            <a:extLst>
              <a:ext uri="{FF2B5EF4-FFF2-40B4-BE49-F238E27FC236}">
                <a16:creationId xmlns:a16="http://schemas.microsoft.com/office/drawing/2014/main" id="{7CD9C42A-3760-45CC-AE4F-C082D4B7939B}"/>
              </a:ext>
            </a:extLst>
          </p:cNvPr>
          <p:cNvSpPr>
            <a:spLocks noGrp="1"/>
          </p:cNvSpPr>
          <p:nvPr/>
        </p:nvSpPr>
        <p:spPr>
          <a:xfrm>
            <a:off x="5781675" y="3067050"/>
            <a:ext cx="54578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8" name="lgu-text-2">
            <a:extLst>
              <a:ext uri="{FF2B5EF4-FFF2-40B4-BE49-F238E27FC236}">
                <a16:creationId xmlns:a16="http://schemas.microsoft.com/office/drawing/2014/main" id="{AFCF87E0-44D3-469A-B2CB-620F00A7D7A4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03 · Battery GLD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Lanjutkan optimasi power management; belum untuk kontinu.</a:t>
            </a:r>
          </a:p>
        </p:txBody>
      </p:sp>
      <p:sp>
        <p:nvSpPr>
          <p:cNvPr id="19" name="ptm-text-2">
            <a:extLst>
              <a:ext uri="{FF2B5EF4-FFF2-40B4-BE49-F238E27FC236}">
                <a16:creationId xmlns:a16="http://schemas.microsoft.com/office/drawing/2014/main" id="{497FB036-DBB8-4C53-A58F-A59FAB894AA6}"/>
              </a:ext>
            </a:extLst>
          </p:cNvPr>
          <p:cNvSpPr>
            <a:spLocks noGrp="1"/>
          </p:cNvSpPr>
          <p:nvPr/>
        </p:nvSpPr>
        <p:spPr>
          <a:xfrm>
            <a:off x="5972175" y="3143250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03 · Battery GLD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ketentuan site untuk fase pengembangan berikutnya.</a:t>
            </a:r>
          </a:p>
        </p:txBody>
      </p:sp>
      <p:sp>
        <p:nvSpPr>
          <p:cNvPr id="20" name="lgu-3">
            <a:extLst>
              <a:ext uri="{FF2B5EF4-FFF2-40B4-BE49-F238E27FC236}">
                <a16:creationId xmlns:a16="http://schemas.microsoft.com/office/drawing/2014/main" id="{309CEC6E-2EA6-4CDB-B2E1-2F170D639D89}"/>
              </a:ext>
            </a:extLst>
          </p:cNvPr>
          <p:cNvSpPr>
            <a:spLocks noGrp="1"/>
          </p:cNvSpPr>
          <p:nvPr/>
        </p:nvSpPr>
        <p:spPr>
          <a:xfrm>
            <a:off x="400050" y="3686175"/>
            <a:ext cx="53816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1" name="ptm-3">
            <a:extLst>
              <a:ext uri="{FF2B5EF4-FFF2-40B4-BE49-F238E27FC236}">
                <a16:creationId xmlns:a16="http://schemas.microsoft.com/office/drawing/2014/main" id="{63CED7AF-02FD-4392-A117-B0769D244CD0}"/>
              </a:ext>
            </a:extLst>
          </p:cNvPr>
          <p:cNvSpPr>
            <a:spLocks noGrp="1"/>
          </p:cNvSpPr>
          <p:nvPr/>
        </p:nvSpPr>
        <p:spPr>
          <a:xfrm>
            <a:off x="5781675" y="3686175"/>
            <a:ext cx="54578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2" name="lgu-text-3">
            <a:extLst>
              <a:ext uri="{FF2B5EF4-FFF2-40B4-BE49-F238E27FC236}">
                <a16:creationId xmlns:a16="http://schemas.microsoft.com/office/drawing/2014/main" id="{E179385E-270F-4163-ADF9-25F3CFA06F91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04 · Mounting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Desain dan fabrikasi mounting sesuai struktur existing.</a:t>
            </a:r>
          </a:p>
        </p:txBody>
      </p:sp>
      <p:sp>
        <p:nvSpPr>
          <p:cNvPr id="23" name="ptm-text-3">
            <a:extLst>
              <a:ext uri="{FF2B5EF4-FFF2-40B4-BE49-F238E27FC236}">
                <a16:creationId xmlns:a16="http://schemas.microsoft.com/office/drawing/2014/main" id="{2A05F543-8D00-46A9-8A32-0704732867DB}"/>
              </a:ext>
            </a:extLst>
          </p:cNvPr>
          <p:cNvSpPr>
            <a:spLocks noGrp="1"/>
          </p:cNvSpPr>
          <p:nvPr/>
        </p:nvSpPr>
        <p:spPr>
          <a:xfrm>
            <a:off x="5972175" y="3762375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04 · Mounting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foto, dimensi, batas beban dan persetujuan desain.</a:t>
            </a:r>
          </a:p>
        </p:txBody>
      </p:sp>
      <p:sp>
        <p:nvSpPr>
          <p:cNvPr id="24" name="lgu-4">
            <a:extLst>
              <a:ext uri="{FF2B5EF4-FFF2-40B4-BE49-F238E27FC236}">
                <a16:creationId xmlns:a16="http://schemas.microsoft.com/office/drawing/2014/main" id="{0BB8399B-7176-49D2-8126-1EB055B2194B}"/>
              </a:ext>
            </a:extLst>
          </p:cNvPr>
          <p:cNvSpPr>
            <a:spLocks noGrp="1"/>
          </p:cNvSpPr>
          <p:nvPr/>
        </p:nvSpPr>
        <p:spPr>
          <a:xfrm>
            <a:off x="400050" y="4305300"/>
            <a:ext cx="53816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5" name="ptm-4">
            <a:extLst>
              <a:ext uri="{FF2B5EF4-FFF2-40B4-BE49-F238E27FC236}">
                <a16:creationId xmlns:a16="http://schemas.microsoft.com/office/drawing/2014/main" id="{835A8FB6-67AF-4ADE-82F7-71A0D096340F}"/>
              </a:ext>
            </a:extLst>
          </p:cNvPr>
          <p:cNvSpPr>
            <a:spLocks noGrp="1"/>
          </p:cNvSpPr>
          <p:nvPr/>
        </p:nvSpPr>
        <p:spPr>
          <a:xfrm>
            <a:off x="5781675" y="4305300"/>
            <a:ext cx="54578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6" name="lgu-text-4">
            <a:extLst>
              <a:ext uri="{FF2B5EF4-FFF2-40B4-BE49-F238E27FC236}">
                <a16:creationId xmlns:a16="http://schemas.microsoft.com/office/drawing/2014/main" id="{E0D46EB7-FB2F-4A26-AD88-F27444F6DF6A}"/>
              </a:ext>
            </a:extLst>
          </p:cNvPr>
          <p:cNvSpPr>
            <a:spLocks noGrp="1"/>
          </p:cNvSpPr>
          <p:nvPr/>
        </p:nvSpPr>
        <p:spPr>
          <a:xfrm>
            <a:off x="590550" y="4381500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05 · Solar panel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Pilih panel tersertifikasi dan serahkan dokumen.</a:t>
            </a:r>
          </a:p>
        </p:txBody>
      </p:sp>
      <p:sp>
        <p:nvSpPr>
          <p:cNvPr id="27" name="ptm-text-4">
            <a:extLst>
              <a:ext uri="{FF2B5EF4-FFF2-40B4-BE49-F238E27FC236}">
                <a16:creationId xmlns:a16="http://schemas.microsoft.com/office/drawing/2014/main" id="{B03C8370-CF16-40FD-B05B-D87E3E5357AF}"/>
              </a:ext>
            </a:extLst>
          </p:cNvPr>
          <p:cNvSpPr>
            <a:spLocks noGrp="1"/>
          </p:cNvSpPr>
          <p:nvPr/>
        </p:nvSpPr>
        <p:spPr>
          <a:xfrm>
            <a:off x="5972175" y="4381500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05 · Solar panel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Tetapkan sertifikasi yang diterima dan setujui panel.</a:t>
            </a:r>
          </a:p>
        </p:txBody>
      </p:sp>
      <p:sp>
        <p:nvSpPr>
          <p:cNvPr id="28" name="lgu-5">
            <a:extLst>
              <a:ext uri="{FF2B5EF4-FFF2-40B4-BE49-F238E27FC236}">
                <a16:creationId xmlns:a16="http://schemas.microsoft.com/office/drawing/2014/main" id="{05D3752E-44BC-4E58-AC00-81DBD94691E1}"/>
              </a:ext>
            </a:extLst>
          </p:cNvPr>
          <p:cNvSpPr>
            <a:spLocks noGrp="1"/>
          </p:cNvSpPr>
          <p:nvPr/>
        </p:nvSpPr>
        <p:spPr>
          <a:xfrm>
            <a:off x="400050" y="4924425"/>
            <a:ext cx="53816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9" name="ptm-5">
            <a:extLst>
              <a:ext uri="{FF2B5EF4-FFF2-40B4-BE49-F238E27FC236}">
                <a16:creationId xmlns:a16="http://schemas.microsoft.com/office/drawing/2014/main" id="{2D636B12-A616-4129-A5CB-85500FA36E34}"/>
              </a:ext>
            </a:extLst>
          </p:cNvPr>
          <p:cNvSpPr>
            <a:spLocks noGrp="1"/>
          </p:cNvSpPr>
          <p:nvPr/>
        </p:nvSpPr>
        <p:spPr>
          <a:xfrm>
            <a:off x="5781675" y="4924425"/>
            <a:ext cx="54578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0" name="lgu-text-5">
            <a:extLst>
              <a:ext uri="{FF2B5EF4-FFF2-40B4-BE49-F238E27FC236}">
                <a16:creationId xmlns:a16="http://schemas.microsoft.com/office/drawing/2014/main" id="{F0C15F79-9C27-4051-BE63-063DBCF2B5FA}"/>
              </a:ext>
            </a:extLst>
          </p:cNvPr>
          <p:cNvSpPr>
            <a:spLocks noGrp="1"/>
          </p:cNvSpPr>
          <p:nvPr/>
        </p:nvSpPr>
        <p:spPr>
          <a:xfrm>
            <a:off x="590550" y="5000625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06 · Instalasi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drawing, wiring dan metode instalasi.</a:t>
            </a:r>
          </a:p>
        </p:txBody>
      </p:sp>
      <p:sp>
        <p:nvSpPr>
          <p:cNvPr id="31" name="ptm-text-5">
            <a:extLst>
              <a:ext uri="{FF2B5EF4-FFF2-40B4-BE49-F238E27FC236}">
                <a16:creationId xmlns:a16="http://schemas.microsoft.com/office/drawing/2014/main" id="{8C023CE1-279A-4FF1-8C08-B16B6A937BC5}"/>
              </a:ext>
            </a:extLst>
          </p:cNvPr>
          <p:cNvSpPr>
            <a:spLocks noGrp="1"/>
          </p:cNvSpPr>
          <p:nvPr/>
        </p:nvSpPr>
        <p:spPr>
          <a:xfrm>
            <a:off x="5972175" y="5000625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06 · Instalasi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Laksanakan instalasi dengan personel, tools dan prosedur K3.</a:t>
            </a:r>
          </a:p>
        </p:txBody>
      </p:sp>
      <p:sp>
        <p:nvSpPr>
          <p:cNvPr id="32" name="lgu-6">
            <a:extLst>
              <a:ext uri="{FF2B5EF4-FFF2-40B4-BE49-F238E27FC236}">
                <a16:creationId xmlns:a16="http://schemas.microsoft.com/office/drawing/2014/main" id="{A9F6C735-412D-49C2-AF2C-40DB178E6556}"/>
              </a:ext>
            </a:extLst>
          </p:cNvPr>
          <p:cNvSpPr>
            <a:spLocks noGrp="1"/>
          </p:cNvSpPr>
          <p:nvPr/>
        </p:nvSpPr>
        <p:spPr>
          <a:xfrm>
            <a:off x="400050" y="5543550"/>
            <a:ext cx="53816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3" name="ptm-6">
            <a:extLst>
              <a:ext uri="{FF2B5EF4-FFF2-40B4-BE49-F238E27FC236}">
                <a16:creationId xmlns:a16="http://schemas.microsoft.com/office/drawing/2014/main" id="{040796ED-B50E-4656-8497-AD825B844DD5}"/>
              </a:ext>
            </a:extLst>
          </p:cNvPr>
          <p:cNvSpPr>
            <a:spLocks noGrp="1"/>
          </p:cNvSpPr>
          <p:nvPr/>
        </p:nvSpPr>
        <p:spPr>
          <a:xfrm>
            <a:off x="5781675" y="5543550"/>
            <a:ext cx="54578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4" name="lgu-text-6">
            <a:extLst>
              <a:ext uri="{FF2B5EF4-FFF2-40B4-BE49-F238E27FC236}">
                <a16:creationId xmlns:a16="http://schemas.microsoft.com/office/drawing/2014/main" id="{4E19EC71-49B0-4AEC-8F7A-5C99417F5C94}"/>
              </a:ext>
            </a:extLst>
          </p:cNvPr>
          <p:cNvSpPr>
            <a:spLocks noGrp="1"/>
          </p:cNvSpPr>
          <p:nvPr/>
        </p:nvSpPr>
        <p:spPr>
          <a:xfrm>
            <a:off x="590550" y="5619750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07 · Fastener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Sesuaikan mounting dengan standar mur/baut/kunci.</a:t>
            </a:r>
          </a:p>
        </p:txBody>
      </p:sp>
      <p:sp>
        <p:nvSpPr>
          <p:cNvPr id="35" name="ptm-text-6">
            <a:extLst>
              <a:ext uri="{FF2B5EF4-FFF2-40B4-BE49-F238E27FC236}">
                <a16:creationId xmlns:a16="http://schemas.microsoft.com/office/drawing/2014/main" id="{25B1FEDB-B0A0-4107-8A83-B85764165B06}"/>
              </a:ext>
            </a:extLst>
          </p:cNvPr>
          <p:cNvSpPr>
            <a:spLocks noGrp="1"/>
          </p:cNvSpPr>
          <p:nvPr/>
        </p:nvSpPr>
        <p:spPr>
          <a:xfrm>
            <a:off x="5972175" y="5619750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07 · Fastener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ukuran dan standar fastener yang digunakan.</a:t>
            </a:r>
          </a:p>
        </p:txBody>
      </p:sp>
    </p:spTree>
    <p:extLst>
      <p:ext uri="{BB962C8B-B14F-4D97-AF65-F5344CB8AC3E}">
        <p14:creationId xmlns:p14="http://schemas.microsoft.com/office/powerpoint/2010/main" val="1202729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A547C0F2-DF47-43A5-836A-9EA137663FE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Pembagian tugas LGU–Pertamina · Bagian 2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2FFF15C-AAF8-4B72-B54C-63F1F1807D16}"/>
              </a:ext>
            </a:extLst>
          </p:cNvPr>
          <p:cNvSpPr>
            <a:spLocks noGrp="1"/>
          </p:cNvSpPr>
          <p:nvPr/>
        </p:nvSpPr>
        <p:spPr>
          <a:xfrm>
            <a:off x="11287125" y="63341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head-lgu">
            <a:extLst>
              <a:ext uri="{FF2B5EF4-FFF2-40B4-BE49-F238E27FC236}">
                <a16:creationId xmlns:a16="http://schemas.microsoft.com/office/drawing/2014/main" id="{1822635F-69C2-4A58-B786-F9271776D45A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5381625" cy="419100"/>
          </a:xfrm>
          <a:prstGeom prst="rect">
            <a:avLst/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5" name="head-ptm">
            <a:extLst>
              <a:ext uri="{FF2B5EF4-FFF2-40B4-BE49-F238E27FC236}">
                <a16:creationId xmlns:a16="http://schemas.microsoft.com/office/drawing/2014/main" id="{5210B6DC-5EA2-4F00-9DC0-4A8159705E44}"/>
              </a:ext>
            </a:extLst>
          </p:cNvPr>
          <p:cNvSpPr>
            <a:spLocks noGrp="1"/>
          </p:cNvSpPr>
          <p:nvPr/>
        </p:nvSpPr>
        <p:spPr>
          <a:xfrm>
            <a:off x="5781675" y="1409700"/>
            <a:ext cx="5457825" cy="419100"/>
          </a:xfrm>
          <a:prstGeom prst="rect">
            <a:avLst/>
          </a:prstGeom>
          <a:solidFill>
            <a:srgbClr val="268A5E"/>
          </a:solidFill>
          <a:ln w="9525">
            <a:solidFill>
              <a:srgbClr val="268A5E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350CC14-654E-47F3-8B64-795C6AC7E2B6}"/>
              </a:ext>
            </a:extLst>
          </p:cNvPr>
          <p:cNvSpPr>
            <a:spLocks noGrp="1"/>
          </p:cNvSpPr>
          <p:nvPr/>
        </p:nvSpPr>
        <p:spPr>
          <a:xfrm>
            <a:off x="590550" y="15144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LGU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C6BBFA8-4503-4AFB-AFBB-9BA5A5A3486A}"/>
              </a:ext>
            </a:extLst>
          </p:cNvPr>
          <p:cNvSpPr>
            <a:spLocks noGrp="1"/>
          </p:cNvSpPr>
          <p:nvPr/>
        </p:nvSpPr>
        <p:spPr>
          <a:xfrm>
            <a:off x="5972175" y="15144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PERTAMINA</a:t>
            </a:r>
          </a:p>
        </p:txBody>
      </p:sp>
      <p:sp>
        <p:nvSpPr>
          <p:cNvPr id="8" name="lgu-0">
            <a:extLst>
              <a:ext uri="{FF2B5EF4-FFF2-40B4-BE49-F238E27FC236}">
                <a16:creationId xmlns:a16="http://schemas.microsoft.com/office/drawing/2014/main" id="{828BF01C-02F9-4AAB-BDAB-7CC61BD8295A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53816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9" name="ptm-0">
            <a:extLst>
              <a:ext uri="{FF2B5EF4-FFF2-40B4-BE49-F238E27FC236}">
                <a16:creationId xmlns:a16="http://schemas.microsoft.com/office/drawing/2014/main" id="{72DCBA83-27F7-4803-B330-8E7B8783A076}"/>
              </a:ext>
            </a:extLst>
          </p:cNvPr>
          <p:cNvSpPr>
            <a:spLocks noGrp="1"/>
          </p:cNvSpPr>
          <p:nvPr/>
        </p:nvSpPr>
        <p:spPr>
          <a:xfrm>
            <a:off x="5781675" y="1828800"/>
            <a:ext cx="54578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0" name="lgu-text-0">
            <a:extLst>
              <a:ext uri="{FF2B5EF4-FFF2-40B4-BE49-F238E27FC236}">
                <a16:creationId xmlns:a16="http://schemas.microsoft.com/office/drawing/2014/main" id="{F45636C9-C2F7-41D7-8A36-224C9940F212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08 · Batas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Sesuaikan antenna, enclosure dan kabel dengan aturan site.</a:t>
            </a:r>
          </a:p>
        </p:txBody>
      </p:sp>
      <p:sp>
        <p:nvSpPr>
          <p:cNvPr id="11" name="ptm-text-0">
            <a:extLst>
              <a:ext uri="{FF2B5EF4-FFF2-40B4-BE49-F238E27FC236}">
                <a16:creationId xmlns:a16="http://schemas.microsoft.com/office/drawing/2014/main" id="{4E96C77A-0472-4232-8CAB-6497D3D03B93}"/>
              </a:ext>
            </a:extLst>
          </p:cNvPr>
          <p:cNvSpPr>
            <a:spLocks noGrp="1"/>
          </p:cNvSpPr>
          <p:nvPr/>
        </p:nvSpPr>
        <p:spPr>
          <a:xfrm>
            <a:off x="5972175" y="1905000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08 · Batas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batas tinggi, area bahaya, rute, grounding dan kabel.</a:t>
            </a:r>
          </a:p>
        </p:txBody>
      </p:sp>
      <p:sp>
        <p:nvSpPr>
          <p:cNvPr id="12" name="lgu-1">
            <a:extLst>
              <a:ext uri="{FF2B5EF4-FFF2-40B4-BE49-F238E27FC236}">
                <a16:creationId xmlns:a16="http://schemas.microsoft.com/office/drawing/2014/main" id="{945B14C5-090A-495F-83DB-AB8F4EE6165D}"/>
              </a:ext>
            </a:extLst>
          </p:cNvPr>
          <p:cNvSpPr>
            <a:spLocks noGrp="1"/>
          </p:cNvSpPr>
          <p:nvPr/>
        </p:nvSpPr>
        <p:spPr>
          <a:xfrm>
            <a:off x="400050" y="2447925"/>
            <a:ext cx="53816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3" name="ptm-1">
            <a:extLst>
              <a:ext uri="{FF2B5EF4-FFF2-40B4-BE49-F238E27FC236}">
                <a16:creationId xmlns:a16="http://schemas.microsoft.com/office/drawing/2014/main" id="{0DF2564B-E8BE-4526-99D1-6162641E2E3F}"/>
              </a:ext>
            </a:extLst>
          </p:cNvPr>
          <p:cNvSpPr>
            <a:spLocks noGrp="1"/>
          </p:cNvSpPr>
          <p:nvPr/>
        </p:nvSpPr>
        <p:spPr>
          <a:xfrm>
            <a:off x="5781675" y="2447925"/>
            <a:ext cx="54578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4" name="lgu-text-1">
            <a:extLst>
              <a:ext uri="{FF2B5EF4-FFF2-40B4-BE49-F238E27FC236}">
                <a16:creationId xmlns:a16="http://schemas.microsoft.com/office/drawing/2014/main" id="{DB386274-7FD9-4553-B6EF-8A5B64B75B80}"/>
              </a:ext>
            </a:extLst>
          </p:cNvPr>
          <p:cNvSpPr>
            <a:spLocks noGrp="1"/>
          </p:cNvSpPr>
          <p:nvPr/>
        </p:nvSpPr>
        <p:spPr>
          <a:xfrm>
            <a:off x="590550" y="2524125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09 · Battery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Serahkan spesifikasi, enclosure, proteksi dan SDS.</a:t>
            </a:r>
          </a:p>
        </p:txBody>
      </p:sp>
      <p:sp>
        <p:nvSpPr>
          <p:cNvPr id="15" name="ptm-text-1">
            <a:extLst>
              <a:ext uri="{FF2B5EF4-FFF2-40B4-BE49-F238E27FC236}">
                <a16:creationId xmlns:a16="http://schemas.microsoft.com/office/drawing/2014/main" id="{29D2E9BA-9419-4BB3-91A2-0FC3C459D695}"/>
              </a:ext>
            </a:extLst>
          </p:cNvPr>
          <p:cNvSpPr>
            <a:spLocks noGrp="1"/>
          </p:cNvSpPr>
          <p:nvPr/>
        </p:nvSpPr>
        <p:spPr>
          <a:xfrm>
            <a:off x="5972175" y="2524125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09 · Battery CH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Jelaskan dan setujui ketentuan battery di area Pertamina.</a:t>
            </a:r>
          </a:p>
        </p:txBody>
      </p:sp>
      <p:sp>
        <p:nvSpPr>
          <p:cNvPr id="16" name="lgu-2">
            <a:extLst>
              <a:ext uri="{FF2B5EF4-FFF2-40B4-BE49-F238E27FC236}">
                <a16:creationId xmlns:a16="http://schemas.microsoft.com/office/drawing/2014/main" id="{24D0AEC1-8501-49CA-B93C-17E43E7D760E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53816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7" name="ptm-2">
            <a:extLst>
              <a:ext uri="{FF2B5EF4-FFF2-40B4-BE49-F238E27FC236}">
                <a16:creationId xmlns:a16="http://schemas.microsoft.com/office/drawing/2014/main" id="{FC7A0E1F-7A34-4F0A-9990-A6B57770507D}"/>
              </a:ext>
            </a:extLst>
          </p:cNvPr>
          <p:cNvSpPr>
            <a:spLocks noGrp="1"/>
          </p:cNvSpPr>
          <p:nvPr/>
        </p:nvSpPr>
        <p:spPr>
          <a:xfrm>
            <a:off x="5781675" y="3067050"/>
            <a:ext cx="54578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18" name="lgu-text-2">
            <a:extLst>
              <a:ext uri="{FF2B5EF4-FFF2-40B4-BE49-F238E27FC236}">
                <a16:creationId xmlns:a16="http://schemas.microsoft.com/office/drawing/2014/main" id="{70DE1C29-9CD0-4BD0-AD64-32131AA6217A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 · Gateway fisik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Sediakan GW, adaptor 5 V, antenna dan detail kabel.</a:t>
            </a:r>
          </a:p>
        </p:txBody>
      </p:sp>
      <p:sp>
        <p:nvSpPr>
          <p:cNvPr id="19" name="ptm-text-2">
            <a:extLst>
              <a:ext uri="{FF2B5EF4-FFF2-40B4-BE49-F238E27FC236}">
                <a16:creationId xmlns:a16="http://schemas.microsoft.com/office/drawing/2014/main" id="{AA1E116D-6F50-444D-B1AB-31DCF663D7A0}"/>
              </a:ext>
            </a:extLst>
          </p:cNvPr>
          <p:cNvSpPr>
            <a:spLocks noGrp="1"/>
          </p:cNvSpPr>
          <p:nvPr/>
        </p:nvSpPr>
        <p:spPr>
          <a:xfrm>
            <a:off x="5972175" y="3143250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 · Gateway fisik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Sediakan daya indoor, rooftop, rute coax dan proteksi petir.</a:t>
            </a:r>
          </a:p>
        </p:txBody>
      </p:sp>
      <p:sp>
        <p:nvSpPr>
          <p:cNvPr id="20" name="lgu-3">
            <a:extLst>
              <a:ext uri="{FF2B5EF4-FFF2-40B4-BE49-F238E27FC236}">
                <a16:creationId xmlns:a16="http://schemas.microsoft.com/office/drawing/2014/main" id="{ECFBBA0F-F0FE-4873-B625-E8823EDB9ADC}"/>
              </a:ext>
            </a:extLst>
          </p:cNvPr>
          <p:cNvSpPr>
            <a:spLocks noGrp="1"/>
          </p:cNvSpPr>
          <p:nvPr/>
        </p:nvSpPr>
        <p:spPr>
          <a:xfrm>
            <a:off x="400050" y="3686175"/>
            <a:ext cx="53816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1" name="ptm-3">
            <a:extLst>
              <a:ext uri="{FF2B5EF4-FFF2-40B4-BE49-F238E27FC236}">
                <a16:creationId xmlns:a16="http://schemas.microsoft.com/office/drawing/2014/main" id="{C077E138-082A-4C31-88FC-A5A3A3259AF8}"/>
              </a:ext>
            </a:extLst>
          </p:cNvPr>
          <p:cNvSpPr>
            <a:spLocks noGrp="1"/>
          </p:cNvSpPr>
          <p:nvPr/>
        </p:nvSpPr>
        <p:spPr>
          <a:xfrm>
            <a:off x="5781675" y="3686175"/>
            <a:ext cx="54578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2" name="lgu-text-3">
            <a:extLst>
              <a:ext uri="{FF2B5EF4-FFF2-40B4-BE49-F238E27FC236}">
                <a16:creationId xmlns:a16="http://schemas.microsoft.com/office/drawing/2014/main" id="{DB217CDB-E760-41EF-928A-0C7FAA89FC14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 · Registrasi jaringan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MAC/device list dan sesuaikan konfigurasi.</a:t>
            </a:r>
          </a:p>
        </p:txBody>
      </p:sp>
      <p:sp>
        <p:nvSpPr>
          <p:cNvPr id="23" name="ptm-text-3">
            <a:extLst>
              <a:ext uri="{FF2B5EF4-FFF2-40B4-BE49-F238E27FC236}">
                <a16:creationId xmlns:a16="http://schemas.microsoft.com/office/drawing/2014/main" id="{9ABAB02E-EA35-4DE8-AF0E-9FF23027902E}"/>
              </a:ext>
            </a:extLst>
          </p:cNvPr>
          <p:cNvSpPr>
            <a:spLocks noGrp="1"/>
          </p:cNvSpPr>
          <p:nvPr/>
        </p:nvSpPr>
        <p:spPr>
          <a:xfrm>
            <a:off x="5972175" y="3762375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 · Registrasi jaringan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registrasi, SSID/security, IP, firewall dan broker.</a:t>
            </a:r>
          </a:p>
        </p:txBody>
      </p:sp>
      <p:sp>
        <p:nvSpPr>
          <p:cNvPr id="24" name="lgu-4">
            <a:extLst>
              <a:ext uri="{FF2B5EF4-FFF2-40B4-BE49-F238E27FC236}">
                <a16:creationId xmlns:a16="http://schemas.microsoft.com/office/drawing/2014/main" id="{B3D70B63-3A98-4F1E-BDE4-7F328D560810}"/>
              </a:ext>
            </a:extLst>
          </p:cNvPr>
          <p:cNvSpPr>
            <a:spLocks noGrp="1"/>
          </p:cNvSpPr>
          <p:nvPr/>
        </p:nvSpPr>
        <p:spPr>
          <a:xfrm>
            <a:off x="400050" y="4305300"/>
            <a:ext cx="53816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5" name="ptm-4">
            <a:extLst>
              <a:ext uri="{FF2B5EF4-FFF2-40B4-BE49-F238E27FC236}">
                <a16:creationId xmlns:a16="http://schemas.microsoft.com/office/drawing/2014/main" id="{0976EAFA-3AAE-4B5E-99D2-771007172617}"/>
              </a:ext>
            </a:extLst>
          </p:cNvPr>
          <p:cNvSpPr>
            <a:spLocks noGrp="1"/>
          </p:cNvSpPr>
          <p:nvPr/>
        </p:nvSpPr>
        <p:spPr>
          <a:xfrm>
            <a:off x="5781675" y="4305300"/>
            <a:ext cx="545782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6" name="lgu-text-4">
            <a:extLst>
              <a:ext uri="{FF2B5EF4-FFF2-40B4-BE49-F238E27FC236}">
                <a16:creationId xmlns:a16="http://schemas.microsoft.com/office/drawing/2014/main" id="{3028B8A1-9B54-4681-8412-5620F495305B}"/>
              </a:ext>
            </a:extLst>
          </p:cNvPr>
          <p:cNvSpPr>
            <a:spLocks noGrp="1"/>
          </p:cNvSpPr>
          <p:nvPr/>
        </p:nvSpPr>
        <p:spPr>
          <a:xfrm>
            <a:off x="590550" y="4381500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 · MQTT &amp; payload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Berikan spec dan uji 90 byte/10 detik + capture.</a:t>
            </a:r>
          </a:p>
        </p:txBody>
      </p:sp>
      <p:sp>
        <p:nvSpPr>
          <p:cNvPr id="27" name="ptm-text-4">
            <a:extLst>
              <a:ext uri="{FF2B5EF4-FFF2-40B4-BE49-F238E27FC236}">
                <a16:creationId xmlns:a16="http://schemas.microsoft.com/office/drawing/2014/main" id="{CCD6671B-50F5-4D0A-B499-F1671C845354}"/>
              </a:ext>
            </a:extLst>
          </p:cNvPr>
          <p:cNvSpPr>
            <a:spLocks noGrp="1"/>
          </p:cNvSpPr>
          <p:nvPr/>
        </p:nvSpPr>
        <p:spPr>
          <a:xfrm>
            <a:off x="5972175" y="4381500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 · MQTT &amp; payload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Sediakan broker/ACL dan setujui limit payload/rate.</a:t>
            </a:r>
          </a:p>
        </p:txBody>
      </p:sp>
      <p:sp>
        <p:nvSpPr>
          <p:cNvPr id="28" name="lgu-5">
            <a:extLst>
              <a:ext uri="{FF2B5EF4-FFF2-40B4-BE49-F238E27FC236}">
                <a16:creationId xmlns:a16="http://schemas.microsoft.com/office/drawing/2014/main" id="{2F33C950-E3F7-47E9-A2E9-30587FA4D6A7}"/>
              </a:ext>
            </a:extLst>
          </p:cNvPr>
          <p:cNvSpPr>
            <a:spLocks noGrp="1"/>
          </p:cNvSpPr>
          <p:nvPr/>
        </p:nvSpPr>
        <p:spPr>
          <a:xfrm>
            <a:off x="400050" y="4924425"/>
            <a:ext cx="53816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29" name="ptm-5">
            <a:extLst>
              <a:ext uri="{FF2B5EF4-FFF2-40B4-BE49-F238E27FC236}">
                <a16:creationId xmlns:a16="http://schemas.microsoft.com/office/drawing/2014/main" id="{D5AB1CA3-71D3-4079-B41B-C7E0F45F85DC}"/>
              </a:ext>
            </a:extLst>
          </p:cNvPr>
          <p:cNvSpPr>
            <a:spLocks noGrp="1"/>
          </p:cNvSpPr>
          <p:nvPr/>
        </p:nvSpPr>
        <p:spPr>
          <a:xfrm>
            <a:off x="5781675" y="4924425"/>
            <a:ext cx="5457825" cy="619125"/>
          </a:xfrm>
          <a:prstGeom prst="rect">
            <a:avLst/>
          </a:prstGeom>
          <a:solidFill>
            <a:srgbClr val="F1F3F5"/>
          </a:solidFill>
          <a:ln w="9525">
            <a:solidFill>
              <a:srgbClr val="C4C9D0"/>
            </a:solidFill>
            <a:prstDash val="solid"/>
          </a:ln>
        </p:spPr>
      </p:sp>
      <p:sp>
        <p:nvSpPr>
          <p:cNvPr id="30" name="lgu-text-5">
            <a:extLst>
              <a:ext uri="{FF2B5EF4-FFF2-40B4-BE49-F238E27FC236}">
                <a16:creationId xmlns:a16="http://schemas.microsoft.com/office/drawing/2014/main" id="{6D107CA9-A166-4DF2-9BC6-BB6279D0DD73}"/>
              </a:ext>
            </a:extLst>
          </p:cNvPr>
          <p:cNvSpPr>
            <a:spLocks noGrp="1"/>
          </p:cNvSpPr>
          <p:nvPr/>
        </p:nvSpPr>
        <p:spPr>
          <a:xfrm>
            <a:off x="590550" y="5000625"/>
            <a:ext cx="500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 · Server/dashboard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Sediakan dashboard, installer, minimum spec dan training.</a:t>
            </a:r>
          </a:p>
        </p:txBody>
      </p:sp>
      <p:sp>
        <p:nvSpPr>
          <p:cNvPr id="31" name="ptm-text-5">
            <a:extLst>
              <a:ext uri="{FF2B5EF4-FFF2-40B4-BE49-F238E27FC236}">
                <a16:creationId xmlns:a16="http://schemas.microsoft.com/office/drawing/2014/main" id="{B0B32E01-BCFD-4968-82D8-716084567120}"/>
              </a:ext>
            </a:extLst>
          </p:cNvPr>
          <p:cNvSpPr>
            <a:spLocks noGrp="1"/>
          </p:cNvSpPr>
          <p:nvPr/>
        </p:nvSpPr>
        <p:spPr>
          <a:xfrm>
            <a:off x="5972175" y="5000625"/>
            <a:ext cx="50768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 · Server/dashboard</a:t>
            </a:r>
          </a:p>
          <a:p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Sediakan host/OS/DB aktual, akses, network dan backup policy.</a:t>
            </a:r>
          </a:p>
        </p:txBody>
      </p:sp>
    </p:spTree>
    <p:extLst>
      <p:ext uri="{BB962C8B-B14F-4D97-AF65-F5344CB8AC3E}">
        <p14:creationId xmlns:p14="http://schemas.microsoft.com/office/powerpoint/2010/main" val="1702880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1034</Words>
  <Application>Microsoft Office PowerPoint</Application>
  <DocSecurity>0</DocSecurity>
  <PresentationFormat>Widescreen</PresentationFormat>
  <Paragraphs>149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MSI</cp:lastModifiedBy>
  <cp:revision>6</cp:revision>
  <dcterms:created xsi:type="dcterms:W3CDTF">2026-08-13T15:27:33Z</dcterms:created>
  <dcterms:modified xsi:type="dcterms:W3CDTF">2026-08-13T15:43:17Z</dcterms:modified>
</cp:coreProperties>
</file>
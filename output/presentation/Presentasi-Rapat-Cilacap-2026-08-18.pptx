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39f56746cb4b4b" /><Relationship Type="http://schemas.openxmlformats.org/officeDocument/2006/relationships/extended-properties" Target="/docProps/app.xml" Id="R251e175173fd4b95" /><Relationship Type="http://schemas.openxmlformats.org/officeDocument/2006/relationships/officeDocument" Target="/ppt/presentation.xml" Id="Rc3c56ef93c3141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2105dc418e48ba"/>
  </p:sldMasterIdLst>
  <p:notesMasterIdLst>
    <p:notesMasterId xmlns:r="http://schemas.openxmlformats.org/officeDocument/2006/relationships" r:id="Rd4b2ff1981994e1c"/>
  </p:notesMasterIdLst>
  <p:sldIdLst>
    <p:sldId xmlns:r="http://schemas.openxmlformats.org/officeDocument/2006/relationships" id="256" r:id="R78439541a2e24642"/>
    <p:sldId xmlns:r="http://schemas.openxmlformats.org/officeDocument/2006/relationships" id="257" r:id="R5b38a4be189f4dc4"/>
    <p:sldId xmlns:r="http://schemas.openxmlformats.org/officeDocument/2006/relationships" id="258" r:id="Rd4e5ef9094c14cf6"/>
    <p:sldId xmlns:r="http://schemas.openxmlformats.org/officeDocument/2006/relationships" id="259" r:id="R009262d00888467d"/>
    <p:sldId xmlns:r="http://schemas.openxmlformats.org/officeDocument/2006/relationships" id="260" r:id="R1de338df8cbf4be1"/>
    <p:sldId xmlns:r="http://schemas.openxmlformats.org/officeDocument/2006/relationships" id="261" r:id="Rf236638adc05457a"/>
    <p:sldId xmlns:r="http://schemas.openxmlformats.org/officeDocument/2006/relationships" id="262" r:id="Rb9c5812c512246d4"/>
    <p:sldId xmlns:r="http://schemas.openxmlformats.org/officeDocument/2006/relationships" id="263" r:id="Ra3a1f46bf4ad40d5"/>
    <p:sldId xmlns:r="http://schemas.openxmlformats.org/officeDocument/2006/relationships" id="264" r:id="R490aeb1167734a9d"/>
    <p:sldId xmlns:r="http://schemas.openxmlformats.org/officeDocument/2006/relationships" id="265" r:id="R0c2a68d35fc445cd"/>
    <p:sldId xmlns:r="http://schemas.openxmlformats.org/officeDocument/2006/relationships" id="266" r:id="Rcd3b9128892a40b1"/>
    <p:sldId xmlns:r="http://schemas.openxmlformats.org/officeDocument/2006/relationships" id="267" r:id="Ra29bcaba2869485f"/>
    <p:sldId xmlns:r="http://schemas.openxmlformats.org/officeDocument/2006/relationships" id="268" r:id="Ree8e34a943e04278"/>
    <p:sldId xmlns:r="http://schemas.openxmlformats.org/officeDocument/2006/relationships" id="269" r:id="Re9d70418511647b6"/>
    <p:sldId xmlns:r="http://schemas.openxmlformats.org/officeDocument/2006/relationships" id="270" r:id="R258d5b5a89184520"/>
    <p:sldId xmlns:r="http://schemas.openxmlformats.org/officeDocument/2006/relationships" id="271" r:id="R39f6cb2e61ac42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49488433a04f92" /><Relationship Type="http://schemas.openxmlformats.org/officeDocument/2006/relationships/slideMaster" Target="/ppt/slideMasters/slideMaster1.xml" Id="Rb32105dc418e48ba" /><Relationship Type="http://schemas.openxmlformats.org/officeDocument/2006/relationships/notesMaster" Target="/ppt/notesMasters/notesMaster1.xml" Id="Rd4b2ff1981994e1c" /><Relationship Type="http://schemas.openxmlformats.org/officeDocument/2006/relationships/presProps" Target="/ppt/presProps.xml" Id="R6487bd4284474be7" /><Relationship Type="http://schemas.openxmlformats.org/officeDocument/2006/relationships/tableStyles" Target="/ppt/tableStyles.xml" Id="Rdf42f7bf93e04a07" /><Relationship Type="http://schemas.openxmlformats.org/officeDocument/2006/relationships/slide" Target="/ppt/slides/slide1.xml" Id="R78439541a2e24642" /><Relationship Type="http://schemas.openxmlformats.org/officeDocument/2006/relationships/slide" Target="/ppt/slides/slide2.xml" Id="R5b38a4be189f4dc4" /><Relationship Type="http://schemas.openxmlformats.org/officeDocument/2006/relationships/slide" Target="/ppt/slides/slide3.xml" Id="Rd4e5ef9094c14cf6" /><Relationship Type="http://schemas.openxmlformats.org/officeDocument/2006/relationships/slide" Target="/ppt/slides/slide4.xml" Id="R009262d00888467d" /><Relationship Type="http://schemas.openxmlformats.org/officeDocument/2006/relationships/slide" Target="/ppt/slides/slide5.xml" Id="R1de338df8cbf4be1" /><Relationship Type="http://schemas.openxmlformats.org/officeDocument/2006/relationships/slide" Target="/ppt/slides/slide6.xml" Id="Rf236638adc05457a" /><Relationship Type="http://schemas.openxmlformats.org/officeDocument/2006/relationships/slide" Target="/ppt/slides/slide7.xml" Id="Rb9c5812c512246d4" /><Relationship Type="http://schemas.openxmlformats.org/officeDocument/2006/relationships/slide" Target="/ppt/slides/slide8.xml" Id="Ra3a1f46bf4ad40d5" /><Relationship Type="http://schemas.openxmlformats.org/officeDocument/2006/relationships/slide" Target="/ppt/slides/slide9.xml" Id="R490aeb1167734a9d" /><Relationship Type="http://schemas.openxmlformats.org/officeDocument/2006/relationships/slide" Target="/ppt/slides/slide10.xml" Id="R0c2a68d35fc445cd" /><Relationship Type="http://schemas.openxmlformats.org/officeDocument/2006/relationships/slide" Target="/ppt/slides/slide11.xml" Id="Rcd3b9128892a40b1" /><Relationship Type="http://schemas.openxmlformats.org/officeDocument/2006/relationships/slide" Target="/ppt/slides/slide12.xml" Id="Ra29bcaba2869485f" /><Relationship Type="http://schemas.openxmlformats.org/officeDocument/2006/relationships/slide" Target="/ppt/slides/slide13.xml" Id="Ree8e34a943e04278" /><Relationship Type="http://schemas.openxmlformats.org/officeDocument/2006/relationships/slide" Target="/ppt/slides/slide14.xml" Id="Re9d70418511647b6" /><Relationship Type="http://schemas.openxmlformats.org/officeDocument/2006/relationships/slide" Target="/ppt/slides/slide15.xml" Id="R258d5b5a89184520" /><Relationship Type="http://schemas.openxmlformats.org/officeDocument/2006/relationships/slide" Target="/ppt/slides/slide16.xml" Id="R39f6cb2e61ac42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f04543c50b47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1241e0452c4466" /><Relationship Type="http://schemas.openxmlformats.org/officeDocument/2006/relationships/notesMaster" Target="/ppt/notesMasters/notesMaster1.xml" Id="Rd5073f7e62654e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2e2a1f101042e2" /><Relationship Type="http://schemas.openxmlformats.org/officeDocument/2006/relationships/notesMaster" Target="/ppt/notesMasters/notesMaster1.xml" Id="R0f7084fa74e441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4b4f0a830c4ea3" /><Relationship Type="http://schemas.openxmlformats.org/officeDocument/2006/relationships/notesMaster" Target="/ppt/notesMasters/notesMaster1.xml" Id="R100f434bbda14b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9270a9305c44c8" /><Relationship Type="http://schemas.openxmlformats.org/officeDocument/2006/relationships/notesMaster" Target="/ppt/notesMasters/notesMaster1.xml" Id="Reb21a5df7dc249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f58b59a3ef47c5" /><Relationship Type="http://schemas.openxmlformats.org/officeDocument/2006/relationships/notesMaster" Target="/ppt/notesMasters/notesMaster1.xml" Id="R2653bc43039e42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51192e205b4b47" /><Relationship Type="http://schemas.openxmlformats.org/officeDocument/2006/relationships/notesMaster" Target="/ppt/notesMasters/notesMaster1.xml" Id="Rc8bedf99989846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963f7f01f145a3" /><Relationship Type="http://schemas.openxmlformats.org/officeDocument/2006/relationships/notesMaster" Target="/ppt/notesMasters/notesMaster1.xml" Id="Rb26c6570d91a46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a5c244b4714f9f" /><Relationship Type="http://schemas.openxmlformats.org/officeDocument/2006/relationships/notesMaster" Target="/ppt/notesMasters/notesMaster1.xml" Id="Rbf3e60d5f1174a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5222d3b6394c07" /><Relationship Type="http://schemas.openxmlformats.org/officeDocument/2006/relationships/notesMaster" Target="/ppt/notesMasters/notesMaster1.xml" Id="Rca527d81e42443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d75ca77bdb4d4a" /><Relationship Type="http://schemas.openxmlformats.org/officeDocument/2006/relationships/notesMaster" Target="/ppt/notesMasters/notesMaster1.xml" Id="R57fd091c584344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b295a45f4e407e" /><Relationship Type="http://schemas.openxmlformats.org/officeDocument/2006/relationships/notesMaster" Target="/ppt/notesMasters/notesMaster1.xml" Id="R1065c725a7d947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4e36b453a141c2" /><Relationship Type="http://schemas.openxmlformats.org/officeDocument/2006/relationships/notesMaster" Target="/ppt/notesMasters/notesMaster1.xml" Id="R8f01beb8bf69410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d8a7f39b824b34" /><Relationship Type="http://schemas.openxmlformats.org/officeDocument/2006/relationships/notesMaster" Target="/ppt/notesMasters/notesMaster1.xml" Id="R4c5a463c64b64e3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51c1ede76a430c" /><Relationship Type="http://schemas.openxmlformats.org/officeDocument/2006/relationships/notesMaster" Target="/ppt/notesMasters/notesMaster1.xml" Id="R5ee4e5e091874aa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33c2748f41b4988" /><Relationship Type="http://schemas.openxmlformats.org/officeDocument/2006/relationships/notesMaster" Target="/ppt/notesMasters/notesMaster1.xml" Id="R32a0ce8007034f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ab24acac0b846db" /><Relationship Type="http://schemas.openxmlformats.org/officeDocument/2006/relationships/notesMaster" Target="/ppt/notesMasters/notesMaster1.xml" Id="R609c21a152654a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Laporan internal terverifikasi, 18 Agustus 2026.</a:t>
            </a:r>
          </a:p>
          <a:p xmlns:a="http://schemas.openxmlformats.org/drawingml/2006/main">
            <a:r>
              <a:t>- Foto konsep perangkat yang disediakan pengguna; bukan bukti sertifikasi atau produk 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Sintesis laporan internal dan agenda keputusan rapat.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Rekaman meeting 14 Agustus 2026, transkripsi offline dan cross-check.</a:t>
            </a:r>
          </a:p>
          <a:p xmlns:a="http://schemas.openxmlformats.org/drawingml/2006/main">
            <a:r>
              <a:t>- Catatan lapangan yang disediakan pengguna; belum ditandatangani sebagai minutes resmi.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Audit source terkini untuk GLD, CH, Gateway, dan flow server.</a:t>
            </a:r>
          </a:p>
          <a:p xmlns:a="http://schemas.openxmlformats.org/drawingml/2006/main">
            <a:r>
              <a:t>- Konfigurasi/source diperlakukan sebagai bukti statis, bukan bukti RF atau deployment live.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Laporan internal: status GLD, CH, Gateway, server, mounting, serta hazardous-area.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Audit schematic/PCB dan perhitungan power GLD.</a:t>
            </a:r>
          </a:p>
          <a:p xmlns:a="http://schemas.openxmlformats.org/drawingml/2006/main">
            <a:r>
              <a:t>- Littelfuse miniSMD resettable PTC datasheet: https://m.littelfuse.com/~/media/electronics/datasheets/resettable_ptcs/littelfuse_ptc_minismdc_datasheet.pdf.pdf</a:t>
            </a:r>
          </a:p>
          <a:p xmlns:a="http://schemas.openxmlformats.org/drawingml/2006/main">
            <a:r>
              <a:t>- Nilai heater memakai envelope datasheet kandidat karena manufacturer/MPN aktual belum terbukti.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Matriks FAT power dan acceptance evidence pada laporan internal.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Audit schematic/PCB dan current source CH.</a:t>
            </a:r>
          </a:p>
          <a:p xmlns:a="http://schemas.openxmlformats.org/drawingml/2006/main">
            <a:r>
              <a:t>- TI BQ25185 datasheet: https://www.ti.com/lit/ds/symlink/bq25185.pdf</a:t>
            </a:r>
          </a:p>
          <a:p xmlns:a="http://schemas.openxmlformats.org/drawingml/2006/main">
            <a:r>
              <a:t>- Foto konsep yang disediakan pengguna; tidak membuktikan material, ingress, corrosion, atau certification.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Audit current source Gateway dan catatan kebutuhan IT.</a:t>
            </a:r>
          </a:p>
          <a:p xmlns:a="http://schemas.openxmlformats.org/drawingml/2006/main">
            <a:r>
              <a:t>- NIST SP 800-82 Rev. 3 OT Security: https://csrc.nist.gov/pubs/sp/800/82/r3/final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Audit current source Gateway dan generator server.</a:t>
            </a:r>
          </a:p>
          <a:p xmlns:a="http://schemas.openxmlformats.org/drawingml/2006/main">
            <a:r>
              <a:t>- OASIS MQTT Version 5.0: https://docs.oasis-open.org/mqtt/mqtt/v5.0/mqtt-v5.0.html</a:t>
            </a:r>
          </a:p>
          <a:p xmlns:a="http://schemas.openxmlformats.org/drawingml/2006/main">
            <a:r>
              <a:t>- NIST SP 800-82 Rev. 3 OT Security: https://csrc.nist.gov/pubs/sp/800/82/r3/final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Audit read-only Node-RED, dataset flow, generator, dan snapshot server.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Rekaman meeting dan laporan internal: penolakan trial dekat tangki LPG sebelum acceptance.</a:t>
            </a:r>
          </a:p>
          <a:p xmlns:a="http://schemas.openxmlformats.org/drawingml/2006/main">
            <a:r>
              <a:t>- ATEX Directive 2014/34/EU: https://eur-lex.europa.eu/eli/dir/2014/34</a:t>
            </a:r>
          </a:p>
          <a:p xmlns:a="http://schemas.openxmlformats.org/drawingml/2006/main">
            <a:r>
              <a:t>- IECEx Certified Equipment Scheme: https://www.iecex.com/certified-equipment-scheme/overview/</a:t>
            </a:r>
          </a:p>
          <a:p xmlns:a="http://schemas.openxmlformats.org/drawingml/2006/main">
            <a:r>
              <a:t>- IEC 60079-10-1: https://webstore.iec.ch/en/publication/63327</a:t>
            </a:r>
          </a:p>
          <a:p xmlns:a="http://schemas.openxmlformats.org/drawingml/2006/main">
            <a:r>
              <a:t>- IEC 60079-14: https://webstore.iec.ch/en/publication/66049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Catatan meeting dan referensi survey historis yang disediakan pengguna.</a:t>
            </a:r>
          </a:p>
          <a:p xmlns:a="http://schemas.openxmlformats.org/drawingml/2006/main">
            <a:r>
              <a:t>- Laporan internal: mounting, antenna, cable, grounding, dan site-interface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Rekaman meeting, catatan target, dan rencana kerja berbasis tanggal pada laporan internal.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RACI organisasi pada laporan internal; owner personal belum disahkan.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Sintesis keputusan, RFI, roadmap, dan acceptance gates pada laporan internal.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94f3a2fb6a48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af6bc5ed1a4929" /><Relationship Type="http://schemas.openxmlformats.org/officeDocument/2006/relationships/slideLayout" Target="/ppt/slideLayouts/slideLayout1.xml" Id="Rada6ccadfc7b46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a6ccadfc7b46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21114387e4cfe" /><Relationship Type="http://schemas.openxmlformats.org/officeDocument/2006/relationships/image" Target="/ppt/media/image.png" Id="R5ea28dcc997e4371" /><Relationship Type="http://schemas.openxmlformats.org/officeDocument/2006/relationships/notesSlide" Target="/ppt/notesSlides/notesSlide1.xml" Id="Rc910a0e791e343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d55c9d3fa48e5" /><Relationship Type="http://schemas.openxmlformats.org/officeDocument/2006/relationships/notesSlide" Target="/ppt/notesSlides/notesSlide2.xml" Id="R8502aa4779f14e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332d96149455e" /><Relationship Type="http://schemas.openxmlformats.org/officeDocument/2006/relationships/image" Target="/ppt/media/image.jpeg" Id="R5569bea462f74c53" /><Relationship Type="http://schemas.openxmlformats.org/officeDocument/2006/relationships/notesSlide" Target="/ppt/notesSlides/notesSlide3.xml" Id="R7d0f0407cff34b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ae4f6f80d41fc" /><Relationship Type="http://schemas.openxmlformats.org/officeDocument/2006/relationships/notesSlide" Target="/ppt/notesSlides/notesSlide4.xml" Id="R2b36e3402fd84d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f4a5dd5614c2e" /><Relationship Type="http://schemas.openxmlformats.org/officeDocument/2006/relationships/notesSlide" Target="/ppt/notesSlides/notesSlide5.xml" Id="R8a3da21077f447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aa4dc9a75463c" /><Relationship Type="http://schemas.openxmlformats.org/officeDocument/2006/relationships/notesSlide" Target="/ppt/notesSlides/notesSlide6.xml" Id="R8046c13a09bd41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40660a3544c12" /><Relationship Type="http://schemas.openxmlformats.org/officeDocument/2006/relationships/notesSlide" Target="/ppt/notesSlides/notesSlide7.xml" Id="Rb4cbfd4d04b34a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0c0f14cd44b02" /><Relationship Type="http://schemas.openxmlformats.org/officeDocument/2006/relationships/image" Target="/ppt/media/image2.png" Id="R531f413d7c9c452b" /><Relationship Type="http://schemas.openxmlformats.org/officeDocument/2006/relationships/notesSlide" Target="/ppt/notesSlides/notesSlide8.xml" Id="R5f810aa7b7fc4a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443c1597743b9" /><Relationship Type="http://schemas.openxmlformats.org/officeDocument/2006/relationships/notesSlide" Target="/ppt/notesSlides/notesSlide9.xml" Id="R01c55dcc764d46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20151f80d4f1e" /><Relationship Type="http://schemas.openxmlformats.org/officeDocument/2006/relationships/notesSlide" Target="/ppt/notesSlides/notesSlide10.xml" Id="R1eaf78af9b0c4f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888c46c7e4a00" /><Relationship Type="http://schemas.openxmlformats.org/officeDocument/2006/relationships/notesSlide" Target="/ppt/notesSlides/notesSlide11.xml" Id="Rd7026a50889f46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9b7fa0a504996" /><Relationship Type="http://schemas.openxmlformats.org/officeDocument/2006/relationships/notesSlide" Target="/ppt/notesSlides/notesSlide12.xml" Id="R6f9d5d3c813a47c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674451ec348a4" /><Relationship Type="http://schemas.openxmlformats.org/officeDocument/2006/relationships/image" Target="/ppt/media/image2.jpeg" Id="R5bf29f3c0dda4769" /><Relationship Type="http://schemas.openxmlformats.org/officeDocument/2006/relationships/notesSlide" Target="/ppt/notesSlides/notesSlide13.xml" Id="Rb4a5229d377242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1bc2518db46b7" /><Relationship Type="http://schemas.openxmlformats.org/officeDocument/2006/relationships/notesSlide" Target="/ppt/notesSlides/notesSlide14.xml" Id="R55f74c6ad228451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a2a9053f34626" /><Relationship Type="http://schemas.openxmlformats.org/officeDocument/2006/relationships/notesSlide" Target="/ppt/notesSlides/notesSlide15.xml" Id="Rb14414c1922447c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50f9618c14ff9" /><Relationship Type="http://schemas.openxmlformats.org/officeDocument/2006/relationships/notesSlide" Target="/ppt/notesSlides/notesSlide16.xml" Id="Rad08553f7ecd445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EC560E21-3DED-43A1-A001-0ACE82F2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572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PERTAMINA • LGU | INTERNAL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B80C2C2-21FD-4FFD-AF97-150ABC4A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5381625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defRPr sz="52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Kesiapan Sistem
dan Rencana Tindak Lanjut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1443D44-B74F-40F9-8692-413E3033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14750"/>
            <a:ext cx="509587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Ringkasan keputusan meeting, readiness teknis, safety hold, kebutuhan site, dan rencana menuju target September 2027.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C4469E0-9083-4F49-90B3-01819DBE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2B7FDA03-4C34-43CF-82C8-8DB293F4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05450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18 AGUSTUS 2026</a:t>
            </a:r>
          </a:p>
        </p:txBody>
      </p:sp>
      <p:sp>
        <p:nvSpPr>
          <p:cNvPr id="6" name="cover-image-backing">
            <a:extLst xmlns:a="http://schemas.openxmlformats.org/drawingml/2006/main">
              <a:ext uri="{FF2B5EF4-FFF2-40B4-BE49-F238E27FC236}">
                <a16:creationId xmlns:a16="http://schemas.microsoft.com/office/drawing/2014/main" id="{C7D385CA-BEC0-494D-94D2-47B5B77C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42925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cover-footer-rule">
            <a:extLst xmlns:a="http://schemas.openxmlformats.org/drawingml/2006/main">
              <a:ext uri="{FF2B5EF4-FFF2-40B4-BE49-F238E27FC236}">
                <a16:creationId xmlns:a16="http://schemas.microsoft.com/office/drawing/2014/main" id="{BD1CF5A0-4102-4DA4-B562-E830E1C5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0F51237B-5CA4-47F2-A0F7-4FF8E2D8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EVIDENCE-BOUNDED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28dcc997e4371"/>
          <a:srcRect xmlns:a="http://schemas.openxmlformats.org/drawingml/2006/main" l="0" t="16607" r="0" b="166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400050"/>
            <a:ext cx="5429250" cy="5600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5341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2">
            <a:extLst xmlns:a="http://schemas.openxmlformats.org/drawingml/2006/main">
              <a:ext uri="{FF2B5EF4-FFF2-40B4-BE49-F238E27FC236}">
                <a16:creationId xmlns:a16="http://schemas.microsoft.com/office/drawing/2014/main" id="{C467FF58-7561-47D7-9FC9-47B0B35B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OUTLINE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EF31C73D-EEC3-41B2-AE03-C17C27CF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Outline pembahasan</a:t>
            </a:r>
          </a:p>
        </p:txBody>
      </p:sp>
      <p:sp>
        <p:nvSpPr>
          <p:cNvPr id="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B6190B4B-5955-4059-936A-31174061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C13A977E-5F6B-47C7-A5C9-1B9D9550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2A023EB1-5156-45B9-AE55-39C21854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6" name="outline-intro">
            <a:extLst xmlns:a="http://schemas.openxmlformats.org/drawingml/2006/main">
              <a:ext uri="{FF2B5EF4-FFF2-40B4-BE49-F238E27FC236}">
                <a16:creationId xmlns:a16="http://schemas.microsoft.com/office/drawing/2014/main" id="{E29B3DAB-183E-4FD3-A38F-A03C2264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904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Lima bagian berikut membentuk alur keputusan—bukan inventaris teknis.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95300" y="1866900"/>
          <a:ext xmlns:a="http://schemas.openxmlformats.org/drawingml/2006/main" cx="11201400" cy="3857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047750"/>
                <a:gridCol w="10153650"/>
              </a:tblGrid>
              <a:tr h="7715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01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Keputusan meeting dan koreksi jadwal</a:t>
                      </a:r>
                    </a:p>
                  </a:txBody>
                  <a:tcPr marL="95250" marR="95250" marT="76200" marB="76200" anchor="ctr"/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02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Arsitektur sistem dan status readiness</a:t>
                      </a:r>
                    </a:p>
                  </a:txBody>
                  <a:tcPr marL="95250" marR="95250" marT="76200" marB="76200" anchor="ctr"/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03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GLD, CH, Gateway, jaringan, dan server</a:t>
                      </a:r>
                    </a:p>
                  </a:txBody>
                  <a:tcPr marL="95250" marR="95250" marT="76200" marB="76200" anchor="ctr"/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04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Hazardous-area, mounting, dan kebutuhan site</a:t>
                      </a:r>
                    </a:p>
                  </a:txBody>
                  <a:tcPr marL="95250" marR="95250" marT="76200" marB="76200" anchor="ctr"/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3D8DFF"/>
                          </a:solidFill>
                          <a:latin typeface="Arial"/>
                          <a:ea typeface="Arial"/>
                          <a:cs typeface="Arial"/>
                        </a:rPr>
                        <a:t>05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Roadmap, ownership, dan keputusan yang diminta</a:t>
                      </a:r>
                    </a:p>
                  </a:txBody>
                  <a:tcPr marL="95250" marR="95250" marT="76200" marB="7620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81305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3">
            <a:extLst xmlns:a="http://schemas.openxmlformats.org/drawingml/2006/main">
              <a:ext uri="{FF2B5EF4-FFF2-40B4-BE49-F238E27FC236}">
                <a16:creationId xmlns:a16="http://schemas.microsoft.com/office/drawing/2014/main" id="{6A981FC2-8902-4E26-BF50-3A6A0C08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MEETING OUTCOME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E900DC03-F941-42E1-A28F-00A8BDB8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Arah rapat jelas; tanggal sertifikat belum</a:t>
            </a:r>
          </a:p>
        </p:txBody>
      </p:sp>
      <p:sp>
        <p:nvSpPr>
          <p:cNvPr id="3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46397AE5-A569-4B23-9B69-958B11D7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3">
            <a:extLst xmlns:a="http://schemas.openxmlformats.org/drawingml/2006/main">
              <a:ext uri="{FF2B5EF4-FFF2-40B4-BE49-F238E27FC236}">
                <a16:creationId xmlns:a16="http://schemas.microsoft.com/office/drawing/2014/main" id="{77B320DC-0FE8-4B75-B8D1-99100AD7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203F7BDB-373D-4733-9C7B-DC1AE230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6" name="meeting-intro">
            <a:extLst xmlns:a="http://schemas.openxmlformats.org/drawingml/2006/main">
              <a:ext uri="{FF2B5EF4-FFF2-40B4-BE49-F238E27FC236}">
                <a16:creationId xmlns:a16="http://schemas.microsoft.com/office/drawing/2014/main" id="{C418F58B-B90B-4B7F-9060-75C3EF1D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5334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57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Rekaman dan catatan lapangan mendukung empat arah utama:</a:t>
            </a:r>
          </a:p>
        </p:txBody>
      </p:sp>
      <p:sp>
        <p:nvSpPr>
          <p:cNvPr id="7" name="meeting-metric-1">
            <a:extLst xmlns:a="http://schemas.openxmlformats.org/drawingml/2006/main">
              <a:ext uri="{FF2B5EF4-FFF2-40B4-BE49-F238E27FC236}">
                <a16:creationId xmlns:a16="http://schemas.microsoft.com/office/drawing/2014/main" id="{CC4F00E6-96C1-424E-9350-5E0D134B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2333625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SEP 2027</a:t>
            </a:r>
          </a:p>
        </p:txBody>
      </p:sp>
      <p:sp>
        <p:nvSpPr>
          <p:cNvPr id="8" name="meeting-metric-1-label">
            <a:extLst xmlns:a="http://schemas.openxmlformats.org/drawingml/2006/main">
              <a:ext uri="{FF2B5EF4-FFF2-40B4-BE49-F238E27FC236}">
                <a16:creationId xmlns:a16="http://schemas.microsoft.com/office/drawing/2014/main" id="{CCE162E6-FA0E-4C03-883B-40C56349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0"/>
            <a:ext cx="2333625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58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Target fase awal terpasang/diterima—definisi milestone perlu dikonfirmasi.</a:t>
            </a:r>
          </a:p>
        </p:txBody>
      </p:sp>
      <p:sp>
        <p:nvSpPr>
          <p:cNvPr id="9" name="meeting-metric-2">
            <a:extLst xmlns:a="http://schemas.openxmlformats.org/drawingml/2006/main">
              <a:ext uri="{FF2B5EF4-FFF2-40B4-BE49-F238E27FC236}">
                <a16:creationId xmlns:a16="http://schemas.microsoft.com/office/drawing/2014/main" id="{B7FC4F1D-9B21-4071-A9C6-0A4D02A2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09750"/>
            <a:ext cx="2667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AKHIR SEP 2026</a:t>
            </a:r>
          </a:p>
        </p:txBody>
      </p:sp>
      <p:sp>
        <p:nvSpPr>
          <p:cNvPr id="10" name="meeting-metric-2-label">
            <a:extLst xmlns:a="http://schemas.openxmlformats.org/drawingml/2006/main">
              <a:ext uri="{FF2B5EF4-FFF2-40B4-BE49-F238E27FC236}">
                <a16:creationId xmlns:a16="http://schemas.microsoft.com/office/drawing/2014/main" id="{8B4A40B2-709F-4AC5-8A1B-9C10A731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2667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Support, tiang, kabel, material/BOM, drawing, dan kebutuhan IT harus masuk.</a:t>
            </a:r>
          </a:p>
        </p:txBody>
      </p:sp>
      <p:sp>
        <p:nvSpPr>
          <p:cNvPr id="11" name="meeting-correction">
            <a:extLst xmlns:a="http://schemas.openxmlformats.org/drawingml/2006/main">
              <a:ext uri="{FF2B5EF4-FFF2-40B4-BE49-F238E27FC236}">
                <a16:creationId xmlns:a16="http://schemas.microsoft.com/office/drawing/2014/main" id="{DC898E73-654C-43D6-B7E3-4130CB42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53149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eting-correction-title">
            <a:extLst xmlns:a="http://schemas.openxmlformats.org/drawingml/2006/main">
              <a:ext uri="{FF2B5EF4-FFF2-40B4-BE49-F238E27FC236}">
                <a16:creationId xmlns:a16="http://schemas.microsoft.com/office/drawing/2014/main" id="{7620336E-5260-4036-8B7A-489D941A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4857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01818"/>
                </a:solidFill>
                <a:latin typeface="Arial"/>
                <a:ea typeface="Arial"/>
                <a:cs typeface="Arial"/>
              </a:defRPr>
            </a:pPr>
            <a:r>
              <a:t>“3 minggu” bukan tanggal sertifikat</a:t>
            </a:r>
          </a:p>
        </p:txBody>
      </p:sp>
      <p:sp>
        <p:nvSpPr>
          <p:cNvPr id="13" name="meeting-correction-body">
            <a:extLst xmlns:a="http://schemas.openxmlformats.org/drawingml/2006/main">
              <a:ext uri="{FF2B5EF4-FFF2-40B4-BE49-F238E27FC236}">
                <a16:creationId xmlns:a16="http://schemas.microsoft.com/office/drawing/2014/main" id="{08C9E143-82B3-4FED-821D-877F9196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4857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32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Tanggal rilis disebut belum diketahui. Angka tersebut lebih konsisten dengan perjalanan/pengajuan ke manufaktur.</a:t>
            </a:r>
          </a:p>
        </p:txBody>
      </p:sp>
      <p:sp>
        <p:nvSpPr>
          <p:cNvPr id="14" name="meeting-contract">
            <a:extLst xmlns:a="http://schemas.openxmlformats.org/drawingml/2006/main">
              <a:ext uri="{FF2B5EF4-FFF2-40B4-BE49-F238E27FC236}">
                <a16:creationId xmlns:a16="http://schemas.microsoft.com/office/drawing/2014/main" id="{C18951EC-6CEF-4EE8-97E5-9C174D6B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14950"/>
            <a:ext cx="53149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Lead time kontrak disebut sekitar 3–4 bulan; scope pendukung harus dibekukan lebih awal.</a:t>
            </a:r>
          </a:p>
        </p:txBody>
      </p:sp>
      <p:sp>
        <p:nvSpPr>
          <p:cNvPr id="15" name="meeting-image-backing">
            <a:extLst xmlns:a="http://schemas.openxmlformats.org/drawingml/2006/main">
              <a:ext uri="{FF2B5EF4-FFF2-40B4-BE49-F238E27FC236}">
                <a16:creationId xmlns:a16="http://schemas.microsoft.com/office/drawing/2014/main" id="{52691CF5-13C2-4644-AEEE-1238AB08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57300"/>
            <a:ext cx="542925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meeting-image-caption">
            <a:extLst xmlns:a="http://schemas.openxmlformats.org/drawingml/2006/main">
              <a:ext uri="{FF2B5EF4-FFF2-40B4-BE49-F238E27FC236}">
                <a16:creationId xmlns:a16="http://schemas.microsoft.com/office/drawing/2014/main" id="{86FC7A80-88A6-4FCA-995E-E0BA9208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905500"/>
            <a:ext cx="542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Catatan kontemporer—belum merupakan minutes yang disahkan.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9bea462f74c53"/>
          <a:srcRect xmlns:a="http://schemas.openxmlformats.org/drawingml/2006/main" l="0" t="26414" r="0" b="264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1257300"/>
            <a:ext cx="5429250" cy="455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9469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4">
            <a:extLst xmlns:a="http://schemas.openxmlformats.org/drawingml/2006/main">
              <a:ext uri="{FF2B5EF4-FFF2-40B4-BE49-F238E27FC236}">
                <a16:creationId xmlns:a16="http://schemas.microsoft.com/office/drawing/2014/main" id="{B7F99ED3-A826-4E5D-9A7A-86480543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END-TO-END SYSTEM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A225A82E-9F88-44E4-90CE-9FAF990F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Alur sistem jelas; bukti lapangan belum</a:t>
            </a:r>
          </a:p>
        </p:txBody>
      </p:sp>
      <p:sp>
        <p:nvSpPr>
          <p:cNvPr id="3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371723E9-40B6-49F6-ACF8-C671DA5B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3FFF5864-E76B-414D-9658-9A811955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41542AD5-BC42-497F-BC90-10D8C8F1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6" name="architecture-sub">
            <a:extLst xmlns:a="http://schemas.openxmlformats.org/drawingml/2006/main">
              <a:ext uri="{FF2B5EF4-FFF2-40B4-BE49-F238E27FC236}">
                <a16:creationId xmlns:a16="http://schemas.microsoft.com/office/drawing/2014/main" id="{692F0435-6510-4B68-ADB6-2E4035D0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11201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Source saat ini mendukung alur data dan command; RF, broker, deployment, serta site network masih memerlukan bukti live.</a:t>
            </a:r>
          </a:p>
        </p:txBody>
      </p:sp>
      <p:sp>
        <p:nvSpPr>
          <p:cNvPr id="7" name="arrow-gld-ch">
            <a:extLst xmlns:a="http://schemas.openxmlformats.org/drawingml/2006/main">
              <a:ext uri="{FF2B5EF4-FFF2-40B4-BE49-F238E27FC236}">
                <a16:creationId xmlns:a16="http://schemas.microsoft.com/office/drawing/2014/main" id="{59083C6C-D7FE-4D6C-A985-DD0F5210D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81300"/>
            <a:ext cx="876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arrow-ch-gw">
            <a:extLst xmlns:a="http://schemas.openxmlformats.org/drawingml/2006/main">
              <a:ext uri="{FF2B5EF4-FFF2-40B4-BE49-F238E27FC236}">
                <a16:creationId xmlns:a16="http://schemas.microsoft.com/office/drawing/2014/main" id="{B904A510-A5F6-4C24-8071-8CD79803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81300"/>
            <a:ext cx="876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arrow-gw-server">
            <a:extLst xmlns:a="http://schemas.openxmlformats.org/drawingml/2006/main">
              <a:ext uri="{FF2B5EF4-FFF2-40B4-BE49-F238E27FC236}">
                <a16:creationId xmlns:a16="http://schemas.microsoft.com/office/drawing/2014/main" id="{9B3407F5-1A16-4DB8-B213-5AF24FB2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8763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node-gld">
            <a:extLst xmlns:a="http://schemas.openxmlformats.org/drawingml/2006/main">
              <a:ext uri="{FF2B5EF4-FFF2-40B4-BE49-F238E27FC236}">
                <a16:creationId xmlns:a16="http://schemas.microsoft.com/office/drawing/2014/main" id="{FF8E4389-982A-4D83-8A8B-8168AD1A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981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node-ch">
            <a:extLst xmlns:a="http://schemas.openxmlformats.org/drawingml/2006/main">
              <a:ext uri="{FF2B5EF4-FFF2-40B4-BE49-F238E27FC236}">
                <a16:creationId xmlns:a16="http://schemas.microsoft.com/office/drawing/2014/main" id="{69AA4027-F235-46C1-8252-D33B3777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90750"/>
            <a:ext cx="1981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node-gw">
            <a:extLst xmlns:a="http://schemas.openxmlformats.org/drawingml/2006/main">
              <a:ext uri="{FF2B5EF4-FFF2-40B4-BE49-F238E27FC236}">
                <a16:creationId xmlns:a16="http://schemas.microsoft.com/office/drawing/2014/main" id="{F4574A61-CA78-4B45-A3C2-024D75F3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1981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node-server">
            <a:extLst xmlns:a="http://schemas.openxmlformats.org/drawingml/2006/main">
              <a:ext uri="{FF2B5EF4-FFF2-40B4-BE49-F238E27FC236}">
                <a16:creationId xmlns:a16="http://schemas.microsoft.com/office/drawing/2014/main" id="{10F94C5B-B3B4-4539-AEE3-4C6AA47F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90750"/>
            <a:ext cx="24003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node-gld-title">
            <a:extLst xmlns:a="http://schemas.openxmlformats.org/drawingml/2006/main">
              <a:ext uri="{FF2B5EF4-FFF2-40B4-BE49-F238E27FC236}">
                <a16:creationId xmlns:a16="http://schemas.microsoft.com/office/drawing/2014/main" id="{D284D0F3-59A3-4DE1-AF86-4A5FC6D5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152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GLD</a:t>
            </a:r>
          </a:p>
        </p:txBody>
      </p:sp>
      <p:sp>
        <p:nvSpPr>
          <p:cNvPr id="15" name="node-gld-body">
            <a:extLst xmlns:a="http://schemas.openxmlformats.org/drawingml/2006/main">
              <a:ext uri="{FF2B5EF4-FFF2-40B4-BE49-F238E27FC236}">
                <a16:creationId xmlns:a16="http://schemas.microsoft.com/office/drawing/2014/main" id="{C584A280-D306-484E-8F23-34320DE8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58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Sensing • inferensi
STAR uplink</a:t>
            </a:r>
          </a:p>
        </p:txBody>
      </p:sp>
      <p:sp>
        <p:nvSpPr>
          <p:cNvPr id="16" name="node-ch-title">
            <a:extLst xmlns:a="http://schemas.openxmlformats.org/drawingml/2006/main">
              <a:ext uri="{FF2B5EF4-FFF2-40B4-BE49-F238E27FC236}">
                <a16:creationId xmlns:a16="http://schemas.microsoft.com/office/drawing/2014/main" id="{5758FEC4-2060-489B-9C9D-88640F9D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76500"/>
            <a:ext cx="152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CH</a:t>
            </a:r>
          </a:p>
        </p:txBody>
      </p:sp>
      <p:sp>
        <p:nvSpPr>
          <p:cNvPr id="17" name="node-ch-body">
            <a:extLst xmlns:a="http://schemas.openxmlformats.org/drawingml/2006/main">
              <a:ext uri="{FF2B5EF4-FFF2-40B4-BE49-F238E27FC236}">
                <a16:creationId xmlns:a16="http://schemas.microsoft.com/office/drawing/2014/main" id="{65AC8A14-D907-4953-AEC8-A848C0F0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7180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STAR receiver
MESH relay</a:t>
            </a:r>
          </a:p>
        </p:txBody>
      </p:sp>
      <p:sp>
        <p:nvSpPr>
          <p:cNvPr id="18" name="node-gw-title">
            <a:extLst xmlns:a="http://schemas.openxmlformats.org/drawingml/2006/main">
              <a:ext uri="{FF2B5EF4-FFF2-40B4-BE49-F238E27FC236}">
                <a16:creationId xmlns:a16="http://schemas.microsoft.com/office/drawing/2014/main" id="{CE0D9F8F-77E0-42B4-A71F-50BBB9AF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76500"/>
            <a:ext cx="152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GATEWAY</a:t>
            </a:r>
          </a:p>
        </p:txBody>
      </p:sp>
      <p:sp>
        <p:nvSpPr>
          <p:cNvPr id="19" name="node-gw-body">
            <a:extLst xmlns:a="http://schemas.openxmlformats.org/drawingml/2006/main">
              <a:ext uri="{FF2B5EF4-FFF2-40B4-BE49-F238E27FC236}">
                <a16:creationId xmlns:a16="http://schemas.microsoft.com/office/drawing/2014/main" id="{B83353B7-E01E-468C-A4C2-F128F490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71800"/>
            <a:ext cx="1524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MESH root
MQTT bridge</a:t>
            </a:r>
          </a:p>
        </p:txBody>
      </p:sp>
      <p:sp>
        <p:nvSpPr>
          <p:cNvPr id="20" name="node-server-title">
            <a:extLst xmlns:a="http://schemas.openxmlformats.org/drawingml/2006/main">
              <a:ext uri="{FF2B5EF4-FFF2-40B4-BE49-F238E27FC236}">
                <a16:creationId xmlns:a16="http://schemas.microsoft.com/office/drawing/2014/main" id="{35836F16-5256-4B78-9B60-F7C9EFC7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76500"/>
            <a:ext cx="1943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SERVER</a:t>
            </a:r>
          </a:p>
        </p:txBody>
      </p:sp>
      <p:sp>
        <p:nvSpPr>
          <p:cNvPr id="21" name="node-server-body">
            <a:extLst xmlns:a="http://schemas.openxmlformats.org/drawingml/2006/main">
              <a:ext uri="{FF2B5EF4-FFF2-40B4-BE49-F238E27FC236}">
                <a16:creationId xmlns:a16="http://schemas.microsoft.com/office/drawing/2014/main" id="{53F8142A-DE16-4585-910D-578E64C1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71800"/>
            <a:ext cx="1943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Broker • Node-RED
Dashboard • dataset</a:t>
            </a:r>
          </a:p>
        </p:txBody>
      </p:sp>
      <p:sp>
        <p:nvSpPr>
          <p:cNvPr id="22" name="link-star">
            <a:extLst xmlns:a="http://schemas.openxmlformats.org/drawingml/2006/main">
              <a:ext uri="{FF2B5EF4-FFF2-40B4-BE49-F238E27FC236}">
                <a16:creationId xmlns:a16="http://schemas.microsoft.com/office/drawing/2014/main" id="{6A020C3C-D2BF-4801-86B6-E0D27718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575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STAR 920 MHz</a:t>
            </a:r>
          </a:p>
        </p:txBody>
      </p:sp>
      <p:sp>
        <p:nvSpPr>
          <p:cNvPr id="23" name="link-mesh">
            <a:extLst xmlns:a="http://schemas.openxmlformats.org/drawingml/2006/main">
              <a:ext uri="{FF2B5EF4-FFF2-40B4-BE49-F238E27FC236}">
                <a16:creationId xmlns:a16="http://schemas.microsoft.com/office/drawing/2014/main" id="{ED57434B-8727-453D-B03B-7C53B20E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575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MESH 921 MHz</a:t>
            </a:r>
          </a:p>
        </p:txBody>
      </p:sp>
      <p:sp>
        <p:nvSpPr>
          <p:cNvPr id="24" name="link-mqtt">
            <a:extLst xmlns:a="http://schemas.openxmlformats.org/drawingml/2006/main">
              <a:ext uri="{FF2B5EF4-FFF2-40B4-BE49-F238E27FC236}">
                <a16:creationId xmlns:a16="http://schemas.microsoft.com/office/drawing/2014/main" id="{56974D98-0651-415B-ABF5-BF599977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1047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Wi-Fi / MQTT</a:t>
            </a:r>
          </a:p>
        </p:txBody>
      </p:sp>
      <p:sp>
        <p:nvSpPr>
          <p:cNvPr id="25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A652674A-A2C1-4FC0-B47A-829A1CC4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10858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rchitecture-note-title">
            <a:extLst xmlns:a="http://schemas.openxmlformats.org/drawingml/2006/main">
              <a:ext uri="{FF2B5EF4-FFF2-40B4-BE49-F238E27FC236}">
                <a16:creationId xmlns:a16="http://schemas.microsoft.com/office/drawing/2014/main" id="{956933EB-A2C9-480C-86A0-BBC4CC29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2476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421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Interpretasi yang aman</a:t>
            </a:r>
          </a:p>
        </p:txBody>
      </p:sp>
      <p:sp>
        <p:nvSpPr>
          <p:cNvPr id="27" name="architecture-note-body">
            <a:extLst xmlns:a="http://schemas.openxmlformats.org/drawingml/2006/main">
              <a:ext uri="{FF2B5EF4-FFF2-40B4-BE49-F238E27FC236}">
                <a16:creationId xmlns:a16="http://schemas.microsoft.com/office/drawing/2014/main" id="{1C8E831E-695C-4157-A31F-85B8393C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14850"/>
            <a:ext cx="776287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Diagram ini menjelaskan boundary dan ownership aliran. Ia bukan bukti range RF, konektivitas broker, TLS, deployment revision, atau keberhasilan lapangan.</a:t>
            </a:r>
          </a:p>
        </p:txBody>
      </p:sp>
    </p:spTree>
    <p:extLst>
      <p:ext uri="{BB962C8B-B14F-4D97-AF65-F5344CB8AC3E}">
        <p14:creationId xmlns:p14="http://schemas.microsoft.com/office/powerpoint/2010/main" val="14800023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5">
            <a:extLst xmlns:a="http://schemas.openxmlformats.org/drawingml/2006/main">
              <a:ext uri="{FF2B5EF4-FFF2-40B4-BE49-F238E27FC236}">
                <a16:creationId xmlns:a16="http://schemas.microsoft.com/office/drawing/2014/main" id="{3912E4C1-2F48-4F34-B9A7-89565483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READINESS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3BEC0E7D-A19E-4457-8559-D8A9569F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Source tersedia; bukti live masih terbatas</a:t>
            </a:r>
          </a:p>
        </p:txBody>
      </p:sp>
      <p:sp>
        <p:nvSpPr>
          <p:cNvPr id="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E07B013E-F3DC-4B59-8306-840BA9C5F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5">
            <a:extLst xmlns:a="http://schemas.openxmlformats.org/drawingml/2006/main">
              <a:ext uri="{FF2B5EF4-FFF2-40B4-BE49-F238E27FC236}">
                <a16:creationId xmlns:a16="http://schemas.microsoft.com/office/drawing/2014/main" id="{3DC86ACD-5118-4251-9D5C-3FC4D8EF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447F8B1E-DF2B-4DF1-B953-C1D1C047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6" name="readiness-sub">
            <a:extLst xmlns:a="http://schemas.openxmlformats.org/drawingml/2006/main">
              <a:ext uri="{FF2B5EF4-FFF2-40B4-BE49-F238E27FC236}">
                <a16:creationId xmlns:a16="http://schemas.microsoft.com/office/drawing/2014/main" id="{67A10E36-5526-4EF0-9AC3-947E1E0A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Status dibedakan agar rapat tidak mengubah source evidence menjadi klaim lapangan.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95300" y="1866900"/>
          <a:ext xmlns:a="http://schemas.openxmlformats.org/drawingml/2006/main" cx="11201400" cy="3905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4476750"/>
                <a:gridCol w="5105400"/>
              </a:tblGrid>
              <a:tr h="650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 marL="95250" marR="95250" marT="76200" marB="762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Terbukti dari desain/source</a:t>
                      </a:r>
                    </a:p>
                  </a:txBody>
                  <a:tcPr marL="95250" marR="95250" marT="76200" marB="76200" anchor="ctr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Masih harus dibuktikan</a:t>
                      </a:r>
                    </a:p>
                  </a:txBody>
                  <a:tcPr marL="95250" marR="95250" marT="76200" marB="76200" anchor="ctr">
                    <a:solidFill>
                      <a:srgbClr val="EDEDED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GLD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Power tree, 8 socket MQ, firmware/radio path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MPN sensor, cold-start, thermal, F1 24 V, sensing accuracy</a:t>
                      </a:r>
                    </a:p>
                  </a:txBody>
                  <a:tcPr marL="95250" marR="95250" marT="76200" marB="76200" anchor="ctr">
                    <a:solidFill>
                      <a:srgbClr val="FFF9E8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CH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Dual radio, charger/power path, cadence source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Cell/panel, autonomy, enclosure, RF site test</a:t>
                      </a:r>
                    </a:p>
                  </a:txBody>
                  <a:tcPr marL="95250" marR="95250" marT="76200" marB="76200" anchor="ctr">
                    <a:solidFill>
                      <a:srgbClr val="FFF9E8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Gateway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Wi-Fi STA, radio–MQTT bridge, queue/status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Unit MAC, onboarding IT, TLS, antenna/PSU field</a:t>
                      </a:r>
                    </a:p>
                  </a:txBody>
                  <a:tcPr marL="95250" marR="95250" marT="76200" marB="76200" anchor="ctr">
                    <a:solidFill>
                      <a:srgbClr val="FFF9E8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Server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Node-RED/dataset components dan generator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Flow sync, production package, backup/restore, live revision</a:t>
                      </a:r>
                    </a:p>
                  </a:txBody>
                  <a:tcPr marL="95250" marR="95250" marT="76200" marB="76200" anchor="ctr">
                    <a:solidFill>
                      <a:srgbClr val="FFF9E8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Site / Ex</a:t>
                      </a:r>
                    </a:p>
                  </a:txBody>
                  <a:tcPr marL="95250" marR="95250" marT="76200" marB="76200" anchor="ctr">
                    <a:solidFill>
                      <a:srgbClr val="EA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Arah meeting dan daftar hold point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11827"/>
                          </a:solidFill>
                          <a:latin typeface="Arial"/>
                          <a:ea typeface="Arial"/>
                          <a:cs typeface="Arial"/>
                        </a:rPr>
                        <a:t>Area classification, certificate, permit, installation acceptance</a:t>
                      </a:r>
                    </a:p>
                  </a:txBody>
                  <a:tcPr marL="95250" marR="95250" marT="76200" marB="76200" anchor="ctr">
                    <a:solidFill>
                      <a:srgbClr val="FFF9E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34506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ection-6">
            <a:extLst xmlns:a="http://schemas.openxmlformats.org/drawingml/2006/main">
              <a:ext uri="{FF2B5EF4-FFF2-40B4-BE49-F238E27FC236}">
                <a16:creationId xmlns:a16="http://schemas.microsoft.com/office/drawing/2014/main" id="{8238CEF5-30A9-4038-B2A3-D20C29E4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GLD POWER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CB617C25-138A-4AF3-BF40-E407BD00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GLD memakai 24 VDC/2 A secara provisional</a:t>
            </a:r>
          </a:p>
        </p:txBody>
      </p:sp>
      <p:sp>
        <p:nvSpPr>
          <p:cNvPr id="3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C5B950C6-F275-4F27-88FC-02B71306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6">
            <a:extLst xmlns:a="http://schemas.openxmlformats.org/drawingml/2006/main">
              <a:ext uri="{FF2B5EF4-FFF2-40B4-BE49-F238E27FC236}">
                <a16:creationId xmlns:a16="http://schemas.microsoft.com/office/drawing/2014/main" id="{2A5854CA-DD94-48CD-AFBA-8D70A6FC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BBC08B8E-326E-4A3B-9F1E-C1861B38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6" name="power-left">
            <a:extLst xmlns:a="http://schemas.openxmlformats.org/drawingml/2006/main">
              <a:ext uri="{FF2B5EF4-FFF2-40B4-BE49-F238E27FC236}">
                <a16:creationId xmlns:a16="http://schemas.microsoft.com/office/drawing/2014/main" id="{7C99C113-097E-4BE2-A88B-F79CBBDB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4000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ower-rating">
            <a:extLst xmlns:a="http://schemas.openxmlformats.org/drawingml/2006/main">
              <a:ext uri="{FF2B5EF4-FFF2-40B4-BE49-F238E27FC236}">
                <a16:creationId xmlns:a16="http://schemas.microsoft.com/office/drawing/2014/main" id="{81B66CEB-ACDE-4C1C-B2AA-5453C183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3429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24 VDC / 2 A</a:t>
            </a:r>
          </a:p>
        </p:txBody>
      </p:sp>
      <p:sp>
        <p:nvSpPr>
          <p:cNvPr id="8" name="power-rating-label">
            <a:extLst xmlns:a="http://schemas.openxmlformats.org/drawingml/2006/main">
              <a:ext uri="{FF2B5EF4-FFF2-40B4-BE49-F238E27FC236}">
                <a16:creationId xmlns:a16="http://schemas.microsoft.com/office/drawing/2014/main" id="{4F66B820-279E-4CA4-959A-169461A0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342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076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Kapasitas nameplate PSU lapangan
—bukan arus kontinu GLD</a:t>
            </a:r>
          </a:p>
        </p:txBody>
      </p:sp>
      <p:sp>
        <p:nvSpPr>
          <p:cNvPr id="9" name="power-mid-rule">
            <a:extLst xmlns:a="http://schemas.openxmlformats.org/drawingml/2006/main">
              <a:ext uri="{FF2B5EF4-FFF2-40B4-BE49-F238E27FC236}">
                <a16:creationId xmlns:a16="http://schemas.microsoft.com/office/drawing/2014/main" id="{3AB937AE-171A-4366-9AC7-8444A59B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43300"/>
            <a:ext cx="304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power-consumption">
            <a:extLst xmlns:a="http://schemas.openxmlformats.org/drawingml/2006/main">
              <a:ext uri="{FF2B5EF4-FFF2-40B4-BE49-F238E27FC236}">
                <a16:creationId xmlns:a16="http://schemas.microsoft.com/office/drawing/2014/main" id="{CAEF235B-4EBB-48C0-9106-C12715C2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3429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≈ 0,4–0,8 A</a:t>
            </a:r>
          </a:p>
        </p:txBody>
      </p:sp>
      <p:sp>
        <p:nvSpPr>
          <p:cNvPr id="11" name="power-consumption-label">
            <a:extLst xmlns:a="http://schemas.openxmlformats.org/drawingml/2006/main">
              <a:ext uri="{FF2B5EF4-FFF2-40B4-BE49-F238E27FC236}">
                <a16:creationId xmlns:a16="http://schemas.microsoft.com/office/drawing/2014/main" id="{E98B4530-2A3A-4AB9-A486-BA924FD9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19600"/>
            <a:ext cx="304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Envelope worst-design setelah margin; final harus diukur.</a:t>
            </a:r>
          </a:p>
        </p:txBody>
      </p:sp>
      <p:sp>
        <p:nvSpPr>
          <p:cNvPr id="12" name="power-blocker">
            <a:extLst xmlns:a="http://schemas.openxmlformats.org/drawingml/2006/main">
              <a:ext uri="{FF2B5EF4-FFF2-40B4-BE49-F238E27FC236}">
                <a16:creationId xmlns:a16="http://schemas.microsoft.com/office/drawing/2014/main" id="{43CF26DE-FE69-478E-BAEA-20F56181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428750"/>
            <a:ext cx="6819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ower-blocker-title">
            <a:extLst xmlns:a="http://schemas.openxmlformats.org/drawingml/2006/main">
              <a:ext uri="{FF2B5EF4-FFF2-40B4-BE49-F238E27FC236}">
                <a16:creationId xmlns:a16="http://schemas.microsoft.com/office/drawing/2014/main" id="{36DEF3DE-EECA-4212-9A09-CD90D4D2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95450"/>
            <a:ext cx="6286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01818"/>
                </a:solidFill>
                <a:latin typeface="Arial"/>
                <a:ea typeface="Arial"/>
                <a:cs typeface="Arial"/>
              </a:defRPr>
            </a:pPr>
            <a:r>
              <a:t>BLOCKER: proteksi 16 V berada pada jalur 24 V</a:t>
            </a:r>
          </a:p>
        </p:txBody>
      </p:sp>
      <p:sp>
        <p:nvSpPr>
          <p:cNvPr id="14" name="power-blocker-body">
            <a:extLst xmlns:a="http://schemas.openxmlformats.org/drawingml/2006/main">
              <a:ext uri="{FF2B5EF4-FFF2-40B4-BE49-F238E27FC236}">
                <a16:creationId xmlns:a16="http://schemas.microsoft.com/office/drawing/2014/main" id="{E9351075-57E9-4AD1-9B0D-429915DE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71700"/>
            <a:ext cx="6286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Komponen input bertanda 16 V harus diganti atau divalidasi dengan part berating 24 V beserta transient lapangan sebelum field acceptance.</a:t>
            </a:r>
          </a:p>
        </p:txBody>
      </p:sp>
      <p:sp>
        <p:nvSpPr>
          <p:cNvPr id="15" name="power-assumption-title">
            <a:extLst xmlns:a="http://schemas.openxmlformats.org/drawingml/2006/main">
              <a:ext uri="{FF2B5EF4-FFF2-40B4-BE49-F238E27FC236}">
                <a16:creationId xmlns:a16="http://schemas.microsoft.com/office/drawing/2014/main" id="{99571B5B-4C19-42FD-B497-218ACD07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19450"/>
            <a:ext cx="3238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662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Mengapa 2 A tetap rasional</a:t>
            </a:r>
          </a:p>
        </p:txBody>
      </p:sp>
      <p:sp>
        <p:nvSpPr>
          <p:cNvPr id="16" name="power-assumptions">
            <a:extLst xmlns:a="http://schemas.openxmlformats.org/drawingml/2006/main">
              <a:ext uri="{FF2B5EF4-FFF2-40B4-BE49-F238E27FC236}">
                <a16:creationId xmlns:a16="http://schemas.microsoft.com/office/drawing/2014/main" id="{4B8A032E-B445-4D8E-A887-864BA8E9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95700"/>
            <a:ext cx="3143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Cold heater / inrush
• Ambient dan thermal derating
• Cable dan connector drop
• Fan/alarm belum terukur</a:t>
            </a:r>
          </a:p>
        </p:txBody>
      </p:sp>
      <p:sp>
        <p:nvSpPr>
          <p:cNvPr id="17" name="power-1a-title">
            <a:extLst xmlns:a="http://schemas.openxmlformats.org/drawingml/2006/main">
              <a:ext uri="{FF2B5EF4-FFF2-40B4-BE49-F238E27FC236}">
                <a16:creationId xmlns:a16="http://schemas.microsoft.com/office/drawing/2014/main" id="{4449BCAF-D5D7-4DD1-B4C0-7BC5EA91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905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Kapan 1 A boleh dipilih</a:t>
            </a:r>
          </a:p>
        </p:txBody>
      </p:sp>
      <p:sp>
        <p:nvSpPr>
          <p:cNvPr id="18" name="power-1a">
            <a:extLst xmlns:a="http://schemas.openxmlformats.org/drawingml/2006/main">
              <a:ext uri="{FF2B5EF4-FFF2-40B4-BE49-F238E27FC236}">
                <a16:creationId xmlns:a16="http://schemas.microsoft.com/office/drawing/2014/main" id="{F9F809E7-D7E7-451D-9088-EAD4F9EB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95700"/>
            <a:ext cx="29527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Setelah FAT membuktikan peak/steady, cable-drop, beban tambahan, dan closed-enclosure thermal tetap lulus dengan ≥20% headroom.</a:t>
            </a:r>
          </a:p>
        </p:txBody>
      </p:sp>
    </p:spTree>
    <p:extLst>
      <p:ext uri="{BB962C8B-B14F-4D97-AF65-F5344CB8AC3E}">
        <p14:creationId xmlns:p14="http://schemas.microsoft.com/office/powerpoint/2010/main" val="11926445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7">
            <a:extLst xmlns:a="http://schemas.openxmlformats.org/drawingml/2006/main">
              <a:ext uri="{FF2B5EF4-FFF2-40B4-BE49-F238E27FC236}">
                <a16:creationId xmlns:a16="http://schemas.microsoft.com/office/drawing/2014/main" id="{B73DAC2B-1C5E-41FF-8CF8-77797560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GLD FAT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D53996FF-1CB2-47EA-916C-E1E804F5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FAT menentukan kebutuhan daya final GLD</a:t>
            </a:r>
          </a:p>
        </p:txBody>
      </p:sp>
      <p:sp>
        <p:nvSpPr>
          <p:cNvPr id="3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21A09DC3-6294-4CA8-9999-135E0C320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7">
            <a:extLst xmlns:a="http://schemas.openxmlformats.org/drawingml/2006/main">
              <a:ext uri="{FF2B5EF4-FFF2-40B4-BE49-F238E27FC236}">
                <a16:creationId xmlns:a16="http://schemas.microsoft.com/office/drawing/2014/main" id="{B90026D7-A808-48EA-B9B4-DE7C487B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1ED379B2-CED1-4756-8D3C-6CF23631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6" name="fat-track">
            <a:extLst xmlns:a="http://schemas.openxmlformats.org/drawingml/2006/main">
              <a:ext uri="{FF2B5EF4-FFF2-40B4-BE49-F238E27FC236}">
                <a16:creationId xmlns:a16="http://schemas.microsoft.com/office/drawing/2014/main" id="{E14360A1-5A5A-47E3-BF67-FC84BCE3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1047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7" name="fat-dot-1">
            <a:extLst xmlns:a="http://schemas.openxmlformats.org/drawingml/2006/main">
              <a:ext uri="{FF2B5EF4-FFF2-40B4-BE49-F238E27FC236}">
                <a16:creationId xmlns:a16="http://schemas.microsoft.com/office/drawing/2014/main" id="{B60717FF-4482-47C9-860F-ADDB6C89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8" name="fat-dot-2">
            <a:extLst xmlns:a="http://schemas.openxmlformats.org/drawingml/2006/main">
              <a:ext uri="{FF2B5EF4-FFF2-40B4-BE49-F238E27FC236}">
                <a16:creationId xmlns:a16="http://schemas.microsoft.com/office/drawing/2014/main" id="{DF2F4665-B53A-465C-B18D-CE42786F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67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9" name="fat-dot-3">
            <a:extLst xmlns:a="http://schemas.openxmlformats.org/drawingml/2006/main">
              <a:ext uri="{FF2B5EF4-FFF2-40B4-BE49-F238E27FC236}">
                <a16:creationId xmlns:a16="http://schemas.microsoft.com/office/drawing/2014/main" id="{9241C689-9F97-482A-9F3A-59742D8D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67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0" name="fat-card-1">
            <a:extLst xmlns:a="http://schemas.openxmlformats.org/drawingml/2006/main">
              <a:ext uri="{FF2B5EF4-FFF2-40B4-BE49-F238E27FC236}">
                <a16:creationId xmlns:a16="http://schemas.microsoft.com/office/drawing/2014/main" id="{03FA4FD0-04DB-4E2B-904D-D2059720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66850"/>
            <a:ext cx="3143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fat-card-2">
            <a:extLst xmlns:a="http://schemas.openxmlformats.org/drawingml/2006/main">
              <a:ext uri="{FF2B5EF4-FFF2-40B4-BE49-F238E27FC236}">
                <a16:creationId xmlns:a16="http://schemas.microsoft.com/office/drawing/2014/main" id="{F3EC8566-67AE-4240-A645-03ECC925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66850"/>
            <a:ext cx="3143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at-card-3">
            <a:extLst xmlns:a="http://schemas.openxmlformats.org/drawingml/2006/main">
              <a:ext uri="{FF2B5EF4-FFF2-40B4-BE49-F238E27FC236}">
                <a16:creationId xmlns:a16="http://schemas.microsoft.com/office/drawing/2014/main" id="{E7E7D0EF-3A6D-4CB5-B7C8-3475A9D7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66850"/>
            <a:ext cx="3390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at-1-title">
            <a:extLst xmlns:a="http://schemas.openxmlformats.org/drawingml/2006/main">
              <a:ext uri="{FF2B5EF4-FFF2-40B4-BE49-F238E27FC236}">
                <a16:creationId xmlns:a16="http://schemas.microsoft.com/office/drawing/2014/main" id="{34045961-069D-4518-AD1B-0FFB2067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71650"/>
            <a:ext cx="2571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1. IDENTIFIKASI</a:t>
            </a:r>
          </a:p>
        </p:txBody>
      </p:sp>
      <p:sp>
        <p:nvSpPr>
          <p:cNvPr id="14" name="fat-1-body">
            <a:extLst xmlns:a="http://schemas.openxmlformats.org/drawingml/2006/main">
              <a:ext uri="{FF2B5EF4-FFF2-40B4-BE49-F238E27FC236}">
                <a16:creationId xmlns:a16="http://schemas.microsoft.com/office/drawing/2014/main" id="{9502A2F6-E4F6-4E7A-8599-1E2972C4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25717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Manufacturer / MPN / lot delapan MQ
• Resistance heater saat dingin
• Fan/alarm dan power source aktual
• Cable length dan gauge desain</a:t>
            </a:r>
          </a:p>
        </p:txBody>
      </p:sp>
      <p:sp>
        <p:nvSpPr>
          <p:cNvPr id="15" name="fat-2-title">
            <a:extLst xmlns:a="http://schemas.openxmlformats.org/drawingml/2006/main">
              <a:ext uri="{FF2B5EF4-FFF2-40B4-BE49-F238E27FC236}">
                <a16:creationId xmlns:a16="http://schemas.microsoft.com/office/drawing/2014/main" id="{AFD368E8-4ECE-45EB-B728-5401835E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71650"/>
            <a:ext cx="2571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2. PENGUKURAN</a:t>
            </a:r>
          </a:p>
        </p:txBody>
      </p:sp>
      <p:sp>
        <p:nvSpPr>
          <p:cNvPr id="16" name="fat-2-body">
            <a:extLst xmlns:a="http://schemas.openxmlformats.org/drawingml/2006/main">
              <a:ext uri="{FF2B5EF4-FFF2-40B4-BE49-F238E27FC236}">
                <a16:creationId xmlns:a16="http://schemas.microsoft.com/office/drawing/2014/main" id="{7EE61990-7256-4C1C-B348-A9906A4D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05050"/>
            <a:ext cx="257175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≥20 cold-start setelah OFF ≥30 menit
• Profil arus sampai 120 menit
• Log input 24 V, rail 5 V/3,3 V, heater
• Capture peak dengan instrument memadai</a:t>
            </a:r>
          </a:p>
        </p:txBody>
      </p:sp>
      <p:sp>
        <p:nvSpPr>
          <p:cNvPr id="17" name="fat-3-title">
            <a:extLst xmlns:a="http://schemas.openxmlformats.org/drawingml/2006/main">
              <a:ext uri="{FF2B5EF4-FFF2-40B4-BE49-F238E27FC236}">
                <a16:creationId xmlns:a16="http://schemas.microsoft.com/office/drawing/2014/main" id="{FFAD8F79-2CAC-4437-8603-D572BE4C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71650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3. STRESS &amp; ACCEPT</a:t>
            </a:r>
          </a:p>
        </p:txBody>
      </p:sp>
      <p:sp>
        <p:nvSpPr>
          <p:cNvPr id="18" name="fat-3-body">
            <a:extLst xmlns:a="http://schemas.openxmlformats.org/drawingml/2006/main">
              <a:ext uri="{FF2B5EF4-FFF2-40B4-BE49-F238E27FC236}">
                <a16:creationId xmlns:a16="http://schemas.microsoft.com/office/drawing/2014/main" id="{47164940-CF30-4A1B-A687-EA97EA92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05050"/>
            <a:ext cx="28194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All-heater + LoRa + RS485 + LED
• Alarm/fan terpisah dan bersamaan
• Kabel terpanjang + closed enclosure
• Tanpa current-limit/reset; steady ≤80% rating</a:t>
            </a:r>
          </a:p>
        </p:txBody>
      </p:sp>
      <p:sp>
        <p:nvSpPr>
          <p:cNvPr id="19" name="fat-label-1">
            <a:extLst xmlns:a="http://schemas.openxmlformats.org/drawingml/2006/main">
              <a:ext uri="{FF2B5EF4-FFF2-40B4-BE49-F238E27FC236}">
                <a16:creationId xmlns:a16="http://schemas.microsoft.com/office/drawing/2014/main" id="{688F0679-69B9-409C-9C5F-9E501E89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102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INPUT TERVERIFIKASI</a:t>
            </a:r>
          </a:p>
        </p:txBody>
      </p:sp>
      <p:sp>
        <p:nvSpPr>
          <p:cNvPr id="20" name="fat-label-2">
            <a:extLst xmlns:a="http://schemas.openxmlformats.org/drawingml/2006/main">
              <a:ext uri="{FF2B5EF4-FFF2-40B4-BE49-F238E27FC236}">
                <a16:creationId xmlns:a16="http://schemas.microsoft.com/office/drawing/2014/main" id="{504D4957-A382-4674-9942-3365C898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8102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WAVEFORM &amp; THERMAL</a:t>
            </a:r>
          </a:p>
        </p:txBody>
      </p:sp>
      <p:sp>
        <p:nvSpPr>
          <p:cNvPr id="21" name="fat-label-3">
            <a:extLst xmlns:a="http://schemas.openxmlformats.org/drawingml/2006/main">
              <a:ext uri="{FF2B5EF4-FFF2-40B4-BE49-F238E27FC236}">
                <a16:creationId xmlns:a16="http://schemas.microsoft.com/office/drawing/2014/main" id="{18D06EF1-664D-47E0-B6AE-BF96E68B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10250"/>
            <a:ext cx="3390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KEPUTUSAN 1 A / 2 A</a:t>
            </a:r>
          </a:p>
        </p:txBody>
      </p:sp>
    </p:spTree>
    <p:extLst>
      <p:ext uri="{BB962C8B-B14F-4D97-AF65-F5344CB8AC3E}">
        <p14:creationId xmlns:p14="http://schemas.microsoft.com/office/powerpoint/2010/main" val="587667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8">
            <a:extLst xmlns:a="http://schemas.openxmlformats.org/drawingml/2006/main">
              <a:ext uri="{FF2B5EF4-FFF2-40B4-BE49-F238E27FC236}">
                <a16:creationId xmlns:a16="http://schemas.microsoft.com/office/drawing/2014/main" id="{B61E0129-E355-4836-87C5-827422CF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CH READINESS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9F27CF5B-E840-4A40-A729-36605CDF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CH: radio siap di source; energi belum final</a:t>
            </a:r>
          </a:p>
        </p:txBody>
      </p:sp>
      <p:sp>
        <p:nvSpPr>
          <p:cNvPr id="3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5B8D50B2-C693-4A3B-BF37-B15120FD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8">
            <a:extLst xmlns:a="http://schemas.openxmlformats.org/drawingml/2006/main">
              <a:ext uri="{FF2B5EF4-FFF2-40B4-BE49-F238E27FC236}">
                <a16:creationId xmlns:a16="http://schemas.microsoft.com/office/drawing/2014/main" id="{7947ED14-6F6A-401C-83BE-D9F86276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DF824C35-4151-4388-8467-2CF25E24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6" name="ch-image-backing">
            <a:extLst xmlns:a="http://schemas.openxmlformats.org/drawingml/2006/main">
              <a:ext uri="{FF2B5EF4-FFF2-40B4-BE49-F238E27FC236}">
                <a16:creationId xmlns:a16="http://schemas.microsoft.com/office/drawing/2014/main" id="{D8FAE332-2C0C-4546-9C98-EEFCE99E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40957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ch-image-caption">
            <a:extLst xmlns:a="http://schemas.openxmlformats.org/drawingml/2006/main">
              <a:ext uri="{FF2B5EF4-FFF2-40B4-BE49-F238E27FC236}">
                <a16:creationId xmlns:a16="http://schemas.microsoft.com/office/drawing/2014/main" id="{BCD9652C-1D35-4AE4-B2A9-8C3B7FB7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81700"/>
            <a:ext cx="4095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Konsep enclosure—bukan bukti IP/IK/Ex atau dimensi final.</a:t>
            </a:r>
          </a:p>
        </p:txBody>
      </p:sp>
      <p:sp>
        <p:nvSpPr>
          <p:cNvPr id="8" name="ch-source-title">
            <a:extLst xmlns:a="http://schemas.openxmlformats.org/drawingml/2006/main">
              <a:ext uri="{FF2B5EF4-FFF2-40B4-BE49-F238E27FC236}">
                <a16:creationId xmlns:a16="http://schemas.microsoft.com/office/drawing/2014/main" id="{6C615A56-E401-4D0B-90ED-2DE0B652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66850"/>
            <a:ext cx="295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Yang sudah terdefinisi</a:t>
            </a:r>
          </a:p>
        </p:txBody>
      </p:sp>
      <p:sp>
        <p:nvSpPr>
          <p:cNvPr id="9" name="ch-source-body">
            <a:extLst xmlns:a="http://schemas.openxmlformats.org/drawingml/2006/main">
              <a:ext uri="{FF2B5EF4-FFF2-40B4-BE49-F238E27FC236}">
                <a16:creationId xmlns:a16="http://schemas.microsoft.com/office/drawing/2014/main" id="{9DF27F62-640B-4DD0-BABF-2579A7FB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981200"/>
            <a:ext cx="30480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Dua radio: STAR 920 MHz dan MESH 921 MHz
• Charger/power path single-cell
• Watchdog dan cadence firmware
• Default Hello production 300 s</a:t>
            </a:r>
          </a:p>
        </p:txBody>
      </p:sp>
      <p:sp>
        <p:nvSpPr>
          <p:cNvPr id="10" name="ch-gap-title">
            <a:extLst xmlns:a="http://schemas.openxmlformats.org/drawingml/2006/main">
              <a:ext uri="{FF2B5EF4-FFF2-40B4-BE49-F238E27FC236}">
                <a16:creationId xmlns:a16="http://schemas.microsoft.com/office/drawing/2014/main" id="{A0B83BCD-FA63-4C22-8CA9-6B4DB8D1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66850"/>
            <a:ext cx="304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292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86500"/>
                </a:solidFill>
                <a:latin typeface="Arial"/>
                <a:ea typeface="Arial"/>
                <a:cs typeface="Arial"/>
              </a:defRPr>
            </a:pPr>
            <a:r>
              <a:t>Yang belum boleh dibekukan</a:t>
            </a:r>
          </a:p>
        </p:txBody>
      </p:sp>
      <p:sp>
        <p:nvSpPr>
          <p:cNvPr id="11" name="ch-gap-body">
            <a:extLst xmlns:a="http://schemas.openxmlformats.org/drawingml/2006/main">
              <a:ext uri="{FF2B5EF4-FFF2-40B4-BE49-F238E27FC236}">
                <a16:creationId xmlns:a16="http://schemas.microsoft.com/office/drawing/2014/main" id="{1E9CEDBA-BC8E-48FE-85F5-E765905D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81200"/>
            <a:ext cx="30480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Cell/pack dan panel aktual
• Autonomy, recharge, night/bad-weather budget
• Thermal, corrosion, enclosure qualification
• Dua feedthrough/antenna route dan RF site proof</a:t>
            </a:r>
          </a:p>
        </p:txBody>
      </p:sp>
      <p:sp>
        <p:nvSpPr>
          <p:cNvPr id="12" name="ch-note">
            <a:extLst xmlns:a="http://schemas.openxmlformats.org/drawingml/2006/main">
              <a:ext uri="{FF2B5EF4-FFF2-40B4-BE49-F238E27FC236}">
                <a16:creationId xmlns:a16="http://schemas.microsoft.com/office/drawing/2014/main" id="{0342CCEC-A59B-4B39-AA75-63F32CC7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71950"/>
            <a:ext cx="6381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h-note-title">
            <a:extLst xmlns:a="http://schemas.openxmlformats.org/drawingml/2006/main">
              <a:ext uri="{FF2B5EF4-FFF2-40B4-BE49-F238E27FC236}">
                <a16:creationId xmlns:a16="http://schemas.microsoft.com/office/drawing/2014/main" id="{A414EE1B-E7EC-409A-A04F-89D8C168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41960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86500"/>
                </a:solidFill>
                <a:latin typeface="Arial"/>
                <a:ea typeface="Arial"/>
                <a:cs typeface="Arial"/>
              </a:defRPr>
            </a:pPr>
            <a:r>
              <a:t>Catatan daya</a:t>
            </a:r>
          </a:p>
        </p:txBody>
      </p:sp>
      <p:sp>
        <p:nvSpPr>
          <p:cNvPr id="14" name="ch-note-body">
            <a:extLst xmlns:a="http://schemas.openxmlformats.org/drawingml/2006/main">
              <a:ext uri="{FF2B5EF4-FFF2-40B4-BE49-F238E27FC236}">
                <a16:creationId xmlns:a16="http://schemas.microsoft.com/office/drawing/2014/main" id="{0586FD36-7349-40B4-AF13-4F7A4ABF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81500"/>
            <a:ext cx="4000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Charger bukan MPPT. Interval 30 s + jitter adalah profil uji sementara, bukan kemampuan autonomy production.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f413d7c9c452b"/>
          <a:stretch xmlns:a="http://schemas.openxmlformats.org/drawingml/2006/main"/>
        </p:blipFill>
        <p:spPr>
          <a:xfrm xmlns:a="http://schemas.openxmlformats.org/drawingml/2006/main">
            <a:off x="1134315" y="1428750"/>
            <a:ext cx="2817719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426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9">
            <a:extLst xmlns:a="http://schemas.openxmlformats.org/drawingml/2006/main">
              <a:ext uri="{FF2B5EF4-FFF2-40B4-BE49-F238E27FC236}">
                <a16:creationId xmlns:a16="http://schemas.microsoft.com/office/drawing/2014/main" id="{CFD91B40-3B82-4F07-A869-5A2B1CB4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GATEWAY &amp; INTRANET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79DAAD2C-DB5C-4954-94AD-DE288081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Onboarding IT butuh data unit aktual</a:t>
            </a:r>
          </a:p>
        </p:txBody>
      </p:sp>
      <p:sp>
        <p:nvSpPr>
          <p:cNvPr id="3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5ED47AE5-F160-48B8-AC75-E9584D77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9">
            <a:extLst xmlns:a="http://schemas.openxmlformats.org/drawingml/2006/main">
              <a:ext uri="{FF2B5EF4-FFF2-40B4-BE49-F238E27FC236}">
                <a16:creationId xmlns:a16="http://schemas.microsoft.com/office/drawing/2014/main" id="{6C232E07-4357-4C4D-B9E8-C947BA5A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8320F8FD-9D61-405F-A348-67E2F793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6" name="gw-intro">
            <a:extLst xmlns:a="http://schemas.openxmlformats.org/drawingml/2006/main">
              <a:ext uri="{FF2B5EF4-FFF2-40B4-BE49-F238E27FC236}">
                <a16:creationId xmlns:a16="http://schemas.microsoft.com/office/drawing/2014/main" id="{E5AA778E-A426-484D-AD11-0CC17D6B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11201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Gateway memulai koneksi outbound. Tidak harus satu SSID/subnet dengan server selama routed reachability disetujui.</a:t>
            </a:r>
          </a:p>
        </p:txBody>
      </p:sp>
      <p:sp>
        <p:nvSpPr>
          <p:cNvPr id="7" name="gw-physical">
            <a:extLst xmlns:a="http://schemas.openxmlformats.org/drawingml/2006/main">
              <a:ext uri="{FF2B5EF4-FFF2-40B4-BE49-F238E27FC236}">
                <a16:creationId xmlns:a16="http://schemas.microsoft.com/office/drawing/2014/main" id="{0DE65C2D-7FFC-447D-AC18-AB2F22A6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57400"/>
            <a:ext cx="5143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w-physical-title">
            <a:extLst xmlns:a="http://schemas.openxmlformats.org/drawingml/2006/main">
              <a:ext uri="{FF2B5EF4-FFF2-40B4-BE49-F238E27FC236}">
                <a16:creationId xmlns:a16="http://schemas.microsoft.com/office/drawing/2014/main" id="{18B82D68-71C2-4AED-9295-750DF405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57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Penempatan &amp; perangkat</a:t>
            </a:r>
          </a:p>
        </p:txBody>
      </p:sp>
      <p:sp>
        <p:nvSpPr>
          <p:cNvPr id="9" name="gw-physical-body">
            <a:extLst xmlns:a="http://schemas.openxmlformats.org/drawingml/2006/main">
              <a:ext uri="{FF2B5EF4-FFF2-40B4-BE49-F238E27FC236}">
                <a16:creationId xmlns:a16="http://schemas.microsoft.com/office/drawing/2014/main" id="{9A09C8B5-67B9-4B75-AF29-F224FB6F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4572000" cy="1905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Indoor / safe area yang tertulis
• Antena menuju rooftop
• PSU 5 V industrial dan grounding TBD
• Current source: Wi-Fi STA
• Ethernet dan WPA-Enterprise belum terbukti</a:t>
            </a:r>
          </a:p>
        </p:txBody>
      </p:sp>
      <p:sp>
        <p:nvSpPr>
          <p:cNvPr id="10" name="gw-ticket">
            <a:extLst xmlns:a="http://schemas.openxmlformats.org/drawingml/2006/main">
              <a:ext uri="{FF2B5EF4-FFF2-40B4-BE49-F238E27FC236}">
                <a16:creationId xmlns:a16="http://schemas.microsoft.com/office/drawing/2014/main" id="{60A4FF52-0824-4A90-89C3-D2DCCBD4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57400"/>
            <a:ext cx="56388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w-ticket-title">
            <a:extLst xmlns:a="http://schemas.openxmlformats.org/drawingml/2006/main">
              <a:ext uri="{FF2B5EF4-FFF2-40B4-BE49-F238E27FC236}">
                <a16:creationId xmlns:a16="http://schemas.microsoft.com/office/drawing/2014/main" id="{C9D9BD1F-6036-439D-9785-EB3E8C07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5067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Data wajib pada tiket IT</a:t>
            </a:r>
          </a:p>
        </p:txBody>
      </p:sp>
      <p:sp>
        <p:nvSpPr>
          <p:cNvPr id="12" name="gw-ticket-body">
            <a:extLst xmlns:a="http://schemas.openxmlformats.org/drawingml/2006/main">
              <a:ext uri="{FF2B5EF4-FFF2-40B4-BE49-F238E27FC236}">
                <a16:creationId xmlns:a16="http://schemas.microsoft.com/office/drawing/2014/main" id="{132CD171-3D99-4FED-92E9-024E2C8C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52750"/>
            <a:ext cx="506730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  Wi-Fi STA MAC unit aktual
2  Broker/server FQDN atau IP
3  Destination TCP port final
4  SSID, VLAN, DHCP/NAC, DNS, NTP
5  TLS/identity/topic ACL dan owner</a:t>
            </a:r>
          </a:p>
        </p:txBody>
      </p:sp>
      <p:sp>
        <p:nvSpPr>
          <p:cNvPr id="13" name="gw-footnote">
            <a:extLst xmlns:a="http://schemas.openxmlformats.org/drawingml/2006/main">
              <a:ext uri="{FF2B5EF4-FFF2-40B4-BE49-F238E27FC236}">
                <a16:creationId xmlns:a16="http://schemas.microsoft.com/office/drawing/2014/main" id="{D3EF822D-981D-473D-82F9-560F302A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57850"/>
            <a:ext cx="11201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Port 1884 dan placeholder host saat ini adalah bench/configuration evidence—bukan nilai production yang disetujui IT.</a:t>
            </a:r>
          </a:p>
        </p:txBody>
      </p:sp>
    </p:spTree>
    <p:extLst>
      <p:ext uri="{BB962C8B-B14F-4D97-AF65-F5344CB8AC3E}">
        <p14:creationId xmlns:p14="http://schemas.microsoft.com/office/powerpoint/2010/main" val="12352554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10">
            <a:extLst xmlns:a="http://schemas.openxmlformats.org/drawingml/2006/main">
              <a:ext uri="{FF2B5EF4-FFF2-40B4-BE49-F238E27FC236}">
                <a16:creationId xmlns:a16="http://schemas.microsoft.com/office/drawing/2014/main" id="{948564C7-CE46-4C09-884F-783A09A3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NETWORK SECURITY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53C91F2A-D6B9-4995-BF45-2D371F8C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TLS end-to-end belum siap</a:t>
            </a:r>
          </a:p>
        </p:txBody>
      </p:sp>
      <p:sp>
        <p:nvSpPr>
          <p:cNvPr id="3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E416E850-3AF0-45C2-9406-1A4E62F4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10">
            <a:extLst xmlns:a="http://schemas.openxmlformats.org/drawingml/2006/main">
              <a:ext uri="{FF2B5EF4-FFF2-40B4-BE49-F238E27FC236}">
                <a16:creationId xmlns:a16="http://schemas.microsoft.com/office/drawing/2014/main" id="{1453C9A7-AE98-48EA-AF03-71A8949A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10">
            <a:extLst xmlns:a="http://schemas.openxmlformats.org/drawingml/2006/main">
              <a:ext uri="{FF2B5EF4-FFF2-40B4-BE49-F238E27FC236}">
                <a16:creationId xmlns:a16="http://schemas.microsoft.com/office/drawing/2014/main" id="{4957DEC9-75EF-4DCA-B6CC-DA0B02CE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6" name="tls-intro">
            <a:extLst xmlns:a="http://schemas.openxmlformats.org/drawingml/2006/main">
              <a:ext uri="{FF2B5EF4-FFF2-40B4-BE49-F238E27FC236}">
                <a16:creationId xmlns:a16="http://schemas.microsoft.com/office/drawing/2014/main" id="{B55528F2-C206-4A8F-A547-4041F532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Current source dan policy generator belum konsisten untuk broker non-loopback.</a:t>
            </a:r>
          </a:p>
        </p:txBody>
      </p:sp>
      <p:sp>
        <p:nvSpPr>
          <p:cNvPr id="7" name="tls-current">
            <a:extLst xmlns:a="http://schemas.openxmlformats.org/drawingml/2006/main">
              <a:ext uri="{FF2B5EF4-FFF2-40B4-BE49-F238E27FC236}">
                <a16:creationId xmlns:a16="http://schemas.microsoft.com/office/drawing/2014/main" id="{A804665D-C7A7-4621-AD5E-71555952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ls-current-label">
            <a:extLst xmlns:a="http://schemas.openxmlformats.org/drawingml/2006/main">
              <a:ext uri="{FF2B5EF4-FFF2-40B4-BE49-F238E27FC236}">
                <a16:creationId xmlns:a16="http://schemas.microsoft.com/office/drawing/2014/main" id="{B42338B3-9D54-472B-9602-E4DE1AEA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01818"/>
                </a:solidFill>
                <a:latin typeface="Arial"/>
                <a:ea typeface="Arial"/>
                <a:cs typeface="Arial"/>
              </a:defRPr>
            </a:pPr>
            <a:r>
              <a:t>CURRENT SOURCE</a:t>
            </a:r>
          </a:p>
        </p:txBody>
      </p:sp>
      <p:sp>
        <p:nvSpPr>
          <p:cNvPr id="9" name="tls-current-title">
            <a:extLst xmlns:a="http://schemas.openxmlformats.org/drawingml/2006/main">
              <a:ext uri="{FF2B5EF4-FFF2-40B4-BE49-F238E27FC236}">
                <a16:creationId xmlns:a16="http://schemas.microsoft.com/office/drawing/2014/main" id="{77EC947F-5F4E-4F33-B525-87260B84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4381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MQTT plaintext</a:t>
            </a:r>
          </a:p>
        </p:txBody>
      </p:sp>
      <p:sp>
        <p:nvSpPr>
          <p:cNvPr id="10" name="tls-current-body">
            <a:extLst xmlns:a="http://schemas.openxmlformats.org/drawingml/2006/main">
              <a:ext uri="{FF2B5EF4-FFF2-40B4-BE49-F238E27FC236}">
                <a16:creationId xmlns:a16="http://schemas.microsoft.com/office/drawing/2014/main" id="{406E3A38-655D-4601-BFD7-E122BA3D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43815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WiFiClient tanpa TLS
• Queue RAM 8 × 1024 B, volatile
• Bench endpoint/port belum production
• TCP reachability belum membuktikan MQTT</a:t>
            </a:r>
          </a:p>
        </p:txBody>
      </p:sp>
      <p:sp>
        <p:nvSpPr>
          <p:cNvPr id="11" name="tls-arrow">
            <a:extLst xmlns:a="http://schemas.openxmlformats.org/drawingml/2006/main">
              <a:ext uri="{FF2B5EF4-FFF2-40B4-BE49-F238E27FC236}">
                <a16:creationId xmlns:a16="http://schemas.microsoft.com/office/drawing/2014/main" id="{60E821A9-C85A-4333-8564-BC3C3353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86100"/>
            <a:ext cx="9525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tls-required">
            <a:extLst xmlns:a="http://schemas.openxmlformats.org/drawingml/2006/main">
              <a:ext uri="{FF2B5EF4-FFF2-40B4-BE49-F238E27FC236}">
                <a16:creationId xmlns:a16="http://schemas.microsoft.com/office/drawing/2014/main" id="{B353BE1F-15B3-456F-8AE3-8D78B92C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6215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ls-required-label">
            <a:extLst xmlns:a="http://schemas.openxmlformats.org/drawingml/2006/main">
              <a:ext uri="{FF2B5EF4-FFF2-40B4-BE49-F238E27FC236}">
                <a16:creationId xmlns:a16="http://schemas.microsoft.com/office/drawing/2014/main" id="{8B5757D0-5369-4168-B73A-99445E1E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4790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B7D4E"/>
                </a:solidFill>
                <a:latin typeface="Arial"/>
                <a:ea typeface="Arial"/>
                <a:cs typeface="Arial"/>
              </a:defRPr>
            </a:pPr>
            <a:r>
              <a:t>PRODUCTION DIRECTION</a:t>
            </a:r>
          </a:p>
        </p:txBody>
      </p:sp>
      <p:sp>
        <p:nvSpPr>
          <p:cNvPr id="14" name="tls-required-title">
            <a:extLst xmlns:a="http://schemas.openxmlformats.org/drawingml/2006/main">
              <a:ext uri="{FF2B5EF4-FFF2-40B4-BE49-F238E27FC236}">
                <a16:creationId xmlns:a16="http://schemas.microsoft.com/office/drawing/2014/main" id="{C25F9CBB-B381-4739-BF5C-41A4D70C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4381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TLS + identity + ACL</a:t>
            </a:r>
          </a:p>
        </p:txBody>
      </p:sp>
      <p:sp>
        <p:nvSpPr>
          <p:cNvPr id="15" name="tls-required-body">
            <a:extLst xmlns:a="http://schemas.openxmlformats.org/drawingml/2006/main">
              <a:ext uri="{FF2B5EF4-FFF2-40B4-BE49-F238E27FC236}">
                <a16:creationId xmlns:a16="http://schemas.microsoft.com/office/drawing/2014/main" id="{7974C5BA-3B8E-41AE-B599-6E633A82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52800"/>
            <a:ext cx="438150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Trust/certificate lifecycle
• Per-device identity dan topic ACL
• Broker logs / CONNACK success
• Negative, reconnect, restart, dan expiry tests</a:t>
            </a:r>
          </a:p>
        </p:txBody>
      </p:sp>
      <p:sp>
        <p:nvSpPr>
          <p:cNvPr id="16" name="tls-note">
            <a:extLst xmlns:a="http://schemas.openxmlformats.org/drawingml/2006/main">
              <a:ext uri="{FF2B5EF4-FFF2-40B4-BE49-F238E27FC236}">
                <a16:creationId xmlns:a16="http://schemas.microsoft.com/office/drawing/2014/main" id="{D5BF3E8D-891F-4AC5-819F-3E609A3E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1201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ls-note-text">
            <a:extLst xmlns:a="http://schemas.openxmlformats.org/drawingml/2006/main">
              <a:ext uri="{FF2B5EF4-FFF2-40B4-BE49-F238E27FC236}">
                <a16:creationId xmlns:a16="http://schemas.microsoft.com/office/drawing/2014/main" id="{06FBB0CE-75AF-4659-97FC-F15A70EF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629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MAC allowlist membantu asset control, tetapi tidak menggantikan authentication dan authorization.</a:t>
            </a:r>
          </a:p>
        </p:txBody>
      </p:sp>
    </p:spTree>
    <p:extLst>
      <p:ext uri="{BB962C8B-B14F-4D97-AF65-F5344CB8AC3E}">
        <p14:creationId xmlns:p14="http://schemas.microsoft.com/office/powerpoint/2010/main" val="7193632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11">
            <a:extLst xmlns:a="http://schemas.openxmlformats.org/drawingml/2006/main">
              <a:ext uri="{FF2B5EF4-FFF2-40B4-BE49-F238E27FC236}">
                <a16:creationId xmlns:a16="http://schemas.microsoft.com/office/drawing/2014/main" id="{B66B28E3-3120-4C61-8222-5EA40552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SERVER &amp; DASHBOARD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3A0E889B-6105-4703-AB24-922C301E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Server pilot menunggu penutupan dua gap</a:t>
            </a:r>
          </a:p>
        </p:txBody>
      </p:sp>
      <p:sp>
        <p:nvSpPr>
          <p:cNvPr id="3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01BF1A5C-86CC-43A0-A483-037E2754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11">
            <a:extLst xmlns:a="http://schemas.openxmlformats.org/drawingml/2006/main">
              <a:ext uri="{FF2B5EF4-FFF2-40B4-BE49-F238E27FC236}">
                <a16:creationId xmlns:a16="http://schemas.microsoft.com/office/drawing/2014/main" id="{083FE9B2-227B-4A95-8353-98DB5B0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11">
            <a:extLst xmlns:a="http://schemas.openxmlformats.org/drawingml/2006/main">
              <a:ext uri="{FF2B5EF4-FFF2-40B4-BE49-F238E27FC236}">
                <a16:creationId xmlns:a16="http://schemas.microsoft.com/office/drawing/2014/main" id="{C6CB2499-24E5-439A-B87C-887BA5CC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6" name="server-intro">
            <a:extLst xmlns:a="http://schemas.openxmlformats.org/drawingml/2006/main">
              <a:ext uri="{FF2B5EF4-FFF2-40B4-BE49-F238E27FC236}">
                <a16:creationId xmlns:a16="http://schemas.microsoft.com/office/drawing/2014/main" id="{2B760500-ED78-4928-B631-9EECF6D5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11201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Baseline sizing bersifat proposal pilot; production platform dan acceptance tetap milik Pertamina IT.</a:t>
            </a:r>
          </a:p>
        </p:txBody>
      </p:sp>
      <p:sp>
        <p:nvSpPr>
          <p:cNvPr id="7" name="server-source">
            <a:extLst xmlns:a="http://schemas.openxmlformats.org/drawingml/2006/main">
              <a:ext uri="{FF2B5EF4-FFF2-40B4-BE49-F238E27FC236}">
                <a16:creationId xmlns:a16="http://schemas.microsoft.com/office/drawing/2014/main" id="{4EF56EEC-B97D-4882-82DD-7650C1E3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33337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rver-pilot">
            <a:extLst xmlns:a="http://schemas.openxmlformats.org/drawingml/2006/main">
              <a:ext uri="{FF2B5EF4-FFF2-40B4-BE49-F238E27FC236}">
                <a16:creationId xmlns:a16="http://schemas.microsoft.com/office/drawing/2014/main" id="{27646CD9-5AEC-4B91-B622-5294E990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81200"/>
            <a:ext cx="33337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erver-prod">
            <a:extLst xmlns:a="http://schemas.openxmlformats.org/drawingml/2006/main">
              <a:ext uri="{FF2B5EF4-FFF2-40B4-BE49-F238E27FC236}">
                <a16:creationId xmlns:a16="http://schemas.microsoft.com/office/drawing/2014/main" id="{F93CC3E7-E765-4808-A114-A50FD892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81200"/>
            <a:ext cx="33337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rver-source-title">
            <a:extLst xmlns:a="http://schemas.openxmlformats.org/drawingml/2006/main">
              <a:ext uri="{FF2B5EF4-FFF2-40B4-BE49-F238E27FC236}">
                <a16:creationId xmlns:a16="http://schemas.microsoft.com/office/drawing/2014/main" id="{1185B781-7043-4118-9D9A-40D2E2C2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SOURCE SAAT INI</a:t>
            </a:r>
          </a:p>
        </p:txBody>
      </p:sp>
      <p:sp>
        <p:nvSpPr>
          <p:cNvPr id="11" name="server-source-big">
            <a:extLst xmlns:a="http://schemas.openxmlformats.org/drawingml/2006/main">
              <a:ext uri="{FF2B5EF4-FFF2-40B4-BE49-F238E27FC236}">
                <a16:creationId xmlns:a16="http://schemas.microsoft.com/office/drawing/2014/main" id="{349CA21B-EC67-4CEC-8845-4705881F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76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01818"/>
                </a:solidFill>
                <a:latin typeface="Arial"/>
                <a:ea typeface="Arial"/>
                <a:cs typeface="Arial"/>
              </a:defRPr>
            </a:pPr>
            <a:r>
              <a:t>Flow drift</a:t>
            </a:r>
          </a:p>
        </p:txBody>
      </p:sp>
      <p:sp>
        <p:nvSpPr>
          <p:cNvPr id="12" name="server-source-body">
            <a:extLst xmlns:a="http://schemas.openxmlformats.org/drawingml/2006/main">
              <a:ext uri="{FF2B5EF4-FFF2-40B4-BE49-F238E27FC236}">
                <a16:creationId xmlns:a16="http://schemas.microsoft.com/office/drawing/2014/main" id="{A7AB0BAA-97CF-482F-A74E-B56AF808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762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Snapshot utama tertinggal
• Status Gateway belum masuk snapshot
• Dataset flow konsisten
• Live deployment tidak diaudit</a:t>
            </a:r>
          </a:p>
        </p:txBody>
      </p:sp>
      <p:sp>
        <p:nvSpPr>
          <p:cNvPr id="13" name="server-pilot-title">
            <a:extLst xmlns:a="http://schemas.openxmlformats.org/drawingml/2006/main">
              <a:ext uri="{FF2B5EF4-FFF2-40B4-BE49-F238E27FC236}">
                <a16:creationId xmlns:a16="http://schemas.microsoft.com/office/drawing/2014/main" id="{966B08A8-C1CA-48D2-898D-459ADCD9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86000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BASELINE PILOT</a:t>
            </a:r>
          </a:p>
        </p:txBody>
      </p:sp>
      <p:sp>
        <p:nvSpPr>
          <p:cNvPr id="14" name="server-pilot-big">
            <a:extLst xmlns:a="http://schemas.openxmlformats.org/drawingml/2006/main">
              <a:ext uri="{FF2B5EF4-FFF2-40B4-BE49-F238E27FC236}">
                <a16:creationId xmlns:a16="http://schemas.microsoft.com/office/drawing/2014/main" id="{66A697AC-E938-4431-BEEE-40ADA1B1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24150"/>
            <a:ext cx="2762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4 vCPU • 8 GB
100 GB SSD</a:t>
            </a:r>
          </a:p>
        </p:txBody>
      </p:sp>
      <p:sp>
        <p:nvSpPr>
          <p:cNvPr id="15" name="server-pilot-body">
            <a:extLst xmlns:a="http://schemas.openxmlformats.org/drawingml/2006/main">
              <a:ext uri="{FF2B5EF4-FFF2-40B4-BE49-F238E27FC236}">
                <a16:creationId xmlns:a16="http://schemas.microsoft.com/office/drawing/2014/main" id="{88D58F85-1903-4491-BED8-6C9A8B38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733800"/>
            <a:ext cx="2762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OS LTS/server yang disetujui IT; service auto-start, health check, backup, monitoring.</a:t>
            </a:r>
          </a:p>
        </p:txBody>
      </p:sp>
      <p:sp>
        <p:nvSpPr>
          <p:cNvPr id="16" name="server-prod-title">
            <a:extLst xmlns:a="http://schemas.openxmlformats.org/drawingml/2006/main">
              <a:ext uri="{FF2B5EF4-FFF2-40B4-BE49-F238E27FC236}">
                <a16:creationId xmlns:a16="http://schemas.microsoft.com/office/drawing/2014/main" id="{D0E6EB74-C17E-4BD7-A41B-CE03F153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86000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PRODUCTION CLOSURE</a:t>
            </a:r>
          </a:p>
        </p:txBody>
      </p:sp>
      <p:sp>
        <p:nvSpPr>
          <p:cNvPr id="17" name="server-prod-big">
            <a:extLst xmlns:a="http://schemas.openxmlformats.org/drawingml/2006/main">
              <a:ext uri="{FF2B5EF4-FFF2-40B4-BE49-F238E27FC236}">
                <a16:creationId xmlns:a16="http://schemas.microsoft.com/office/drawing/2014/main" id="{66A7B3B1-B98D-4EF8-A759-F42B988F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24150"/>
            <a:ext cx="276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898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Package &amp; runbook</a:t>
            </a:r>
          </a:p>
        </p:txBody>
      </p:sp>
      <p:sp>
        <p:nvSpPr>
          <p:cNvPr id="18" name="server-prod-body">
            <a:extLst xmlns:a="http://schemas.openxmlformats.org/drawingml/2006/main">
              <a:ext uri="{FF2B5EF4-FFF2-40B4-BE49-F238E27FC236}">
                <a16:creationId xmlns:a16="http://schemas.microsoft.com/office/drawing/2014/main" id="{10948BBE-060E-42DA-8605-DB9E3B2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0"/>
            <a:ext cx="2762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Version/checksum manifest
• Broker/TLS/ACL config
• HTTPS/RBAC dan retention
• Restore, RPO/RTO, patching, rollback</a:t>
            </a:r>
          </a:p>
        </p:txBody>
      </p:sp>
      <p:sp>
        <p:nvSpPr>
          <p:cNvPr id="19" name="server-two-gaps">
            <a:extLst xmlns:a="http://schemas.openxmlformats.org/drawingml/2006/main">
              <a:ext uri="{FF2B5EF4-FFF2-40B4-BE49-F238E27FC236}">
                <a16:creationId xmlns:a16="http://schemas.microsoft.com/office/drawing/2014/main" id="{7DDE1C87-02EF-4DB7-8085-37BCA369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19750"/>
            <a:ext cx="11201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Dua gap awal: sinkronkan flow snapshot dan sepakati arah TLS sebelum packaging/deployment.</a:t>
            </a:r>
          </a:p>
        </p:txBody>
      </p:sp>
    </p:spTree>
    <p:extLst>
      <p:ext uri="{BB962C8B-B14F-4D97-AF65-F5344CB8AC3E}">
        <p14:creationId xmlns:p14="http://schemas.microsoft.com/office/powerpoint/2010/main" val="1590919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ction-12">
            <a:extLst xmlns:a="http://schemas.openxmlformats.org/drawingml/2006/main">
              <a:ext uri="{FF2B5EF4-FFF2-40B4-BE49-F238E27FC236}">
                <a16:creationId xmlns:a16="http://schemas.microsoft.com/office/drawing/2014/main" id="{614FD8DF-83C4-42D9-94FB-233D904E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HAZARDOUS AREA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BF3EB7F9-9223-4E3F-898C-A980AC4E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Trial classified-area tetap ditahan</a:t>
            </a:r>
          </a:p>
        </p:txBody>
      </p:sp>
      <p:sp>
        <p:nvSpPr>
          <p:cNvPr id="3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C90EB95A-E6DD-4AF2-BB9D-1A589F79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12">
            <a:extLst xmlns:a="http://schemas.openxmlformats.org/drawingml/2006/main">
              <a:ext uri="{FF2B5EF4-FFF2-40B4-BE49-F238E27FC236}">
                <a16:creationId xmlns:a16="http://schemas.microsoft.com/office/drawing/2014/main" id="{0B3D092A-A6D1-4463-9798-4C765E8E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12">
            <a:extLst xmlns:a="http://schemas.openxmlformats.org/drawingml/2006/main">
              <a:ext uri="{FF2B5EF4-FFF2-40B4-BE49-F238E27FC236}">
                <a16:creationId xmlns:a16="http://schemas.microsoft.com/office/drawing/2014/main" id="{DB11297F-4038-46C4-962C-3E038F4B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6" name="safety-banner">
            <a:extLst xmlns:a="http://schemas.openxmlformats.org/drawingml/2006/main">
              <a:ext uri="{FF2B5EF4-FFF2-40B4-BE49-F238E27FC236}">
                <a16:creationId xmlns:a16="http://schemas.microsoft.com/office/drawing/2014/main" id="{1043D4BC-317A-4ED3-8A24-B7646366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afety-banner-label">
            <a:extLst xmlns:a="http://schemas.openxmlformats.org/drawingml/2006/main">
              <a:ext uri="{FF2B5EF4-FFF2-40B4-BE49-F238E27FC236}">
                <a16:creationId xmlns:a16="http://schemas.microsoft.com/office/drawing/2014/main" id="{D54E57C7-3CB3-42FD-8664-78B138A1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01818"/>
                </a:solidFill>
                <a:latin typeface="Arial"/>
                <a:ea typeface="Arial"/>
                <a:cs typeface="Arial"/>
              </a:defRPr>
            </a:pPr>
            <a:r>
              <a:t>SAFETY HOLD</a:t>
            </a:r>
          </a:p>
        </p:txBody>
      </p:sp>
      <p:sp>
        <p:nvSpPr>
          <p:cNvPr id="8" name="safety-banner-text">
            <a:extLst xmlns:a="http://schemas.openxmlformats.org/drawingml/2006/main">
              <a:ext uri="{FF2B5EF4-FFF2-40B4-BE49-F238E27FC236}">
                <a16:creationId xmlns:a16="http://schemas.microsoft.com/office/drawing/2014/main" id="{3A0B5DA7-06D4-4164-AA6F-B594D480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19250"/>
            <a:ext cx="8534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41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Belum ada bukti certificate/marking untuk complete assembly GLD maupun CH.</a:t>
            </a:r>
          </a:p>
        </p:txBody>
      </p:sp>
      <p:sp>
        <p:nvSpPr>
          <p:cNvPr id="9" name="safety-rule-title">
            <a:extLst xmlns:a="http://schemas.openxmlformats.org/drawingml/2006/main">
              <a:ext uri="{FF2B5EF4-FFF2-40B4-BE49-F238E27FC236}">
                <a16:creationId xmlns:a16="http://schemas.microsoft.com/office/drawing/2014/main" id="{F8FC559E-878D-484F-9263-F443DC4F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Keputusan yang berlaku</a:t>
            </a:r>
          </a:p>
        </p:txBody>
      </p:sp>
      <p:sp>
        <p:nvSpPr>
          <p:cNvPr id="10" name="safety-rules">
            <a:extLst xmlns:a="http://schemas.openxmlformats.org/drawingml/2006/main">
              <a:ext uri="{FF2B5EF4-FFF2-40B4-BE49-F238E27FC236}">
                <a16:creationId xmlns:a16="http://schemas.microsoft.com/office/drawing/2014/main" id="{F75DFF28-2103-4930-9490-38B378B55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5334000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Tidak ada trial dekat/bawah tangki LPG
• SRU/Sampit tetap kandidat—bukan otomatis safe area
• Metal enclosure, IP/IK, atau partisi biasa bukan Ex certificate
• Klaim jadwal sertifikat harus disertai application/test schedule</a:t>
            </a:r>
          </a:p>
        </p:txBody>
      </p:sp>
      <p:sp>
        <p:nvSpPr>
          <p:cNvPr id="11" name="safety-gates-title">
            <a:extLst xmlns:a="http://schemas.openxmlformats.org/drawingml/2006/main">
              <a:ext uri="{FF2B5EF4-FFF2-40B4-BE49-F238E27FC236}">
                <a16:creationId xmlns:a16="http://schemas.microsoft.com/office/drawing/2014/main" id="{EC681A99-B076-4B67-B2AB-F02C81E43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837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Empat gate sebelum classified installation</a:t>
            </a:r>
          </a:p>
        </p:txBody>
      </p:sp>
      <p:sp>
        <p:nvSpPr>
          <p:cNvPr id="12" name="safety-gates">
            <a:extLst xmlns:a="http://schemas.openxmlformats.org/drawingml/2006/main">
              <a:ext uri="{FF2B5EF4-FFF2-40B4-BE49-F238E27FC236}">
                <a16:creationId xmlns:a16="http://schemas.microsoft.com/office/drawing/2014/main" id="{C0D76DCB-81D2-4760-9454-34018956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276600"/>
            <a:ext cx="4533900" cy="1866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  Area classification per titik
2  Accepted complete-assembly certification scope
3  Approved installation design + permit/JSA
4  Competent initial inspection + HSE/site sign-off</a:t>
            </a:r>
          </a:p>
        </p:txBody>
      </p:sp>
      <p:sp>
        <p:nvSpPr>
          <p:cNvPr id="13" name="safety-bottom">
            <a:extLst xmlns:a="http://schemas.openxmlformats.org/drawingml/2006/main">
              <a:ext uri="{FF2B5EF4-FFF2-40B4-BE49-F238E27FC236}">
                <a16:creationId xmlns:a16="http://schemas.microsoft.com/office/drawing/2014/main" id="{560DEDD1-16D2-4AF9-8AF9-2EEF2E41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67350"/>
            <a:ext cx="1120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afety-bottom-text">
            <a:extLst xmlns:a="http://schemas.openxmlformats.org/drawingml/2006/main">
              <a:ext uri="{FF2B5EF4-FFF2-40B4-BE49-F238E27FC236}">
                <a16:creationId xmlns:a16="http://schemas.microsoft.com/office/drawing/2014/main" id="{3D0F342A-A3C4-4D26-8903-38329374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744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Sebelum gate ditutup, trial hanya pada lokasi non-hazardous yang ditetapkan Pertamina secara tertulis.</a:t>
            </a:r>
          </a:p>
        </p:txBody>
      </p:sp>
    </p:spTree>
    <p:extLst>
      <p:ext uri="{BB962C8B-B14F-4D97-AF65-F5344CB8AC3E}">
        <p14:creationId xmlns:p14="http://schemas.microsoft.com/office/powerpoint/2010/main" val="10660081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13">
            <a:extLst xmlns:a="http://schemas.openxmlformats.org/drawingml/2006/main">
              <a:ext uri="{FF2B5EF4-FFF2-40B4-BE49-F238E27FC236}">
                <a16:creationId xmlns:a16="http://schemas.microsoft.com/office/drawing/2014/main" id="{AEDB4B23-0627-41D1-ADA5-11F3CE9C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SITE INTERFACE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71EA0929-3944-4EE0-936D-B315C056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Mounting final menunggu survey</a:t>
            </a:r>
          </a:p>
        </p:txBody>
      </p:sp>
      <p:sp>
        <p:nvSpPr>
          <p:cNvPr id="3" name="footer-rule-13">
            <a:extLst xmlns:a="http://schemas.openxmlformats.org/drawingml/2006/main">
              <a:ext uri="{FF2B5EF4-FFF2-40B4-BE49-F238E27FC236}">
                <a16:creationId xmlns:a16="http://schemas.microsoft.com/office/drawing/2014/main" id="{F79567B6-5987-4DBF-9120-50987A9B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13">
            <a:extLst xmlns:a="http://schemas.openxmlformats.org/drawingml/2006/main">
              <a:ext uri="{FF2B5EF4-FFF2-40B4-BE49-F238E27FC236}">
                <a16:creationId xmlns:a16="http://schemas.microsoft.com/office/drawing/2014/main" id="{4D8A1F2C-5F68-43CE-8A38-C4DF6B17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13">
            <a:extLst xmlns:a="http://schemas.openxmlformats.org/drawingml/2006/main">
              <a:ext uri="{FF2B5EF4-FFF2-40B4-BE49-F238E27FC236}">
                <a16:creationId xmlns:a16="http://schemas.microsoft.com/office/drawing/2014/main" id="{C8D26622-351D-4277-BF9C-227D801A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13</a:t>
            </a:r>
          </a:p>
        </p:txBody>
      </p:sp>
      <p:sp>
        <p:nvSpPr>
          <p:cNvPr id="6" name="mounting-intro">
            <a:extLst xmlns:a="http://schemas.openxmlformats.org/drawingml/2006/main">
              <a:ext uri="{FF2B5EF4-FFF2-40B4-BE49-F238E27FC236}">
                <a16:creationId xmlns:a16="http://schemas.microsoft.com/office/drawing/2014/main" id="{07D85E0A-1070-4F33-9598-3815CE7F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5143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Angka meeting adalah proposal awal; drawing fabrikasi harus mengikuti data site dan approval struktur.</a:t>
            </a:r>
          </a:p>
        </p:txBody>
      </p:sp>
      <p:sp>
        <p:nvSpPr>
          <p:cNvPr id="7" name="mounting-survey-title">
            <a:extLst xmlns:a="http://schemas.openxmlformats.org/drawingml/2006/main">
              <a:ext uri="{FF2B5EF4-FFF2-40B4-BE49-F238E27FC236}">
                <a16:creationId xmlns:a16="http://schemas.microsoft.com/office/drawing/2014/main" id="{901C6AD2-8E70-4AB8-A161-45B29BCC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7645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770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Output survey yang wajib</a:t>
            </a:r>
          </a:p>
        </p:txBody>
      </p:sp>
      <p:sp>
        <p:nvSpPr>
          <p:cNvPr id="8" name="mounting-survey-body">
            <a:extLst xmlns:a="http://schemas.openxmlformats.org/drawingml/2006/main">
              <a:ext uri="{FF2B5EF4-FFF2-40B4-BE49-F238E27FC236}">
                <a16:creationId xmlns:a16="http://schemas.microsoft.com/office/drawing/2014/main" id="{DD09FE65-06B0-4944-8DBC-B69E8800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4762500" cy="2114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Pole/handrail OD, material, thickness, existing load
• Wind/seismic/vibration/corrosion dan anchor policy
• Power source, cable route, gland, allowable drop
• Antenna height/LOS/coax/lightning/grounding
• Access, maintenance envelope, work-at-height</a:t>
            </a:r>
          </a:p>
        </p:txBody>
      </p:sp>
      <p:sp>
        <p:nvSpPr>
          <p:cNvPr id="9" name="mounting-proposal">
            <a:extLst xmlns:a="http://schemas.openxmlformats.org/drawingml/2006/main">
              <a:ext uri="{FF2B5EF4-FFF2-40B4-BE49-F238E27FC236}">
                <a16:creationId xmlns:a16="http://schemas.microsoft.com/office/drawing/2014/main" id="{BA465161-7BB6-4908-B895-42A7141F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91100"/>
            <a:ext cx="5143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ounting-proposal-text">
            <a:extLst xmlns:a="http://schemas.openxmlformats.org/drawingml/2006/main">
              <a:ext uri="{FF2B5EF4-FFF2-40B4-BE49-F238E27FC236}">
                <a16:creationId xmlns:a16="http://schemas.microsoft.com/office/drawing/2014/main" id="{DB5F1BB5-F727-4C13-AF12-5AB80ECD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4686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86500"/>
                </a:solidFill>
                <a:latin typeface="Arial"/>
                <a:ea typeface="Arial"/>
                <a:cs typeface="Arial"/>
              </a:defRPr>
            </a:pPr>
            <a:r>
              <a:t>±1,5 m extension dan ±2–2,5 m pole adalah proposal meeting—bukan dimensi final.</a:t>
            </a:r>
          </a:p>
        </p:txBody>
      </p:sp>
      <p:sp>
        <p:nvSpPr>
          <p:cNvPr id="11" name="mounting-image-backing">
            <a:extLst xmlns:a="http://schemas.openxmlformats.org/drawingml/2006/main">
              <a:ext uri="{FF2B5EF4-FFF2-40B4-BE49-F238E27FC236}">
                <a16:creationId xmlns:a16="http://schemas.microsoft.com/office/drawing/2014/main" id="{064104D9-6C38-44B9-A542-D4DC3FA2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390650"/>
            <a:ext cx="5638800" cy="422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mounting-caption">
            <a:extLst xmlns:a="http://schemas.openxmlformats.org/drawingml/2006/main">
              <a:ext uri="{FF2B5EF4-FFF2-40B4-BE49-F238E27FC236}">
                <a16:creationId xmlns:a16="http://schemas.microsoft.com/office/drawing/2014/main" id="{C56555BB-11FD-4407-8209-07C6751E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753100"/>
            <a:ext cx="5638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Referensi survey historis—bukan layout aktif atau approved plot plan.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f29f3c0dda4769"/>
          <a:srcRect xmlns:a="http://schemas.openxmlformats.org/drawingml/2006/main" l="5875" t="0" r="58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7900" y="1390650"/>
            <a:ext cx="5638800" cy="4229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0048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14">
            <a:extLst xmlns:a="http://schemas.openxmlformats.org/drawingml/2006/main">
              <a:ext uri="{FF2B5EF4-FFF2-40B4-BE49-F238E27FC236}">
                <a16:creationId xmlns:a16="http://schemas.microsoft.com/office/drawing/2014/main" id="{2754D91E-D8F1-41B2-B600-15EA1D85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ROADMAP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CFFC6002-AD58-402F-8EFD-7282808C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Target 2027 dimulai dari support pack 2026</a:t>
            </a:r>
          </a:p>
        </p:txBody>
      </p:sp>
      <p:sp>
        <p:nvSpPr>
          <p:cNvPr id="3" name="footer-rule-14">
            <a:extLst xmlns:a="http://schemas.openxmlformats.org/drawingml/2006/main">
              <a:ext uri="{FF2B5EF4-FFF2-40B4-BE49-F238E27FC236}">
                <a16:creationId xmlns:a16="http://schemas.microsoft.com/office/drawing/2014/main" id="{D3E4A6ED-01C4-4404-838B-074CF900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14">
            <a:extLst xmlns:a="http://schemas.openxmlformats.org/drawingml/2006/main">
              <a:ext uri="{FF2B5EF4-FFF2-40B4-BE49-F238E27FC236}">
                <a16:creationId xmlns:a16="http://schemas.microsoft.com/office/drawing/2014/main" id="{69C59B1A-EC9E-40DE-B6A6-1A3E8014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14">
            <a:extLst xmlns:a="http://schemas.openxmlformats.org/drawingml/2006/main">
              <a:ext uri="{FF2B5EF4-FFF2-40B4-BE49-F238E27FC236}">
                <a16:creationId xmlns:a16="http://schemas.microsoft.com/office/drawing/2014/main" id="{3873A195-977B-49F1-940D-1A72A9F8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14</a:t>
            </a:r>
          </a:p>
        </p:txBody>
      </p:sp>
      <p:sp>
        <p:nvSpPr>
          <p:cNvPr id="6" name="roadmap-track">
            <a:extLst xmlns:a="http://schemas.openxmlformats.org/drawingml/2006/main">
              <a:ext uri="{FF2B5EF4-FFF2-40B4-BE49-F238E27FC236}">
                <a16:creationId xmlns:a16="http://schemas.microsoft.com/office/drawing/2014/main" id="{4EF0EC5D-AF80-46F0-9969-0E407DE7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10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7" name="roadmap-dot-1">
            <a:extLst xmlns:a="http://schemas.openxmlformats.org/drawingml/2006/main">
              <a:ext uri="{FF2B5EF4-FFF2-40B4-BE49-F238E27FC236}">
                <a16:creationId xmlns:a16="http://schemas.microsoft.com/office/drawing/2014/main" id="{2DDE0A0C-EBAF-4FA7-AF5B-F2187B7D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8" name="roadmap-dot-2">
            <a:extLst xmlns:a="http://schemas.openxmlformats.org/drawingml/2006/main">
              <a:ext uri="{FF2B5EF4-FFF2-40B4-BE49-F238E27FC236}">
                <a16:creationId xmlns:a16="http://schemas.microsoft.com/office/drawing/2014/main" id="{171D41AA-465A-49E7-9CDC-816D5381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486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9" name="roadmap-dot-3">
            <a:extLst xmlns:a="http://schemas.openxmlformats.org/drawingml/2006/main">
              <a:ext uri="{FF2B5EF4-FFF2-40B4-BE49-F238E27FC236}">
                <a16:creationId xmlns:a16="http://schemas.microsoft.com/office/drawing/2014/main" id="{0A86CD33-FFBA-4E93-8728-EF6350AC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86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</p:spPr>
      </p:sp>
      <p:sp>
        <p:nvSpPr>
          <p:cNvPr id="10" name="roadmap-card-1">
            <a:extLst xmlns:a="http://schemas.openxmlformats.org/drawingml/2006/main">
              <a:ext uri="{FF2B5EF4-FFF2-40B4-BE49-F238E27FC236}">
                <a16:creationId xmlns:a16="http://schemas.microsoft.com/office/drawing/2014/main" id="{D180879C-9F06-475B-9EBD-81E7EFD2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32004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admap-card-2">
            <a:extLst xmlns:a="http://schemas.openxmlformats.org/drawingml/2006/main">
              <a:ext uri="{FF2B5EF4-FFF2-40B4-BE49-F238E27FC236}">
                <a16:creationId xmlns:a16="http://schemas.microsoft.com/office/drawing/2014/main" id="{4C663CFE-4204-4F7D-924A-58A56E82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66850"/>
            <a:ext cx="32004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oadmap-card-3">
            <a:extLst xmlns:a="http://schemas.openxmlformats.org/drawingml/2006/main">
              <a:ext uri="{FF2B5EF4-FFF2-40B4-BE49-F238E27FC236}">
                <a16:creationId xmlns:a16="http://schemas.microsoft.com/office/drawing/2014/main" id="{E87A756F-6E71-46A0-87AA-FD23B448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66850"/>
            <a:ext cx="35814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oadmap-1-title">
            <a:extLst xmlns:a="http://schemas.openxmlformats.org/drawingml/2006/main">
              <a:ext uri="{FF2B5EF4-FFF2-40B4-BE49-F238E27FC236}">
                <a16:creationId xmlns:a16="http://schemas.microsoft.com/office/drawing/2014/main" id="{4758857D-CC70-499E-974B-F7304E6D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716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AGUSTUS 2026</a:t>
            </a:r>
          </a:p>
        </p:txBody>
      </p:sp>
      <p:sp>
        <p:nvSpPr>
          <p:cNvPr id="14" name="roadmap-1-body">
            <a:extLst xmlns:a="http://schemas.openxmlformats.org/drawingml/2006/main">
              <a:ext uri="{FF2B5EF4-FFF2-40B4-BE49-F238E27FC236}">
                <a16:creationId xmlns:a16="http://schemas.microsoft.com/office/drawing/2014/main" id="{8C5121C7-990D-4642-8C66-BB347629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2628900" cy="1847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Enam keputusan internal
• RFI terkonsolidasi
• Datasheet + measurement plan
• Pre-survey pack dan permit request</a:t>
            </a:r>
          </a:p>
        </p:txBody>
      </p:sp>
      <p:sp>
        <p:nvSpPr>
          <p:cNvPr id="15" name="roadmap-2-title">
            <a:extLst xmlns:a="http://schemas.openxmlformats.org/drawingml/2006/main">
              <a:ext uri="{FF2B5EF4-FFF2-40B4-BE49-F238E27FC236}">
                <a16:creationId xmlns:a16="http://schemas.microsoft.com/office/drawing/2014/main" id="{43549032-7A7F-452F-84C1-F6A3875F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71650"/>
            <a:ext cx="2628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SEPTEMBER 2026</a:t>
            </a:r>
          </a:p>
        </p:txBody>
      </p:sp>
      <p:sp>
        <p:nvSpPr>
          <p:cNvPr id="16" name="roadmap-2-body">
            <a:extLst xmlns:a="http://schemas.openxmlformats.org/drawingml/2006/main">
              <a:ext uri="{FF2B5EF4-FFF2-40B4-BE49-F238E27FC236}">
                <a16:creationId xmlns:a16="http://schemas.microsoft.com/office/drawing/2014/main" id="{F5BBF9F5-D8C3-4938-8E66-44F162F0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43150"/>
            <a:ext cx="2628900" cy="1847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Survey dimensi/HSE/RF/jaringan
• Freeze phase-1 interface
• Support, cable, pole, drawing/BOM
• Submit sebelum akhir bulan</a:t>
            </a:r>
          </a:p>
        </p:txBody>
      </p:sp>
      <p:sp>
        <p:nvSpPr>
          <p:cNvPr id="17" name="roadmap-3-title">
            <a:extLst xmlns:a="http://schemas.openxmlformats.org/drawingml/2006/main">
              <a:ext uri="{FF2B5EF4-FFF2-40B4-BE49-F238E27FC236}">
                <a16:creationId xmlns:a16="http://schemas.microsoft.com/office/drawing/2014/main" id="{1F6AEACE-AAA3-4AD4-8D0F-90D326D1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71650"/>
            <a:ext cx="300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OKT 2026 → SEP 2027</a:t>
            </a:r>
          </a:p>
        </p:txBody>
      </p:sp>
      <p:sp>
        <p:nvSpPr>
          <p:cNvPr id="18" name="roadmap-3-body">
            <a:extLst xmlns:a="http://schemas.openxmlformats.org/drawingml/2006/main">
              <a:ext uri="{FF2B5EF4-FFF2-40B4-BE49-F238E27FC236}">
                <a16:creationId xmlns:a16="http://schemas.microsoft.com/office/drawing/2014/main" id="{6E42E576-CBD0-4962-9B44-605AD608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43150"/>
            <a:ext cx="300990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• Design closure + FAT
• Certification workstream
• Contract, installation, IT onboarding
• SAT, soak, training, handover
• Field acceptance target</a:t>
            </a:r>
          </a:p>
        </p:txBody>
      </p:sp>
      <p:sp>
        <p:nvSpPr>
          <p:cNvPr id="19" name="roadmap-label-1">
            <a:extLst xmlns:a="http://schemas.openxmlformats.org/drawingml/2006/main">
              <a:ext uri="{FF2B5EF4-FFF2-40B4-BE49-F238E27FC236}">
                <a16:creationId xmlns:a16="http://schemas.microsoft.com/office/drawing/2014/main" id="{3CC64D30-8391-4462-A7AB-2F0789EF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DECISION PACK</a:t>
            </a:r>
          </a:p>
        </p:txBody>
      </p:sp>
      <p:sp>
        <p:nvSpPr>
          <p:cNvPr id="20" name="roadmap-label-2">
            <a:extLst xmlns:a="http://schemas.openxmlformats.org/drawingml/2006/main">
              <a:ext uri="{FF2B5EF4-FFF2-40B4-BE49-F238E27FC236}">
                <a16:creationId xmlns:a16="http://schemas.microsoft.com/office/drawing/2014/main" id="{E66DD53D-9493-46B7-BB9A-7BA6E29C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82930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SUPPORT PACKAGE</a:t>
            </a:r>
          </a:p>
        </p:txBody>
      </p:sp>
      <p:sp>
        <p:nvSpPr>
          <p:cNvPr id="21" name="roadmap-label-3">
            <a:extLst xmlns:a="http://schemas.openxmlformats.org/drawingml/2006/main">
              <a:ext uri="{FF2B5EF4-FFF2-40B4-BE49-F238E27FC236}">
                <a16:creationId xmlns:a16="http://schemas.microsoft.com/office/drawing/2014/main" id="{47F20287-BC89-464D-8392-A2AE3AF2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82930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READY → ACCEPTED</a:t>
            </a:r>
          </a:p>
        </p:txBody>
      </p:sp>
    </p:spTree>
    <p:extLst>
      <p:ext uri="{BB962C8B-B14F-4D97-AF65-F5344CB8AC3E}">
        <p14:creationId xmlns:p14="http://schemas.microsoft.com/office/powerpoint/2010/main" val="2685849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15">
            <a:extLst xmlns:a="http://schemas.openxmlformats.org/drawingml/2006/main">
              <a:ext uri="{FF2B5EF4-FFF2-40B4-BE49-F238E27FC236}">
                <a16:creationId xmlns:a16="http://schemas.microsoft.com/office/drawing/2014/main" id="{368DCEE2-BDFB-433E-994B-F7C09DBD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RESPONSIBILITY SPLIT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B67D2CD2-CDDA-42CF-8E0E-32398B26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Ownership ditetapkan per organisasi</a:t>
            </a:r>
          </a:p>
        </p:txBody>
      </p:sp>
      <p:sp>
        <p:nvSpPr>
          <p:cNvPr id="3" name="footer-rule-15">
            <a:extLst xmlns:a="http://schemas.openxmlformats.org/drawingml/2006/main">
              <a:ext uri="{FF2B5EF4-FFF2-40B4-BE49-F238E27FC236}">
                <a16:creationId xmlns:a16="http://schemas.microsoft.com/office/drawing/2014/main" id="{D52C08A0-A98F-4F87-B91B-2A4F0549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15">
            <a:extLst xmlns:a="http://schemas.openxmlformats.org/drawingml/2006/main">
              <a:ext uri="{FF2B5EF4-FFF2-40B4-BE49-F238E27FC236}">
                <a16:creationId xmlns:a16="http://schemas.microsoft.com/office/drawing/2014/main" id="{3AE0D565-AD4C-4A06-A274-64E70E55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15">
            <a:extLst xmlns:a="http://schemas.openxmlformats.org/drawingml/2006/main">
              <a:ext uri="{FF2B5EF4-FFF2-40B4-BE49-F238E27FC236}">
                <a16:creationId xmlns:a16="http://schemas.microsoft.com/office/drawing/2014/main" id="{BBA0C08C-EB66-40F5-A100-8E89BD8D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15</a:t>
            </a:r>
          </a:p>
        </p:txBody>
      </p:sp>
      <p:sp>
        <p:nvSpPr>
          <p:cNvPr id="6" name="ownership-intro">
            <a:extLst xmlns:a="http://schemas.openxmlformats.org/drawingml/2006/main">
              <a:ext uri="{FF2B5EF4-FFF2-40B4-BE49-F238E27FC236}">
                <a16:creationId xmlns:a16="http://schemas.microsoft.com/office/drawing/2014/main" id="{10298161-2BE5-4146-9DEF-24C69890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38250"/>
            <a:ext cx="11201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Nama individual dan signatory harus disahkan; tidak disimpulkan dari audio tanpa diarization.</a:t>
            </a:r>
          </a:p>
        </p:txBody>
      </p:sp>
      <p:sp>
        <p:nvSpPr>
          <p:cNvPr id="7" name="owner-lgu">
            <a:extLst xmlns:a="http://schemas.openxmlformats.org/drawingml/2006/main">
              <a:ext uri="{FF2B5EF4-FFF2-40B4-BE49-F238E27FC236}">
                <a16:creationId xmlns:a16="http://schemas.microsoft.com/office/drawing/2014/main" id="{D015F086-DB72-4F7E-AE92-C82165D4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43100"/>
            <a:ext cx="33337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wner-pertamina">
            <a:extLst xmlns:a="http://schemas.openxmlformats.org/drawingml/2006/main">
              <a:ext uri="{FF2B5EF4-FFF2-40B4-BE49-F238E27FC236}">
                <a16:creationId xmlns:a16="http://schemas.microsoft.com/office/drawing/2014/main" id="{35ADB863-4DD3-43ED-9AC9-F143D2BA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43100"/>
            <a:ext cx="33337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wner-vendor">
            <a:extLst xmlns:a="http://schemas.openxmlformats.org/drawingml/2006/main">
              <a:ext uri="{FF2B5EF4-FFF2-40B4-BE49-F238E27FC236}">
                <a16:creationId xmlns:a16="http://schemas.microsoft.com/office/drawing/2014/main" id="{C6F8AD4F-A4AE-4451-A4D1-DD2C27D8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43100"/>
            <a:ext cx="33337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wner-lgu-title">
            <a:extLst xmlns:a="http://schemas.openxmlformats.org/drawingml/2006/main">
              <a:ext uri="{FF2B5EF4-FFF2-40B4-BE49-F238E27FC236}">
                <a16:creationId xmlns:a16="http://schemas.microsoft.com/office/drawing/2014/main" id="{FAF1D51F-5382-4DA1-BD5B-D88E09EE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276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LGU</a:t>
            </a:r>
          </a:p>
        </p:txBody>
      </p:sp>
      <p:sp>
        <p:nvSpPr>
          <p:cNvPr id="11" name="owner-lgu-body">
            <a:extLst xmlns:a="http://schemas.openxmlformats.org/drawingml/2006/main">
              <a:ext uri="{FF2B5EF4-FFF2-40B4-BE49-F238E27FC236}">
                <a16:creationId xmlns:a16="http://schemas.microsoft.com/office/drawing/2014/main" id="{C6CDE552-B453-4BA7-9BBB-F3813645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27622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 / A untuk:
• Device datasheet dan BOM
• GLD power/FAT dan CH energy
• Gateway config/test support
• Server package dan runbook
• Controlled design dossier</a:t>
            </a:r>
          </a:p>
        </p:txBody>
      </p:sp>
      <p:sp>
        <p:nvSpPr>
          <p:cNvPr id="12" name="owner-pertamina-title">
            <a:extLst xmlns:a="http://schemas.openxmlformats.org/drawingml/2006/main">
              <a:ext uri="{FF2B5EF4-FFF2-40B4-BE49-F238E27FC236}">
                <a16:creationId xmlns:a16="http://schemas.microsoft.com/office/drawing/2014/main" id="{BA12C8D5-78C6-4084-A728-0072C960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47900"/>
            <a:ext cx="276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PERTAMINA</a:t>
            </a:r>
          </a:p>
        </p:txBody>
      </p:sp>
      <p:sp>
        <p:nvSpPr>
          <p:cNvPr id="13" name="owner-pertamina-body">
            <a:extLst xmlns:a="http://schemas.openxmlformats.org/drawingml/2006/main">
              <a:ext uri="{FF2B5EF4-FFF2-40B4-BE49-F238E27FC236}">
                <a16:creationId xmlns:a16="http://schemas.microsoft.com/office/drawing/2014/main" id="{5C34E6FB-F779-42D6-9880-05ED889F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27622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 / C untuk:
• Area classification dan HSE basis
• Site power, cable, structure
• Permit, contractor, installation
• IT platform, VLAN/firewall/policy
• Acceptance dan sign-off</a:t>
            </a:r>
          </a:p>
        </p:txBody>
      </p:sp>
      <p:sp>
        <p:nvSpPr>
          <p:cNvPr id="14" name="owner-vendor-title">
            <a:extLst xmlns:a="http://schemas.openxmlformats.org/drawingml/2006/main">
              <a:ext uri="{FF2B5EF4-FFF2-40B4-BE49-F238E27FC236}">
                <a16:creationId xmlns:a16="http://schemas.microsoft.com/office/drawing/2014/main" id="{19FA270E-D5DA-4788-8ED6-93BEE0B9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47900"/>
            <a:ext cx="2762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VENDOR / ExCB</a:t>
            </a:r>
          </a:p>
        </p:txBody>
      </p:sp>
      <p:sp>
        <p:nvSpPr>
          <p:cNvPr id="15" name="owner-vendor-body">
            <a:extLst xmlns:a="http://schemas.openxmlformats.org/drawingml/2006/main">
              <a:ext uri="{FF2B5EF4-FFF2-40B4-BE49-F238E27FC236}">
                <a16:creationId xmlns:a16="http://schemas.microsoft.com/office/drawing/2014/main" id="{AECB77D6-256A-482D-A26F-C5FAA240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76550"/>
            <a:ext cx="27622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217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R / C untuk:
• Exact part dan certificate data
• Assessment/test schedule
• Certificate scope dan conditions
• Battery/solar/enclosure evidence
• Inspection support</a:t>
            </a:r>
          </a:p>
        </p:txBody>
      </p:sp>
      <p:sp>
        <p:nvSpPr>
          <p:cNvPr id="16" name="ownership-key">
            <a:extLst xmlns:a="http://schemas.openxmlformats.org/drawingml/2006/main">
              <a:ext uri="{FF2B5EF4-FFF2-40B4-BE49-F238E27FC236}">
                <a16:creationId xmlns:a16="http://schemas.microsoft.com/office/drawing/2014/main" id="{BC9407B0-7B71-4045-A0AA-92C779CB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72150"/>
            <a:ext cx="11201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R = Responsible • A = Accountable • C = Consulted</a:t>
            </a:r>
          </a:p>
        </p:txBody>
      </p:sp>
    </p:spTree>
    <p:extLst>
      <p:ext uri="{BB962C8B-B14F-4D97-AF65-F5344CB8AC3E}">
        <p14:creationId xmlns:p14="http://schemas.microsoft.com/office/powerpoint/2010/main" val="21334585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ection-16">
            <a:extLst xmlns:a="http://schemas.openxmlformats.org/drawingml/2006/main">
              <a:ext uri="{FF2B5EF4-FFF2-40B4-BE49-F238E27FC236}">
                <a16:creationId xmlns:a16="http://schemas.microsoft.com/office/drawing/2014/main" id="{D617E9F0-C3D2-40F8-A7CF-75F4AC62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4572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DECISION REQUEST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12C1A9DB-8B8D-40B2-B890-4C34F2CC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11201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Enam keputusan untuk mulai bergerak</a:t>
            </a:r>
          </a:p>
        </p:txBody>
      </p:sp>
      <p:sp>
        <p:nvSpPr>
          <p:cNvPr id="3" name="footer-rule-16">
            <a:extLst xmlns:a="http://schemas.openxmlformats.org/drawingml/2006/main">
              <a:ext uri="{FF2B5EF4-FFF2-40B4-BE49-F238E27FC236}">
                <a16:creationId xmlns:a16="http://schemas.microsoft.com/office/drawing/2014/main" id="{D8CC925A-A9C4-44CC-ACC9-A16CA029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1201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footer-left-16">
            <a:extLst xmlns:a="http://schemas.openxmlformats.org/drawingml/2006/main">
              <a:ext uri="{FF2B5EF4-FFF2-40B4-BE49-F238E27FC236}">
                <a16:creationId xmlns:a16="http://schemas.microsoft.com/office/drawing/2014/main" id="{E945D97B-17C7-4D7C-B21F-44308EAF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INTERNAL • 18 AGUSTUS 2026</a:t>
            </a:r>
          </a:p>
        </p:txBody>
      </p:sp>
      <p:sp>
        <p:nvSpPr>
          <p:cNvPr id="5" name="footer-number-16">
            <a:extLst xmlns:a="http://schemas.openxmlformats.org/drawingml/2006/main">
              <a:ext uri="{FF2B5EF4-FFF2-40B4-BE49-F238E27FC236}">
                <a16:creationId xmlns:a16="http://schemas.microsoft.com/office/drawing/2014/main" id="{98113889-ACB5-44F2-9E3D-5533B5D5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7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16</a:t>
            </a:r>
          </a:p>
        </p:txBody>
      </p:sp>
      <p:sp>
        <p:nvSpPr>
          <p:cNvPr id="6" name="decision-intro">
            <a:extLst xmlns:a="http://schemas.openxmlformats.org/drawingml/2006/main">
              <a:ext uri="{FF2B5EF4-FFF2-40B4-BE49-F238E27FC236}">
                <a16:creationId xmlns:a16="http://schemas.microsoft.com/office/drawing/2014/main" id="{59EAF7EB-340A-4F93-A9B1-C7104AA5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11201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Setiap keputusan harus menghasilkan owner, due date, dan evidence gate.</a:t>
            </a:r>
          </a:p>
        </p:txBody>
      </p:sp>
      <p:sp>
        <p:nvSpPr>
          <p:cNvPr id="7" name="decision-1-num">
            <a:extLst xmlns:a="http://schemas.openxmlformats.org/drawingml/2006/main">
              <a:ext uri="{FF2B5EF4-FFF2-40B4-BE49-F238E27FC236}">
                <a16:creationId xmlns:a16="http://schemas.microsoft.com/office/drawing/2014/main" id="{A20C6BD7-F53D-4175-9CCE-FB689953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8" name="decision-1">
            <a:extLst xmlns:a="http://schemas.openxmlformats.org/drawingml/2006/main">
              <a:ext uri="{FF2B5EF4-FFF2-40B4-BE49-F238E27FC236}">
                <a16:creationId xmlns:a16="http://schemas.microsoft.com/office/drawing/2014/main" id="{37296F42-E817-494B-BA64-B53A1E84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240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Setujui 24 VDC/2 A provisional dan closure proteksi input GLD.</a:t>
            </a:r>
          </a:p>
        </p:txBody>
      </p:sp>
      <p:sp>
        <p:nvSpPr>
          <p:cNvPr id="9" name="decision-2-num">
            <a:extLst xmlns:a="http://schemas.openxmlformats.org/drawingml/2006/main">
              <a:ext uri="{FF2B5EF4-FFF2-40B4-BE49-F238E27FC236}">
                <a16:creationId xmlns:a16="http://schemas.microsoft.com/office/drawing/2014/main" id="{6DEAC38E-611A-4B02-8B47-74F2FC8C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003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decision-2">
            <a:extLst xmlns:a="http://schemas.openxmlformats.org/drawingml/2006/main">
              <a:ext uri="{FF2B5EF4-FFF2-40B4-BE49-F238E27FC236}">
                <a16:creationId xmlns:a16="http://schemas.microsoft.com/office/drawing/2014/main" id="{968F7305-04E8-480A-B994-45E897C4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035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Pertahankan safety hold; trial hanya pada titik tertulis non-hazardous.</a:t>
            </a:r>
          </a:p>
        </p:txBody>
      </p:sp>
      <p:sp>
        <p:nvSpPr>
          <p:cNvPr id="11" name="decision-3-num">
            <a:extLst xmlns:a="http://schemas.openxmlformats.org/drawingml/2006/main">
              <a:ext uri="{FF2B5EF4-FFF2-40B4-BE49-F238E27FC236}">
                <a16:creationId xmlns:a16="http://schemas.microsoft.com/office/drawing/2014/main" id="{F321FCE9-318A-4B8A-AB08-626E9049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528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2" name="decision-3">
            <a:extLst xmlns:a="http://schemas.openxmlformats.org/drawingml/2006/main">
              <a:ext uri="{FF2B5EF4-FFF2-40B4-BE49-F238E27FC236}">
                <a16:creationId xmlns:a16="http://schemas.microsoft.com/office/drawing/2014/main" id="{3DBA3EE3-02FE-40F7-94E5-343CA278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5285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Pilih arah TLS end-to-end atau exception terisolasi yang formal.</a:t>
            </a:r>
          </a:p>
        </p:txBody>
      </p:sp>
      <p:sp>
        <p:nvSpPr>
          <p:cNvPr id="13" name="decision-4-num">
            <a:extLst xmlns:a="http://schemas.openxmlformats.org/drawingml/2006/main">
              <a:ext uri="{FF2B5EF4-FFF2-40B4-BE49-F238E27FC236}">
                <a16:creationId xmlns:a16="http://schemas.microsoft.com/office/drawing/2014/main" id="{17FA11C4-004E-4836-8472-AD483F93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4" name="decision-4">
            <a:extLst xmlns:a="http://schemas.openxmlformats.org/drawingml/2006/main">
              <a:ext uri="{FF2B5EF4-FFF2-40B4-BE49-F238E27FC236}">
                <a16:creationId xmlns:a16="http://schemas.microsoft.com/office/drawing/2014/main" id="{5092C4C7-09B6-46CE-A522-AFA55675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24050"/>
            <a:ext cx="4476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Approve baseline server pilot dan owner platform/operations.</a:t>
            </a:r>
          </a:p>
        </p:txBody>
      </p:sp>
      <p:sp>
        <p:nvSpPr>
          <p:cNvPr id="15" name="decision-5-num">
            <a:extLst xmlns:a="http://schemas.openxmlformats.org/drawingml/2006/main">
              <a:ext uri="{FF2B5EF4-FFF2-40B4-BE49-F238E27FC236}">
                <a16:creationId xmlns:a16="http://schemas.microsoft.com/office/drawing/2014/main" id="{7E7C50CA-76B8-4D1D-98B5-C326F8F9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003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16" name="decision-5">
            <a:extLst xmlns:a="http://schemas.openxmlformats.org/drawingml/2006/main">
              <a:ext uri="{FF2B5EF4-FFF2-40B4-BE49-F238E27FC236}">
                <a16:creationId xmlns:a16="http://schemas.microsoft.com/office/drawing/2014/main" id="{C8535704-55E4-4100-ABB8-D7E92A00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0035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Konfirmasi isi support pack akhir September dan agenda next survey.</a:t>
            </a:r>
          </a:p>
        </p:txBody>
      </p:sp>
      <p:sp>
        <p:nvSpPr>
          <p:cNvPr id="17" name="decision-6-num">
            <a:extLst xmlns:a="http://schemas.openxmlformats.org/drawingml/2006/main">
              <a:ext uri="{FF2B5EF4-FFF2-40B4-BE49-F238E27FC236}">
                <a16:creationId xmlns:a16="http://schemas.microsoft.com/office/drawing/2014/main" id="{0A1212C2-5F14-48B1-928B-846F2086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528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18" name="decision-6">
            <a:extLst xmlns:a="http://schemas.openxmlformats.org/drawingml/2006/main">
              <a:ext uri="{FF2B5EF4-FFF2-40B4-BE49-F238E27FC236}">
                <a16:creationId xmlns:a16="http://schemas.microsoft.com/office/drawing/2014/main" id="{922D7890-92D5-425D-B927-2AD7A964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5285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Tetapkan accountable owner dan signatory untuk setiap workstream.</a:t>
            </a:r>
          </a:p>
        </p:txBody>
      </p:sp>
      <p:sp>
        <p:nvSpPr>
          <p:cNvPr id="19" name="decision-output">
            <a:extLst xmlns:a="http://schemas.openxmlformats.org/drawingml/2006/main">
              <a:ext uri="{FF2B5EF4-FFF2-40B4-BE49-F238E27FC236}">
                <a16:creationId xmlns:a16="http://schemas.microsoft.com/office/drawing/2014/main" id="{7DFF271E-5413-436B-B579-5A6D61A6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11201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ecision-output-title">
            <a:extLst xmlns:a="http://schemas.openxmlformats.org/drawingml/2006/main">
              <a:ext uri="{FF2B5EF4-FFF2-40B4-BE49-F238E27FC236}">
                <a16:creationId xmlns:a16="http://schemas.microsoft.com/office/drawing/2014/main" id="{70421F8E-B94F-4F51-91D8-2AC12BB6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OUTPUT RAPAT</a:t>
            </a:r>
          </a:p>
        </p:txBody>
      </p:sp>
      <p:sp>
        <p:nvSpPr>
          <p:cNvPr id="21" name="decision-output-body">
            <a:extLst xmlns:a="http://schemas.openxmlformats.org/drawingml/2006/main">
              <a:ext uri="{FF2B5EF4-FFF2-40B4-BE49-F238E27FC236}">
                <a16:creationId xmlns:a16="http://schemas.microsoft.com/office/drawing/2014/main" id="{B4D2476C-9AAD-478E-8EAE-3B482189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181600"/>
            <a:ext cx="8534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6567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Decision log • owner organisasi • due date • acceptance authority • bukti penutupan</a:t>
            </a:r>
          </a:p>
        </p:txBody>
      </p:sp>
      <p:sp>
        <p:nvSpPr>
          <p:cNvPr id="22" name="decision-output-note">
            <a:extLst xmlns:a="http://schemas.openxmlformats.org/drawingml/2006/main">
              <a:ext uri="{FF2B5EF4-FFF2-40B4-BE49-F238E27FC236}">
                <a16:creationId xmlns:a16="http://schemas.microsoft.com/office/drawing/2014/main" id="{49434BDD-B872-4CA0-B9FF-BFA42106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619750"/>
            <a:ext cx="853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Dengan enam keputusan ini, tim dapat bergerak tanpa mengubah asumsi menjadi klaim readiness.</a:t>
            </a:r>
          </a:p>
        </p:txBody>
      </p:sp>
    </p:spTree>
    <p:extLst>
      <p:ext uri="{BB962C8B-B14F-4D97-AF65-F5344CB8AC3E}">
        <p14:creationId xmlns:p14="http://schemas.microsoft.com/office/powerpoint/2010/main" val="1532482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2026-08-18T14:37:21.0990000Z</dcterms:created>
  <dcterms:modified xsi:type="dcterms:W3CDTF">2026-08-18T14:37:21.0990000Z</dcterms:modified>
</coreProperties>
</file>
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480f50bdc74762" /><Relationship Type="http://schemas.openxmlformats.org/officeDocument/2006/relationships/extended-properties" Target="/docProps/app.xml" Id="R93a200faa34040db" /><Relationship Type="http://schemas.openxmlformats.org/officeDocument/2006/relationships/officeDocument" Target="/ppt/presentation.xml" Id="Ra0c6bf1574e846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b66e710af844e7"/>
  </p:sldMasterIdLst>
  <p:notesMasterIdLst>
    <p:notesMasterId xmlns:r="http://schemas.openxmlformats.org/officeDocument/2006/relationships" r:id="R30f682898cb64905"/>
  </p:notesMasterIdLst>
  <p:sldIdLst>
    <p:sldId xmlns:r="http://schemas.openxmlformats.org/officeDocument/2006/relationships" id="256" r:id="Rb08f8720acb8415e"/>
    <p:sldId xmlns:r="http://schemas.openxmlformats.org/officeDocument/2006/relationships" id="257" r:id="R9bc039e70fa6451a"/>
    <p:sldId xmlns:r="http://schemas.openxmlformats.org/officeDocument/2006/relationships" id="258" r:id="Rf3a6e08e684f47d4"/>
    <p:sldId xmlns:r="http://schemas.openxmlformats.org/officeDocument/2006/relationships" id="259" r:id="R1163031277364db4"/>
    <p:sldId xmlns:r="http://schemas.openxmlformats.org/officeDocument/2006/relationships" id="260" r:id="Ref21b056959a4d75"/>
    <p:sldId xmlns:r="http://schemas.openxmlformats.org/officeDocument/2006/relationships" id="261" r:id="R31b35842db9f4353"/>
    <p:sldId xmlns:r="http://schemas.openxmlformats.org/officeDocument/2006/relationships" id="262" r:id="Rcff2ffeee9054ec3"/>
    <p:sldId xmlns:r="http://schemas.openxmlformats.org/officeDocument/2006/relationships" id="263" r:id="Ra719eca3735b44b7"/>
    <p:sldId xmlns:r="http://schemas.openxmlformats.org/officeDocument/2006/relationships" id="264" r:id="R994eb0721c604fb6"/>
    <p:sldId xmlns:r="http://schemas.openxmlformats.org/officeDocument/2006/relationships" id="265" r:id="R4dd418ebdcd441cb"/>
    <p:sldId xmlns:r="http://schemas.openxmlformats.org/officeDocument/2006/relationships" id="266" r:id="R7be463195e6549e9"/>
    <p:sldId xmlns:r="http://schemas.openxmlformats.org/officeDocument/2006/relationships" id="267" r:id="R4396c99a778c4223"/>
    <p:sldId xmlns:r="http://schemas.openxmlformats.org/officeDocument/2006/relationships" id="268" r:id="R6165961ef37a46d4"/>
    <p:sldId xmlns:r="http://schemas.openxmlformats.org/officeDocument/2006/relationships" id="269" r:id="R6872b25eecfc4546"/>
    <p:sldId xmlns:r="http://schemas.openxmlformats.org/officeDocument/2006/relationships" id="270" r:id="R4f9ca473fd004807"/>
    <p:sldId xmlns:r="http://schemas.openxmlformats.org/officeDocument/2006/relationships" id="271" r:id="R7f488301353547c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d318d8ce024143" /><Relationship Type="http://schemas.openxmlformats.org/officeDocument/2006/relationships/slideMaster" Target="/ppt/slideMasters/slideMaster1.xml" Id="R94b66e710af844e7" /><Relationship Type="http://schemas.openxmlformats.org/officeDocument/2006/relationships/notesMaster" Target="/ppt/notesMasters/notesMaster1.xml" Id="R30f682898cb64905" /><Relationship Type="http://schemas.openxmlformats.org/officeDocument/2006/relationships/presProps" Target="/ppt/presProps.xml" Id="R83f7a976c8f4487b" /><Relationship Type="http://schemas.openxmlformats.org/officeDocument/2006/relationships/tableStyles" Target="/ppt/tableStyles.xml" Id="R18cfd9ce7fcc4ac4" /><Relationship Type="http://schemas.openxmlformats.org/officeDocument/2006/relationships/slide" Target="/ppt/slides/slide1.xml" Id="Rb08f8720acb8415e" /><Relationship Type="http://schemas.openxmlformats.org/officeDocument/2006/relationships/slide" Target="/ppt/slides/slide2.xml" Id="R9bc039e70fa6451a" /><Relationship Type="http://schemas.openxmlformats.org/officeDocument/2006/relationships/slide" Target="/ppt/slides/slide3.xml" Id="Rf3a6e08e684f47d4" /><Relationship Type="http://schemas.openxmlformats.org/officeDocument/2006/relationships/slide" Target="/ppt/slides/slide4.xml" Id="R1163031277364db4" /><Relationship Type="http://schemas.openxmlformats.org/officeDocument/2006/relationships/slide" Target="/ppt/slides/slide5.xml" Id="Ref21b056959a4d75" /><Relationship Type="http://schemas.openxmlformats.org/officeDocument/2006/relationships/slide" Target="/ppt/slides/slide6.xml" Id="R31b35842db9f4353" /><Relationship Type="http://schemas.openxmlformats.org/officeDocument/2006/relationships/slide" Target="/ppt/slides/slide7.xml" Id="Rcff2ffeee9054ec3" /><Relationship Type="http://schemas.openxmlformats.org/officeDocument/2006/relationships/slide" Target="/ppt/slides/slide8.xml" Id="Ra719eca3735b44b7" /><Relationship Type="http://schemas.openxmlformats.org/officeDocument/2006/relationships/slide" Target="/ppt/slides/slide9.xml" Id="R994eb0721c604fb6" /><Relationship Type="http://schemas.openxmlformats.org/officeDocument/2006/relationships/slide" Target="/ppt/slides/slide10.xml" Id="R4dd418ebdcd441cb" /><Relationship Type="http://schemas.openxmlformats.org/officeDocument/2006/relationships/slide" Target="/ppt/slides/slide11.xml" Id="R7be463195e6549e9" /><Relationship Type="http://schemas.openxmlformats.org/officeDocument/2006/relationships/slide" Target="/ppt/slides/slide12.xml" Id="R4396c99a778c4223" /><Relationship Type="http://schemas.openxmlformats.org/officeDocument/2006/relationships/slide" Target="/ppt/slides/slide13.xml" Id="R6165961ef37a46d4" /><Relationship Type="http://schemas.openxmlformats.org/officeDocument/2006/relationships/slide" Target="/ppt/slides/slide14.xml" Id="R6872b25eecfc4546" /><Relationship Type="http://schemas.openxmlformats.org/officeDocument/2006/relationships/slide" Target="/ppt/slides/slide15.xml" Id="R4f9ca473fd004807" /><Relationship Type="http://schemas.openxmlformats.org/officeDocument/2006/relationships/slide" Target="/ppt/slides/slide16.xml" Id="R7f488301353547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9e13b791ac4a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1e86cd8797457c" /><Relationship Type="http://schemas.openxmlformats.org/officeDocument/2006/relationships/notesMaster" Target="/ppt/notesMasters/notesMaster1.xml" Id="R84d69d7a120e46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7e63879c3e40cb" /><Relationship Type="http://schemas.openxmlformats.org/officeDocument/2006/relationships/notesMaster" Target="/ppt/notesMasters/notesMaster1.xml" Id="Rddf4d13d3b9249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5805811e604f9c" /><Relationship Type="http://schemas.openxmlformats.org/officeDocument/2006/relationships/notesMaster" Target="/ppt/notesMasters/notesMaster1.xml" Id="R47cb78449cfc40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b2cd526e1f44d7" /><Relationship Type="http://schemas.openxmlformats.org/officeDocument/2006/relationships/notesMaster" Target="/ppt/notesMasters/notesMaster1.xml" Id="R4bfe000324e946e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b8066dc79b46ae" /><Relationship Type="http://schemas.openxmlformats.org/officeDocument/2006/relationships/notesMaster" Target="/ppt/notesMasters/notesMaster1.xml" Id="R5af0a21837c14b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ea90f73d34e4876" /><Relationship Type="http://schemas.openxmlformats.org/officeDocument/2006/relationships/notesMaster" Target="/ppt/notesMasters/notesMaster1.xml" Id="R1459c603b4df4e8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d9bbb81ccc42af" /><Relationship Type="http://schemas.openxmlformats.org/officeDocument/2006/relationships/notesMaster" Target="/ppt/notesMasters/notesMaster1.xml" Id="R8b57e1a91747450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337d6b2178248d8" /><Relationship Type="http://schemas.openxmlformats.org/officeDocument/2006/relationships/notesMaster" Target="/ppt/notesMasters/notesMaster1.xml" Id="R255f4460b34f48f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f03dbc3f45c41de" /><Relationship Type="http://schemas.openxmlformats.org/officeDocument/2006/relationships/notesMaster" Target="/ppt/notesMasters/notesMaster1.xml" Id="Ra1eb111bb33b46e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c26edce68d241e4" /><Relationship Type="http://schemas.openxmlformats.org/officeDocument/2006/relationships/notesMaster" Target="/ppt/notesMasters/notesMaster1.xml" Id="R2c5f0d08b7ea434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247e522890246c8" /><Relationship Type="http://schemas.openxmlformats.org/officeDocument/2006/relationships/notesMaster" Target="/ppt/notesMasters/notesMaster1.xml" Id="Rb0f51891d8044e1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9c633c8592944c2" /><Relationship Type="http://schemas.openxmlformats.org/officeDocument/2006/relationships/notesMaster" Target="/ppt/notesMasters/notesMaster1.xml" Id="R2096d9a09dde4fd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438e5f61531424b" /><Relationship Type="http://schemas.openxmlformats.org/officeDocument/2006/relationships/notesMaster" Target="/ppt/notesMasters/notesMaster1.xml" Id="Red6b3b07d67f4bb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4b00b2457344b29" /><Relationship Type="http://schemas.openxmlformats.org/officeDocument/2006/relationships/notesMaster" Target="/ppt/notesMasters/notesMaster1.xml" Id="R162cda472fae4ac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9e904dca85d44bc" /><Relationship Type="http://schemas.openxmlformats.org/officeDocument/2006/relationships/notesMaster" Target="/ppt/notesMasters/notesMaster1.xml" Id="R9b3f0db3966541d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1b08396db1748f8" /><Relationship Type="http://schemas.openxmlformats.org/officeDocument/2006/relationships/notesMaster" Target="/ppt/notesMasters/notesMaster1.xml" Id="R4196fb00436f47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Konfirmasi pengguna, 19 Agustus 2026.</a:t>
            </a:r>
          </a:p>
          <a:p xmlns:a="http://schemas.openxmlformats.org/drawingml/2006/main">
            <a:r>
              <a:t>- Rekaman dan catatan meeting.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Konfirmasi pengguna, 19 Agustus 2026.</a:t>
            </a:r>
          </a:p>
          <a:p xmlns:a="http://schemas.openxmlformats.org/drawingml/2006/main">
            <a:r>
              <a:t>- Sintesis pembahasan program Kilang Cilacap.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Konfirmasi pengguna, 19 Agustus 2026.</a:t>
            </a:r>
          </a:p>
          <a:p xmlns:a="http://schemas.openxmlformats.org/drawingml/2006/main">
            <a:r>
              <a:t>- Rekaman dan catatan meeting.</a:t>
            </a:r>
          </a:p>
          <a:p xmlns:a="http://schemas.openxmlformats.org/drawingml/2006/main">
            <a:r>
              <a:t>- Acuan tanggal: 10 Agustus 2026; frasa tiga minggu merujuk pada rencana kunjungan.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Konfirmasi pengguna, 19 Agustus 2026.</a:t>
            </a:r>
          </a:p>
          <a:p xmlns:a="http://schemas.openxmlformats.org/drawingml/2006/main">
            <a:r>
              <a:t>- Audit rangkaian, desain PCB, dan firmware.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Konfirmasi pengguna, 19 Agustus 2026.</a:t>
            </a:r>
          </a:p>
          <a:p xmlns:a="http://schemas.openxmlformats.org/drawingml/2006/main">
            <a:r>
              <a:t>- Rekaman dan catatan meeting.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Konfirmasi pengguna, 19 Agustus 2026: catu GLD 24 VDC/2 A dan ruang lingkup 3 unit.</a:t>
            </a:r>
          </a:p>
          <a:p xmlns:a="http://schemas.openxmlformats.org/drawingml/2006/main">
            <a:r>
              <a:t>- Audit rangkaian dan desain PCB: komponen proteksi bertanda 16 V berada pada jalur input 24 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Konfirmasi pengguna, 19 Agustus 2026.</a:t>
            </a:r>
          </a:p>
          <a:p xmlns:a="http://schemas.openxmlformats.org/drawingml/2006/main">
            <a:r>
              <a:t>- Audit rangkaian, desain PCB, dan rencana FAT internal.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Konfirmasi pengguna, 19 Agustus 2026: 1 baterai LiitoKala 4000 mAh dan 2 panel 6 W per CH.</a:t>
            </a:r>
          </a:p>
          <a:p xmlns:a="http://schemas.openxmlformats.org/drawingml/2006/main">
            <a:r>
              <a:t>- Audit rangkaian, desain PCB, dan firmware 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Konfirmasi pengguna, 19 Agustus 2026: topik Gateway, jaringan, dan server belum dibahas atau disepakati.</a:t>
            </a:r>
          </a:p>
          <a:p xmlns:a="http://schemas.openxmlformats.org/drawingml/2006/main">
            <a:r>
              <a:t>- Agenda teknis disusun dari arsitektur sistem dan kebutuhan onboarding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Konfirmasi pengguna, 19 Agustus 2026: keamanan jaringan menjadi bahan pembicaraan bersama tim IT.</a:t>
            </a:r>
          </a:p>
          <a:p xmlns:a="http://schemas.openxmlformats.org/drawingml/2006/main">
            <a:r>
              <a:t>- Audit firmware dan arsitektur sistem sebagai dasar agenda teknis.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Konfirmasi pengguna, 19 Agustus 2026: server dan dashboard menjadi bahan pembicaraan, bukan keputusan final.</a:t>
            </a:r>
          </a:p>
          <a:p xmlns:a="http://schemas.openxmlformats.org/drawingml/2006/main">
            <a:r>
              <a:t>- Agenda teknis disusun dari kebutuhan sistem end-to-end.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Konfirmasi pengguna, 19 Agustus 2026: lokasi berubah dari area LPG ke area SRU.</a:t>
            </a:r>
          </a:p>
          <a:p xmlns:a="http://schemas.openxmlformats.org/drawingml/2006/main">
            <a:r>
              <a:t>- Rekaman dan catatan meeting.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Konfirmasi pengguna, 19 Agustus 2026: dimensi sementara ditulis ... cm.</a:t>
            </a:r>
          </a:p>
          <a:p xmlns:a="http://schemas.openxmlformats.org/drawingml/2006/main">
            <a:r>
              <a:t>- Rekaman dan catatan meeting serta referensi survei lapangan.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Konfirmasi pengguna, 19 Agustus 2026.</a:t>
            </a:r>
          </a:p>
          <a:p xmlns:a="http://schemas.openxmlformats.org/drawingml/2006/main">
            <a:r>
              <a:t>- Rekaman dan catatan meeting.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Konfirmasi pengguna, 19 Agustus 2026: pembagian tanggung jawab organisasi tersedia.</a:t>
            </a:r>
          </a:p>
          <a:p xmlns:a="http://schemas.openxmlformats.org/drawingml/2006/main">
            <a:r>
              <a:t>- Rekaman dan catatan meeting.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Konfirmasi pengguna, 19 Agustus 2026.</a:t>
            </a:r>
          </a:p>
          <a:p xmlns:a="http://schemas.openxmlformats.org/drawingml/2006/main">
            <a:r>
              <a:t>- Rekaman dan catatan meeting.</a:t>
            </a:r>
          </a:p>
          <a:p xmlns:a="http://schemas.openxmlformats.org/drawingml/2006/main">
            <a:r>
              <a:t>- Audit rangkaian, desain PCB, dan firmware.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b73ec161e3442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1ec1b91ed0498b" /><Relationship Type="http://schemas.openxmlformats.org/officeDocument/2006/relationships/slideLayout" Target="/ppt/slideLayouts/slideLayout1.xml" Id="Raebf11610ee54c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bf11610ee54c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29a81626cf42e5" /><Relationship Type="http://schemas.openxmlformats.org/officeDocument/2006/relationships/image" Target="/ppt/media/image.png" Id="Rb2a05593bd5d4371" /><Relationship Type="http://schemas.openxmlformats.org/officeDocument/2006/relationships/notesSlide" Target="/ppt/notesSlides/notesSlide1.xml" Id="R25955ec39d7e48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bf94896ba44009" /><Relationship Type="http://schemas.openxmlformats.org/officeDocument/2006/relationships/notesSlide" Target="/ppt/notesSlides/notesSlide2.xml" Id="R2b30ddee51544c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da35f8866b4390" /><Relationship Type="http://schemas.openxmlformats.org/officeDocument/2006/relationships/image" Target="/ppt/media/image.jpeg" Id="Rdddd57ae60314ada" /><Relationship Type="http://schemas.openxmlformats.org/officeDocument/2006/relationships/notesSlide" Target="/ppt/notesSlides/notesSlide3.xml" Id="R3312412ebc5c40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7010ea9b4c401f" /><Relationship Type="http://schemas.openxmlformats.org/officeDocument/2006/relationships/notesSlide" Target="/ppt/notesSlides/notesSlide4.xml" Id="Re589f182fb0e41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51c70a702146ed" /><Relationship Type="http://schemas.openxmlformats.org/officeDocument/2006/relationships/notesSlide" Target="/ppt/notesSlides/notesSlide5.xml" Id="Rc99b7314879945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532b920e074f1a" /><Relationship Type="http://schemas.openxmlformats.org/officeDocument/2006/relationships/notesSlide" Target="/ppt/notesSlides/notesSlide6.xml" Id="R5f5041d51ece4e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3922bccd474171" /><Relationship Type="http://schemas.openxmlformats.org/officeDocument/2006/relationships/notesSlide" Target="/ppt/notesSlides/notesSlide7.xml" Id="R6cc77246999949e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dfe23c53b448e9" /><Relationship Type="http://schemas.openxmlformats.org/officeDocument/2006/relationships/image" Target="/ppt/media/image2.png" Id="R479dcb4fea2f47a9" /><Relationship Type="http://schemas.openxmlformats.org/officeDocument/2006/relationships/notesSlide" Target="/ppt/notesSlides/notesSlide8.xml" Id="R4c41dde0020247f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7b26d8cd8b41d4" /><Relationship Type="http://schemas.openxmlformats.org/officeDocument/2006/relationships/notesSlide" Target="/ppt/notesSlides/notesSlide9.xml" Id="R47f89a2fcd004dd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58440a6c144c4a" /><Relationship Type="http://schemas.openxmlformats.org/officeDocument/2006/relationships/notesSlide" Target="/ppt/notesSlides/notesSlide10.xml" Id="Rbb0a85e4292f44b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fa0da507ea4fdc" /><Relationship Type="http://schemas.openxmlformats.org/officeDocument/2006/relationships/notesSlide" Target="/ppt/notesSlides/notesSlide11.xml" Id="R7473d14ddaff41c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b2c387d2e74e4a" /><Relationship Type="http://schemas.openxmlformats.org/officeDocument/2006/relationships/notesSlide" Target="/ppt/notesSlides/notesSlide12.xml" Id="R77a2d9ba30ec4f3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4c5e2d504e43d6" /><Relationship Type="http://schemas.openxmlformats.org/officeDocument/2006/relationships/image" Target="/ppt/media/image2.jpeg" Id="R870204074ce94b00" /><Relationship Type="http://schemas.openxmlformats.org/officeDocument/2006/relationships/notesSlide" Target="/ppt/notesSlides/notesSlide13.xml" Id="R232a3ce5ce6f441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fdbfa9172f43e1" /><Relationship Type="http://schemas.openxmlformats.org/officeDocument/2006/relationships/notesSlide" Target="/ppt/notesSlides/notesSlide14.xml" Id="Rc80ecb14d2704c4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b6f894419249aa" /><Relationship Type="http://schemas.openxmlformats.org/officeDocument/2006/relationships/notesSlide" Target="/ppt/notesSlides/notesSlide15.xml" Id="Rf67519388d8546f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1d82b5c8344463" /><Relationship Type="http://schemas.openxmlformats.org/officeDocument/2006/relationships/notesSlide" Target="/ppt/notesSlides/notesSlide16.xml" Id="R64b220c84ca84c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EC560E21-3DED-43A1-A001-0ACE82F2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572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PERTAMINA • LGU | INTERNAL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B80C2C2-21FD-4FFD-AF97-150ABC4A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5381625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5397"/>
          </a:bodyPr>
          <a:lstStyle xmlns:a="http://schemas.openxmlformats.org/drawingml/2006/main"/>
          <a:p xmlns:a="http://schemas.openxmlformats.org/drawingml/2006/main">
            <a:pPr algn="l">
              <a:buNone/>
              <a:defRPr sz="52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Ringkasan Meeting</a:t>
            </a:r>
          </a:p>
          <a:p xmlns:a="http://schemas.openxmlformats.org/drawingml/2006/main">
            <a:pPr algn="l">
              <a:buNone/>
              <a:defRPr sz="52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dan Rencana Implementasi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1443D44-B74F-40F9-8692-413E3033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14750"/>
            <a:ext cx="509587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Keputusan terkonfirmasi, arsitektur, area SRU, kebutuhan site, dan rencana menuju target September 2027.</a:t>
            </a:r>
          </a:p>
        </p:txBody>
      </p:sp>
      <p:sp>
        <p:nvSpPr>
          <p:cNvPr id="4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CC4469E0-9083-4F49-90B3-01819DBE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19700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date">
            <a:extLst xmlns:a="http://schemas.openxmlformats.org/drawingml/2006/main">
              <a:ext uri="{FF2B5EF4-FFF2-40B4-BE49-F238E27FC236}">
                <a16:creationId xmlns:a16="http://schemas.microsoft.com/office/drawing/2014/main" id="{2B7FDA03-4C34-43CF-82C8-8DB293F4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0545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19 AGUSTUS 2026</a:t>
            </a:r>
          </a:p>
        </p:txBody>
      </p:sp>
      <p:sp>
        <p:nvSpPr>
          <p:cNvPr id="6" name="cover-image-backing">
            <a:extLst xmlns:a="http://schemas.openxmlformats.org/drawingml/2006/main">
              <a:ext uri="{FF2B5EF4-FFF2-40B4-BE49-F238E27FC236}">
                <a16:creationId xmlns:a16="http://schemas.microsoft.com/office/drawing/2014/main" id="{C7D385CA-BEC0-494D-94D2-47B5B77C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42925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cover-footer-rule">
            <a:extLst xmlns:a="http://schemas.openxmlformats.org/drawingml/2006/main">
              <a:ext uri="{FF2B5EF4-FFF2-40B4-BE49-F238E27FC236}">
                <a16:creationId xmlns:a16="http://schemas.microsoft.com/office/drawing/2014/main" id="{BD1CF5A0-4102-4DA4-B562-E830E1C5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1201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0F51237B-5CA4-47F2-A0F7-4FF8E2D8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INTERNAL • TERKONFIRMASI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a05593bd5d4371"/>
          <a:srcRect xmlns:a="http://schemas.openxmlformats.org/drawingml/2006/main" l="0" t="16607" r="0" b="166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7450" y="400050"/>
            <a:ext cx="5429250" cy="5600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5341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2">
            <a:extLst xmlns:a="http://schemas.openxmlformats.org/drawingml/2006/main">
              <a:ext uri="{FF2B5EF4-FFF2-40B4-BE49-F238E27FC236}">
                <a16:creationId xmlns:a16="http://schemas.microsoft.com/office/drawing/2014/main" id="{C467FF58-7561-47D7-9FC9-47B0B35B6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57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OUTLINE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EF31C73D-EEC3-41B2-AE03-C17C27CF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Outline pembahasan</a:t>
            </a:r>
          </a:p>
        </p:txBody>
      </p:sp>
      <p:sp>
        <p:nvSpPr>
          <p:cNvPr id="3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B6190B4B-5955-4059-936A-31174061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1201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footer-left-2">
            <a:extLst xmlns:a="http://schemas.openxmlformats.org/drawingml/2006/main">
              <a:ext uri="{FF2B5EF4-FFF2-40B4-BE49-F238E27FC236}">
                <a16:creationId xmlns:a16="http://schemas.microsoft.com/office/drawing/2014/main" id="{C13A977E-5F6B-47C7-A5C9-1B9D9550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INTERNAL • 19 AGUSTUS 2026</a:t>
            </a:r>
          </a:p>
        </p:txBody>
      </p:sp>
      <p:sp>
        <p:nvSpPr>
          <p:cNvPr id="5" name="footer-number-2">
            <a:extLst xmlns:a="http://schemas.openxmlformats.org/drawingml/2006/main">
              <a:ext uri="{FF2B5EF4-FFF2-40B4-BE49-F238E27FC236}">
                <a16:creationId xmlns:a16="http://schemas.microsoft.com/office/drawing/2014/main" id="{2A023EB1-5156-45B9-AE55-39C21854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6" name="outline-intro">
            <a:extLst xmlns:a="http://schemas.openxmlformats.org/drawingml/2006/main">
              <a:ext uri="{FF2B5EF4-FFF2-40B4-BE49-F238E27FC236}">
                <a16:creationId xmlns:a16="http://schemas.microsoft.com/office/drawing/2014/main" id="{E29B3DAB-183E-4FD3-A38F-A03C2264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9048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Lima bagian merangkum keputusan, rancangan, kebutuhan implementasi, dan tindak lanjut.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495300" y="1866900"/>
          <a:ext xmlns:a="http://schemas.openxmlformats.org/drawingml/2006/main" cx="11201400" cy="38576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047750"/>
                <a:gridCol w="10153650"/>
              </a:tblGrid>
              <a:tr h="7715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D8DFF"/>
                          </a:solidFill>
                          <a:latin typeface="Arial"/>
                          <a:ea typeface="Arial"/>
                          <a:cs typeface="Arial"/>
                        </a:rPr>
                        <a:t>01</a:t>
                      </a:r>
                    </a:p>
                  </a:txBody>
                  <a:tcPr marL="95250" marR="95250" marT="76200" marB="7620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Hasil meeting dan agenda kunjungan</a:t>
                      </a:r>
                    </a:p>
                  </a:txBody>
                  <a:tcPr marL="95250" marR="95250" marT="76200" marB="76200" anchor="ctr"/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D8DFF"/>
                          </a:solidFill>
                          <a:latin typeface="Arial"/>
                          <a:ea typeface="Arial"/>
                          <a:cs typeface="Arial"/>
                        </a:rPr>
                        <a:t>02</a:t>
                      </a:r>
                    </a:p>
                  </a:txBody>
                  <a:tcPr marL="95250" marR="95250" marT="76200" marB="7620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Arsitektur sistem dan ruang lingkup Cilacap</a:t>
                      </a:r>
                    </a:p>
                  </a:txBody>
                  <a:tcPr marL="95250" marR="95250" marT="76200" marB="76200" anchor="ctr"/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D8DFF"/>
                          </a:solidFill>
                          <a:latin typeface="Arial"/>
                          <a:ea typeface="Arial"/>
                          <a:cs typeface="Arial"/>
                        </a:rPr>
                        <a:t>03</a:t>
                      </a:r>
                    </a:p>
                  </a:txBody>
                  <a:tcPr marL="95250" marR="95250" marT="76200" marB="7620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GLD, CH, serta bahan pembicaraan Gateway, jaringan, dan server</a:t>
                      </a:r>
                    </a:p>
                  </a:txBody>
                  <a:tcPr marL="95250" marR="95250" marT="76200" marB="76200" anchor="ctr"/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D8DFF"/>
                          </a:solidFill>
                          <a:latin typeface="Arial"/>
                          <a:ea typeface="Arial"/>
                          <a:cs typeface="Arial"/>
                        </a:rPr>
                        <a:t>04</a:t>
                      </a:r>
                    </a:p>
                  </a:txBody>
                  <a:tcPr marL="95250" marR="95250" marT="76200" marB="7620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Lokasi SRU, mounting, dan kebutuhan site</a:t>
                      </a:r>
                    </a:p>
                  </a:txBody>
                  <a:tcPr marL="95250" marR="95250" marT="76200" marB="76200" anchor="ctr"/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D8DFF"/>
                          </a:solidFill>
                          <a:latin typeface="Arial"/>
                          <a:ea typeface="Arial"/>
                          <a:cs typeface="Arial"/>
                        </a:rPr>
                        <a:t>05</a:t>
                      </a:r>
                    </a:p>
                  </a:txBody>
                  <a:tcPr marL="95250" marR="95250" marT="76200" marB="7620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Roadmap, pembagian tanggung jawab, dan tindak lanjut</a:t>
                      </a:r>
                    </a:p>
                  </a:txBody>
                  <a:tcPr marL="95250" marR="95250" marT="76200" marB="7620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81305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-3">
            <a:extLst xmlns:a="http://schemas.openxmlformats.org/drawingml/2006/main">
              <a:ext uri="{FF2B5EF4-FFF2-40B4-BE49-F238E27FC236}">
                <a16:creationId xmlns:a16="http://schemas.microsoft.com/office/drawing/2014/main" id="{6A981FC2-8902-4E26-BF50-3A6A0C08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57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HASIL MEETING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E900DC03-F941-42E1-A28F-00A8BDB8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Arah rapat: target kerja dan agenda kunjungan</a:t>
            </a:r>
          </a:p>
        </p:txBody>
      </p:sp>
      <p:sp>
        <p:nvSpPr>
          <p:cNvPr id="3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46397AE5-A569-4B23-9B69-958B11D7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1201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footer-left-3">
            <a:extLst xmlns:a="http://schemas.openxmlformats.org/drawingml/2006/main">
              <a:ext uri="{FF2B5EF4-FFF2-40B4-BE49-F238E27FC236}">
                <a16:creationId xmlns:a16="http://schemas.microsoft.com/office/drawing/2014/main" id="{77B320DC-0FE8-4B75-B8D1-99100AD7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INTERNAL • 19 AGUSTUS 2026</a:t>
            </a:r>
          </a:p>
        </p:txBody>
      </p:sp>
      <p:sp>
        <p:nvSpPr>
          <p:cNvPr id="5" name="footer-number-3">
            <a:extLst xmlns:a="http://schemas.openxmlformats.org/drawingml/2006/main">
              <a:ext uri="{FF2B5EF4-FFF2-40B4-BE49-F238E27FC236}">
                <a16:creationId xmlns:a16="http://schemas.microsoft.com/office/drawing/2014/main" id="{203F7BDB-373D-4733-9C7B-DC1AE230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6" name="meeting-intro">
            <a:extLst xmlns:a="http://schemas.openxmlformats.org/drawingml/2006/main">
              <a:ext uri="{FF2B5EF4-FFF2-40B4-BE49-F238E27FC236}">
                <a16:creationId xmlns:a16="http://schemas.microsoft.com/office/drawing/2014/main" id="{C418F58B-B90B-4B7F-9060-75C3EF1D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5334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8361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Catatan meeting dan konfirmasi lanjutan menetapkan empat arah utama:</a:t>
            </a:r>
          </a:p>
        </p:txBody>
      </p:sp>
      <p:sp>
        <p:nvSpPr>
          <p:cNvPr id="7" name="meeting-metric-1">
            <a:extLst xmlns:a="http://schemas.openxmlformats.org/drawingml/2006/main">
              <a:ext uri="{FF2B5EF4-FFF2-40B4-BE49-F238E27FC236}">
                <a16:creationId xmlns:a16="http://schemas.microsoft.com/office/drawing/2014/main" id="{CC4F00E6-96C1-424E-9350-5E0D134B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2333625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SEP 2027</a:t>
            </a:r>
          </a:p>
        </p:txBody>
      </p:sp>
      <p:sp>
        <p:nvSpPr>
          <p:cNvPr id="8" name="meeting-metric-1-label">
            <a:extLst xmlns:a="http://schemas.openxmlformats.org/drawingml/2006/main">
              <a:ext uri="{FF2B5EF4-FFF2-40B4-BE49-F238E27FC236}">
                <a16:creationId xmlns:a16="http://schemas.microsoft.com/office/drawing/2014/main" id="{CCE162E6-FA0E-4C03-883B-40C56349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233362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Target fase awal untuk Kilang Cilacap.</a:t>
            </a:r>
          </a:p>
        </p:txBody>
      </p:sp>
      <p:sp>
        <p:nvSpPr>
          <p:cNvPr id="9" name="meeting-metric-2">
            <a:extLst xmlns:a="http://schemas.openxmlformats.org/drawingml/2006/main">
              <a:ext uri="{FF2B5EF4-FFF2-40B4-BE49-F238E27FC236}">
                <a16:creationId xmlns:a16="http://schemas.microsoft.com/office/drawing/2014/main" id="{B7FC4F1D-9B21-4071-A9C6-0A4D02A2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09750"/>
            <a:ext cx="26670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AKHIR SEP 2026</a:t>
            </a:r>
          </a:p>
        </p:txBody>
      </p:sp>
      <p:sp>
        <p:nvSpPr>
          <p:cNvPr id="10" name="meeting-metric-2-label">
            <a:extLst xmlns:a="http://schemas.openxmlformats.org/drawingml/2006/main">
              <a:ext uri="{FF2B5EF4-FFF2-40B4-BE49-F238E27FC236}">
                <a16:creationId xmlns:a16="http://schemas.microsoft.com/office/drawing/2014/main" id="{8B4A40B2-709F-4AC5-8A1B-9C10A731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81250"/>
            <a:ext cx="26670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Paket support, kabel, material, dan drawing disiapkan.</a:t>
            </a:r>
          </a:p>
        </p:txBody>
      </p:sp>
      <p:sp>
        <p:nvSpPr>
          <p:cNvPr id="11" name="meeting-correction">
            <a:extLst xmlns:a="http://schemas.openxmlformats.org/drawingml/2006/main">
              <a:ext uri="{FF2B5EF4-FFF2-40B4-BE49-F238E27FC236}">
                <a16:creationId xmlns:a16="http://schemas.microsoft.com/office/drawing/2014/main" id="{DC898E73-654C-43D6-B7E3-4130CB42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38550"/>
            <a:ext cx="53149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eeting-correction-title">
            <a:extLst xmlns:a="http://schemas.openxmlformats.org/drawingml/2006/main">
              <a:ext uri="{FF2B5EF4-FFF2-40B4-BE49-F238E27FC236}">
                <a16:creationId xmlns:a16="http://schemas.microsoft.com/office/drawing/2014/main" id="{7620336E-5260-4036-8B7A-489D941A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4857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C01818"/>
                </a:solidFill>
                <a:latin typeface="Arial"/>
                <a:ea typeface="Arial"/>
                <a:cs typeface="Arial"/>
              </a:defRPr>
            </a:pPr>
            <a:r>
              <a:t>“3 minggu” mengacu pada kunjungan</a:t>
            </a:r>
          </a:p>
        </p:txBody>
      </p:sp>
      <p:sp>
        <p:nvSpPr>
          <p:cNvPr id="13" name="meeting-correction-body">
            <a:extLst xmlns:a="http://schemas.openxmlformats.org/drawingml/2006/main">
              <a:ext uri="{FF2B5EF4-FFF2-40B4-BE49-F238E27FC236}">
                <a16:creationId xmlns:a16="http://schemas.microsoft.com/office/drawing/2014/main" id="{08C9E143-82B3-4FED-821D-877F9196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4857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Per 10 Agustus 2026, kalimat “3 minggu lagi” berarti rencana kunjungan sekitar akhir Agustus 2026.</a:t>
            </a:r>
          </a:p>
        </p:txBody>
      </p:sp>
      <p:sp>
        <p:nvSpPr>
          <p:cNvPr id="14" name="meeting-contract">
            <a:extLst xmlns:a="http://schemas.openxmlformats.org/drawingml/2006/main">
              <a:ext uri="{FF2B5EF4-FFF2-40B4-BE49-F238E27FC236}">
                <a16:creationId xmlns:a16="http://schemas.microsoft.com/office/drawing/2014/main" id="{C18951EC-6CEF-4EE8-97E5-9C174D6B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14950"/>
            <a:ext cx="53149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Ruang lingkup Cilacap: 3 unit GLD; jumlah CH menyesuaikan kebutuhan cakupan area SRU.</a:t>
            </a:r>
          </a:p>
        </p:txBody>
      </p:sp>
      <p:sp>
        <p:nvSpPr>
          <p:cNvPr id="15" name="meeting-image-backing">
            <a:extLst xmlns:a="http://schemas.openxmlformats.org/drawingml/2006/main">
              <a:ext uri="{FF2B5EF4-FFF2-40B4-BE49-F238E27FC236}">
                <a16:creationId xmlns:a16="http://schemas.microsoft.com/office/drawing/2014/main" id="{52691CF5-13C2-4644-AEEE-1238AB08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257300"/>
            <a:ext cx="5429250" cy="455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meeting-image-caption">
            <a:extLst xmlns:a="http://schemas.openxmlformats.org/drawingml/2006/main">
              <a:ext uri="{FF2B5EF4-FFF2-40B4-BE49-F238E27FC236}">
                <a16:creationId xmlns:a16="http://schemas.microsoft.com/office/drawing/2014/main" id="{86FC7A80-88A6-4FCA-995E-E0BA9208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905500"/>
            <a:ext cx="542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Catatan meeting sebagai referensi pembahasan.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dd57ae60314ada"/>
          <a:srcRect xmlns:a="http://schemas.openxmlformats.org/drawingml/2006/main" l="0" t="26414" r="0" b="264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7450" y="1257300"/>
            <a:ext cx="5429250" cy="455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9469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ection-4">
            <a:extLst xmlns:a="http://schemas.openxmlformats.org/drawingml/2006/main">
              <a:ext uri="{FF2B5EF4-FFF2-40B4-BE49-F238E27FC236}">
                <a16:creationId xmlns:a16="http://schemas.microsoft.com/office/drawing/2014/main" id="{B7F99ED3-A826-4E5D-9A7A-86480543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57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ARSITEKTUR SISTEM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A225A82E-9F88-44E4-90CE-9FAF990F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 Alur sistem GLD–CH–Gateway–Server</a:t>
            </a:r>
          </a:p>
        </p:txBody>
      </p:sp>
      <p:sp>
        <p:nvSpPr>
          <p:cNvPr id="3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371723E9-40B6-49F6-ACF8-C671DA5B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1201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footer-left-4">
            <a:extLst xmlns:a="http://schemas.openxmlformats.org/drawingml/2006/main">
              <a:ext uri="{FF2B5EF4-FFF2-40B4-BE49-F238E27FC236}">
                <a16:creationId xmlns:a16="http://schemas.microsoft.com/office/drawing/2014/main" id="{3FFF5864-E76B-414D-9658-9A811955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INTERNAL • 19 AGUSTUS 2026</a:t>
            </a:r>
          </a:p>
        </p:txBody>
      </p:sp>
      <p:sp>
        <p:nvSpPr>
          <p:cNvPr id="5" name="footer-number-4">
            <a:extLst xmlns:a="http://schemas.openxmlformats.org/drawingml/2006/main">
              <a:ext uri="{FF2B5EF4-FFF2-40B4-BE49-F238E27FC236}">
                <a16:creationId xmlns:a16="http://schemas.microsoft.com/office/drawing/2014/main" id="{41542AD5-BC42-497F-BC90-10D8C8F1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6" name="architecture-sub">
            <a:extLst xmlns:a="http://schemas.openxmlformats.org/drawingml/2006/main">
              <a:ext uri="{FF2B5EF4-FFF2-40B4-BE49-F238E27FC236}">
                <a16:creationId xmlns:a16="http://schemas.microsoft.com/office/drawing/2014/main" id="{692F0435-6510-4B68-ADB6-2E4035D0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11201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Tiga GLD menjadi titik awal di Cilacap; jumlah CH menyesuaikan cakupan area SRU.</a:t>
            </a:r>
          </a:p>
        </p:txBody>
      </p:sp>
      <p:sp>
        <p:nvSpPr>
          <p:cNvPr id="7" name="arrow-gld-ch">
            <a:extLst xmlns:a="http://schemas.openxmlformats.org/drawingml/2006/main">
              <a:ext uri="{FF2B5EF4-FFF2-40B4-BE49-F238E27FC236}">
                <a16:creationId xmlns:a16="http://schemas.microsoft.com/office/drawing/2014/main" id="{59083C6C-D7FE-4D6C-A985-DD0F5210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781300"/>
            <a:ext cx="8763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arrow-ch-gw">
            <a:extLst xmlns:a="http://schemas.openxmlformats.org/drawingml/2006/main">
              <a:ext uri="{FF2B5EF4-FFF2-40B4-BE49-F238E27FC236}">
                <a16:creationId xmlns:a16="http://schemas.microsoft.com/office/drawing/2014/main" id="{B904A510-A5F6-4C24-8071-8CD79803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781300"/>
            <a:ext cx="8763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arrow-gw-server">
            <a:extLst xmlns:a="http://schemas.openxmlformats.org/drawingml/2006/main">
              <a:ext uri="{FF2B5EF4-FFF2-40B4-BE49-F238E27FC236}">
                <a16:creationId xmlns:a16="http://schemas.microsoft.com/office/drawing/2014/main" id="{9B3407F5-1A16-4DB8-B213-5AF24FB2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81300"/>
            <a:ext cx="8763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node-gld">
            <a:extLst xmlns:a="http://schemas.openxmlformats.org/drawingml/2006/main">
              <a:ext uri="{FF2B5EF4-FFF2-40B4-BE49-F238E27FC236}">
                <a16:creationId xmlns:a16="http://schemas.microsoft.com/office/drawing/2014/main" id="{FF8E4389-982A-4D83-8A8B-8168AD1A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981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1" name="node-ch">
            <a:extLst xmlns:a="http://schemas.openxmlformats.org/drawingml/2006/main">
              <a:ext uri="{FF2B5EF4-FFF2-40B4-BE49-F238E27FC236}">
                <a16:creationId xmlns:a16="http://schemas.microsoft.com/office/drawing/2014/main" id="{69AA4027-F235-46C1-8252-D33B3777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90750"/>
            <a:ext cx="1981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node-gw">
            <a:extLst xmlns:a="http://schemas.openxmlformats.org/drawingml/2006/main">
              <a:ext uri="{FF2B5EF4-FFF2-40B4-BE49-F238E27FC236}">
                <a16:creationId xmlns:a16="http://schemas.microsoft.com/office/drawing/2014/main" id="{F4574A61-CA78-4B45-A3C2-024D75F3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90750"/>
            <a:ext cx="1981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node-server">
            <a:extLst xmlns:a="http://schemas.openxmlformats.org/drawingml/2006/main">
              <a:ext uri="{FF2B5EF4-FFF2-40B4-BE49-F238E27FC236}">
                <a16:creationId xmlns:a16="http://schemas.microsoft.com/office/drawing/2014/main" id="{10F94C5B-B3B4-4539-AEE3-4C6AA47F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90750"/>
            <a:ext cx="24003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node-gld-title">
            <a:extLst xmlns:a="http://schemas.openxmlformats.org/drawingml/2006/main">
              <a:ext uri="{FF2B5EF4-FFF2-40B4-BE49-F238E27FC236}">
                <a16:creationId xmlns:a16="http://schemas.microsoft.com/office/drawing/2014/main" id="{D284D0F3-59A3-4DE1-AF86-4A5FC6D5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1524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GLD</a:t>
            </a:r>
          </a:p>
        </p:txBody>
      </p:sp>
      <p:sp>
        <p:nvSpPr>
          <p:cNvPr id="15" name="node-gld-body">
            <a:extLst xmlns:a="http://schemas.openxmlformats.org/drawingml/2006/main">
              <a:ext uri="{FF2B5EF4-FFF2-40B4-BE49-F238E27FC236}">
                <a16:creationId xmlns:a16="http://schemas.microsoft.com/office/drawing/2014/main" id="{C584A280-D306-484E-8F23-34320DE8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71800"/>
            <a:ext cx="1524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58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Sensing • inferensi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STAR uplink</a:t>
            </a:r>
          </a:p>
        </p:txBody>
      </p:sp>
      <p:sp>
        <p:nvSpPr>
          <p:cNvPr id="16" name="node-ch-title">
            <a:extLst xmlns:a="http://schemas.openxmlformats.org/drawingml/2006/main">
              <a:ext uri="{FF2B5EF4-FFF2-40B4-BE49-F238E27FC236}">
                <a16:creationId xmlns:a16="http://schemas.microsoft.com/office/drawing/2014/main" id="{5758FEC4-2060-489B-9C9D-88640F9D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76500"/>
            <a:ext cx="1524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CH</a:t>
            </a:r>
          </a:p>
        </p:txBody>
      </p:sp>
      <p:sp>
        <p:nvSpPr>
          <p:cNvPr id="17" name="node-ch-body">
            <a:extLst xmlns:a="http://schemas.openxmlformats.org/drawingml/2006/main">
              <a:ext uri="{FF2B5EF4-FFF2-40B4-BE49-F238E27FC236}">
                <a16:creationId xmlns:a16="http://schemas.microsoft.com/office/drawing/2014/main" id="{65AC8A14-D907-4953-AEC8-A848C0F0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71800"/>
            <a:ext cx="1524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STAR receiver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MESH relay</a:t>
            </a:r>
          </a:p>
        </p:txBody>
      </p:sp>
      <p:sp>
        <p:nvSpPr>
          <p:cNvPr id="18" name="node-gw-title">
            <a:extLst xmlns:a="http://schemas.openxmlformats.org/drawingml/2006/main">
              <a:ext uri="{FF2B5EF4-FFF2-40B4-BE49-F238E27FC236}">
                <a16:creationId xmlns:a16="http://schemas.microsoft.com/office/drawing/2014/main" id="{CE0D9F8F-77E0-42B4-A71F-50BBB9AF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76500"/>
            <a:ext cx="1524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GATEWAY</a:t>
            </a:r>
          </a:p>
        </p:txBody>
      </p:sp>
      <p:sp>
        <p:nvSpPr>
          <p:cNvPr id="19" name="node-gw-body">
            <a:extLst xmlns:a="http://schemas.openxmlformats.org/drawingml/2006/main">
              <a:ext uri="{FF2B5EF4-FFF2-40B4-BE49-F238E27FC236}">
                <a16:creationId xmlns:a16="http://schemas.microsoft.com/office/drawing/2014/main" id="{B83353B7-E01E-468C-A4C2-F128F490E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71800"/>
            <a:ext cx="1524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431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Bridge radio–jaringan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Agenda bersama IT</a:t>
            </a:r>
          </a:p>
        </p:txBody>
      </p:sp>
      <p:sp>
        <p:nvSpPr>
          <p:cNvPr id="20" name="node-server-title">
            <a:extLst xmlns:a="http://schemas.openxmlformats.org/drawingml/2006/main">
              <a:ext uri="{FF2B5EF4-FFF2-40B4-BE49-F238E27FC236}">
                <a16:creationId xmlns:a16="http://schemas.microsoft.com/office/drawing/2014/main" id="{35836F16-5256-4B78-9B60-F7C9EFC7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76500"/>
            <a:ext cx="1943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SERVER</a:t>
            </a:r>
          </a:p>
        </p:txBody>
      </p:sp>
      <p:sp>
        <p:nvSpPr>
          <p:cNvPr id="21" name="node-server-body">
            <a:extLst xmlns:a="http://schemas.openxmlformats.org/drawingml/2006/main">
              <a:ext uri="{FF2B5EF4-FFF2-40B4-BE49-F238E27FC236}">
                <a16:creationId xmlns:a16="http://schemas.microsoft.com/office/drawing/2014/main" id="{53F8142A-DE16-4585-910D-578E64C1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71800"/>
            <a:ext cx="1943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Broker • dashboard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Agenda bersama IT</a:t>
            </a:r>
          </a:p>
        </p:txBody>
      </p:sp>
      <p:sp>
        <p:nvSpPr>
          <p:cNvPr id="22" name="link-star">
            <a:extLst xmlns:a="http://schemas.openxmlformats.org/drawingml/2006/main">
              <a:ext uri="{FF2B5EF4-FFF2-40B4-BE49-F238E27FC236}">
                <a16:creationId xmlns:a16="http://schemas.microsoft.com/office/drawing/2014/main" id="{6A020C3C-D2BF-4801-86B6-E0D27718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57550"/>
            <a:ext cx="104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STAR 920 MHz</a:t>
            </a:r>
          </a:p>
        </p:txBody>
      </p:sp>
      <p:sp>
        <p:nvSpPr>
          <p:cNvPr id="23" name="link-mesh">
            <a:extLst xmlns:a="http://schemas.openxmlformats.org/drawingml/2006/main">
              <a:ext uri="{FF2B5EF4-FFF2-40B4-BE49-F238E27FC236}">
                <a16:creationId xmlns:a16="http://schemas.microsoft.com/office/drawing/2014/main" id="{ED57434B-8727-453D-B03B-7C53B20E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257550"/>
            <a:ext cx="104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MESH 921 MHz</a:t>
            </a:r>
          </a:p>
        </p:txBody>
      </p:sp>
      <p:sp>
        <p:nvSpPr>
          <p:cNvPr id="24" name="link-mqtt">
            <a:extLst xmlns:a="http://schemas.openxmlformats.org/drawingml/2006/main">
              <a:ext uri="{FF2B5EF4-FFF2-40B4-BE49-F238E27FC236}">
                <a16:creationId xmlns:a16="http://schemas.microsoft.com/office/drawing/2014/main" id="{56974D98-0651-415B-ABF5-BF599977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57550"/>
            <a:ext cx="104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309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JARINGAN DATA</a:t>
            </a:r>
          </a:p>
        </p:txBody>
      </p:sp>
      <p:sp>
        <p:nvSpPr>
          <p:cNvPr id="25" name="architecture-note">
            <a:extLst xmlns:a="http://schemas.openxmlformats.org/drawingml/2006/main">
              <a:ext uri="{FF2B5EF4-FFF2-40B4-BE49-F238E27FC236}">
                <a16:creationId xmlns:a16="http://schemas.microsoft.com/office/drawing/2014/main" id="{A652674A-A2C1-4FC0-B47A-829A1CC4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10858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architecture-note-title">
            <a:extLst xmlns:a="http://schemas.openxmlformats.org/drawingml/2006/main">
              <a:ext uri="{FF2B5EF4-FFF2-40B4-BE49-F238E27FC236}">
                <a16:creationId xmlns:a16="http://schemas.microsoft.com/office/drawing/2014/main" id="{956933EB-A2C9-480C-86A0-BBC4CC29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0"/>
            <a:ext cx="2476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501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Ruang lingkup pembahasan</a:t>
            </a:r>
          </a:p>
        </p:txBody>
      </p:sp>
      <p:sp>
        <p:nvSpPr>
          <p:cNvPr id="27" name="architecture-note-body">
            <a:extLst xmlns:a="http://schemas.openxmlformats.org/drawingml/2006/main">
              <a:ext uri="{FF2B5EF4-FFF2-40B4-BE49-F238E27FC236}">
                <a16:creationId xmlns:a16="http://schemas.microsoft.com/office/drawing/2014/main" id="{1C8E831E-695C-4157-A31F-85B8393C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514850"/>
            <a:ext cx="7762875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Alur GLD dan CH menjadi baseline sistem. Konfigurasi Gateway, jaringan, keamanan, dan server dibahas bersama tim IT sebelum ditetapkan.</a:t>
            </a:r>
          </a:p>
        </p:txBody>
      </p:sp>
    </p:spTree>
    <p:extLst>
      <p:ext uri="{BB962C8B-B14F-4D97-AF65-F5344CB8AC3E}">
        <p14:creationId xmlns:p14="http://schemas.microsoft.com/office/powerpoint/2010/main" val="14800023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5">
            <a:extLst xmlns:a="http://schemas.openxmlformats.org/drawingml/2006/main">
              <a:ext uri="{FF2B5EF4-FFF2-40B4-BE49-F238E27FC236}">
                <a16:creationId xmlns:a16="http://schemas.microsoft.com/office/drawing/2014/main" id="{3912E4C1-2F48-4F34-B9A7-895654831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57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STATUS SISTEM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3BEC0E7D-A19E-4457-8559-D8A9569F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Status keputusan terkonfirmasi</a:t>
            </a:r>
          </a:p>
        </p:txBody>
      </p:sp>
      <p:sp>
        <p:nvSpPr>
          <p:cNvPr id="3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E07B013E-F3DC-4B59-8306-840BA9C5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1201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footer-left-5">
            <a:extLst xmlns:a="http://schemas.openxmlformats.org/drawingml/2006/main">
              <a:ext uri="{FF2B5EF4-FFF2-40B4-BE49-F238E27FC236}">
                <a16:creationId xmlns:a16="http://schemas.microsoft.com/office/drawing/2014/main" id="{3DC86ACD-5118-4251-9D5C-3FC4D8EF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INTERNAL • 19 AGUSTUS 2026</a:t>
            </a:r>
          </a:p>
        </p:txBody>
      </p:sp>
      <p:sp>
        <p:nvSpPr>
          <p:cNvPr id="5" name="footer-number-5">
            <a:extLst xmlns:a="http://schemas.openxmlformats.org/drawingml/2006/main">
              <a:ext uri="{FF2B5EF4-FFF2-40B4-BE49-F238E27FC236}">
                <a16:creationId xmlns:a16="http://schemas.microsoft.com/office/drawing/2014/main" id="{447F8B1E-DF2B-4DF1-B953-C1D1C047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6" name="readiness-sub">
            <a:extLst xmlns:a="http://schemas.openxmlformats.org/drawingml/2006/main">
              <a:ext uri="{FF2B5EF4-FFF2-40B4-BE49-F238E27FC236}">
                <a16:creationId xmlns:a16="http://schemas.microsoft.com/office/drawing/2014/main" id="{67A10E36-5526-4EF0-9AC3-947E1E0A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Baseline berikut memisahkan keputusan program dari agenda tindak lanjut implementasi.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495300" y="1866900"/>
          <a:ext xmlns:a="http://schemas.openxmlformats.org/drawingml/2006/main" cx="11201400" cy="3905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619250"/>
                <a:gridCol w="4476750"/>
                <a:gridCol w="5105400"/>
              </a:tblGrid>
              <a:tr h="6508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Area</a:t>
                      </a:r>
                    </a:p>
                  </a:txBody>
                  <a:tcPr marL="95250" marR="95250" marT="76200" marB="762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Keputusan saat ini</a:t>
                      </a:r>
                    </a:p>
                  </a:txBody>
                  <a:tcPr marL="95250" marR="95250" marT="76200" marB="762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Tindak lanjut</a:t>
                      </a:r>
                    </a:p>
                  </a:txBody>
                  <a:tcPr marL="95250" marR="95250" marT="76200" marB="76200" anchor="ctr">
                    <a:solidFill>
                      <a:srgbClr val="EDEDED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GLD</a:t>
                      </a:r>
                    </a:p>
                  </a:txBody>
                  <a:tcPr marL="95250" marR="95250" marT="76200" marB="7620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3 unit; catu 24 VDC/2 A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Validasi rangkaian input dan FAT</a:t>
                      </a:r>
                    </a:p>
                  </a:txBody>
                  <a:tcPr marL="95250" marR="95250" marT="76200" marB="76200" anchor="ctr">
                    <a:solidFill>
                      <a:srgbClr val="FFF9E8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CH</a:t>
                      </a:r>
                    </a:p>
                  </a:txBody>
                  <a:tcPr marL="95250" marR="95250" marT="76200" marB="7620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 baterai 4000 mAh; 2 panel × 6 W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Jumlah mengikuti cakupan SRU</a:t>
                      </a:r>
                    </a:p>
                  </a:txBody>
                  <a:tcPr marL="95250" marR="95250" marT="76200" marB="76200" anchor="ctr">
                    <a:solidFill>
                      <a:srgbClr val="FFF9E8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Gateway</a:t>
                      </a:r>
                    </a:p>
                  </a:txBody>
                  <a:tcPr marL="95250" marR="95250" marT="76200" marB="7620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Menjadi agenda pembicaraan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Bahas penempatan dan koneksi bersama IT</a:t>
                      </a:r>
                    </a:p>
                  </a:txBody>
                  <a:tcPr marL="95250" marR="95250" marT="76200" marB="76200" anchor="ctr">
                    <a:solidFill>
                      <a:srgbClr val="FFF9E8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Server</a:t>
                      </a:r>
                    </a:p>
                  </a:txBody>
                  <a:tcPr marL="95250" marR="95250" marT="76200" marB="7620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Menjadi agenda pembicaraan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Bahas layanan, keamanan, dan operasi</a:t>
                      </a:r>
                    </a:p>
                  </a:txBody>
                  <a:tcPr marL="95250" marR="95250" marT="76200" marB="76200" anchor="ctr">
                    <a:solidFill>
                      <a:srgbClr val="FFF9E8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Site</a:t>
                      </a:r>
                    </a:p>
                  </a:txBody>
                  <a:tcPr marL="95250" marR="95250" marT="76200" marB="7620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Lokasi dialihkan dari LPG ke SRU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Ukur mounting ... cm dan siapkan instalasi</a:t>
                      </a:r>
                    </a:p>
                  </a:txBody>
                  <a:tcPr marL="95250" marR="95250" marT="76200" marB="76200" anchor="ctr">
                    <a:solidFill>
                      <a:srgbClr val="FFF9E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34506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-6">
            <a:extLst xmlns:a="http://schemas.openxmlformats.org/drawingml/2006/main">
              <a:ext uri="{FF2B5EF4-FFF2-40B4-BE49-F238E27FC236}">
                <a16:creationId xmlns:a16="http://schemas.microsoft.com/office/drawing/2014/main" id="{8238CEF5-30A9-4038-B2A3-D20C29E4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57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DAYA GLD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CB617C25-138A-4AF3-BF40-E407BD00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Catu daya GLD ditetapkan 24 VDC/2 A</a:t>
            </a:r>
          </a:p>
        </p:txBody>
      </p:sp>
      <p:sp>
        <p:nvSpPr>
          <p:cNvPr id="3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C5B950C6-F275-4F27-88FC-02B71306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1201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footer-left-6">
            <a:extLst xmlns:a="http://schemas.openxmlformats.org/drawingml/2006/main">
              <a:ext uri="{FF2B5EF4-FFF2-40B4-BE49-F238E27FC236}">
                <a16:creationId xmlns:a16="http://schemas.microsoft.com/office/drawing/2014/main" id="{2A5854CA-DD94-48CD-AFBA-8D70A6FC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INTERNAL • 19 AGUSTUS 2026</a:t>
            </a:r>
          </a:p>
        </p:txBody>
      </p:sp>
      <p:sp>
        <p:nvSpPr>
          <p:cNvPr id="5" name="footer-number-6">
            <a:extLst xmlns:a="http://schemas.openxmlformats.org/drawingml/2006/main">
              <a:ext uri="{FF2B5EF4-FFF2-40B4-BE49-F238E27FC236}">
                <a16:creationId xmlns:a16="http://schemas.microsoft.com/office/drawing/2014/main" id="{BBC08B8E-326E-4A3B-9F1E-C1861B38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  <p:sp>
        <p:nvSpPr>
          <p:cNvPr id="6" name="power-left">
            <a:extLst xmlns:a="http://schemas.openxmlformats.org/drawingml/2006/main">
              <a:ext uri="{FF2B5EF4-FFF2-40B4-BE49-F238E27FC236}">
                <a16:creationId xmlns:a16="http://schemas.microsoft.com/office/drawing/2014/main" id="{7C99C113-097E-4BE2-A88B-F79CBBDB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4000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ower-rating">
            <a:extLst xmlns:a="http://schemas.openxmlformats.org/drawingml/2006/main">
              <a:ext uri="{FF2B5EF4-FFF2-40B4-BE49-F238E27FC236}">
                <a16:creationId xmlns:a16="http://schemas.microsoft.com/office/drawing/2014/main" id="{81B66CEB-ACDE-4C1C-B2AA-5453C183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3429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7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24 VDC / 2 A</a:t>
            </a:r>
          </a:p>
        </p:txBody>
      </p:sp>
      <p:sp>
        <p:nvSpPr>
          <p:cNvPr id="8" name="power-rating-label">
            <a:extLst xmlns:a="http://schemas.openxmlformats.org/drawingml/2006/main">
              <a:ext uri="{FF2B5EF4-FFF2-40B4-BE49-F238E27FC236}">
                <a16:creationId xmlns:a16="http://schemas.microsoft.com/office/drawing/2014/main" id="{4F66B820-279E-4CA4-959A-169461A0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342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Spesifikasi suplai GLD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yang dikonfirmasi</a:t>
            </a:r>
          </a:p>
        </p:txBody>
      </p:sp>
      <p:sp>
        <p:nvSpPr>
          <p:cNvPr id="9" name="power-mid-rule">
            <a:extLst xmlns:a="http://schemas.openxmlformats.org/drawingml/2006/main">
              <a:ext uri="{FF2B5EF4-FFF2-40B4-BE49-F238E27FC236}">
                <a16:creationId xmlns:a16="http://schemas.microsoft.com/office/drawing/2014/main" id="{3AB937AE-171A-4366-9AC7-8444A59B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43300"/>
            <a:ext cx="3048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power-consumption">
            <a:extLst xmlns:a="http://schemas.openxmlformats.org/drawingml/2006/main">
              <a:ext uri="{FF2B5EF4-FFF2-40B4-BE49-F238E27FC236}">
                <a16:creationId xmlns:a16="http://schemas.microsoft.com/office/drawing/2014/main" id="{CAEF235B-4EBB-48C0-9106-C12715C2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71900"/>
            <a:ext cx="3429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3 UNIT GLD</a:t>
            </a:r>
          </a:p>
        </p:txBody>
      </p:sp>
      <p:sp>
        <p:nvSpPr>
          <p:cNvPr id="11" name="power-consumption-label">
            <a:extLst xmlns:a="http://schemas.openxmlformats.org/drawingml/2006/main">
              <a:ext uri="{FF2B5EF4-FFF2-40B4-BE49-F238E27FC236}">
                <a16:creationId xmlns:a16="http://schemas.microsoft.com/office/drawing/2014/main" id="{E98B4530-2A3A-4AB9-A486-BA924FD9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19600"/>
            <a:ext cx="304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Ruang lingkup pemasangan di Kilang Cilacap</a:t>
            </a:r>
          </a:p>
        </p:txBody>
      </p:sp>
      <p:sp>
        <p:nvSpPr>
          <p:cNvPr id="12" name="power-blocker">
            <a:extLst xmlns:a="http://schemas.openxmlformats.org/drawingml/2006/main">
              <a:ext uri="{FF2B5EF4-FFF2-40B4-BE49-F238E27FC236}">
                <a16:creationId xmlns:a16="http://schemas.microsoft.com/office/drawing/2014/main" id="{43CF26DE-FE69-478E-BAEA-20F56181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428750"/>
            <a:ext cx="68199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ower-blocker-title">
            <a:extLst xmlns:a="http://schemas.openxmlformats.org/drawingml/2006/main">
              <a:ext uri="{FF2B5EF4-FFF2-40B4-BE49-F238E27FC236}">
                <a16:creationId xmlns:a16="http://schemas.microsoft.com/office/drawing/2014/main" id="{36DEF3DE-EECA-4212-9A09-CD90D4D2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95450"/>
            <a:ext cx="6286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C01818"/>
                </a:solidFill>
                <a:latin typeface="Arial"/>
                <a:ea typeface="Arial"/>
                <a:cs typeface="Arial"/>
              </a:defRPr>
            </a:pPr>
            <a:r>
              <a:t>VALIDASI: proteksi 16 V pada jalur 24 V</a:t>
            </a:r>
          </a:p>
        </p:txBody>
      </p:sp>
      <p:sp>
        <p:nvSpPr>
          <p:cNvPr id="14" name="power-blocker-body">
            <a:extLst xmlns:a="http://schemas.openxmlformats.org/drawingml/2006/main">
              <a:ext uri="{FF2B5EF4-FFF2-40B4-BE49-F238E27FC236}">
                <a16:creationId xmlns:a16="http://schemas.microsoft.com/office/drawing/2014/main" id="{E9351075-57E9-4AD1-9B0D-429915DE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71700"/>
            <a:ext cx="6286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Komponen input bertanda 16 V harus disesuaikan atau divalidasi untuk jalur 24 V sebelum perakitan lapangan.</a:t>
            </a:r>
          </a:p>
        </p:txBody>
      </p:sp>
      <p:sp>
        <p:nvSpPr>
          <p:cNvPr id="15" name="power-assumption-title">
            <a:extLst xmlns:a="http://schemas.openxmlformats.org/drawingml/2006/main">
              <a:ext uri="{FF2B5EF4-FFF2-40B4-BE49-F238E27FC236}">
                <a16:creationId xmlns:a16="http://schemas.microsoft.com/office/drawing/2014/main" id="{99571B5B-4C19-42FD-B497-218ACD07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219450"/>
            <a:ext cx="3238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Fokus verifikasi daya</a:t>
            </a:r>
          </a:p>
        </p:txBody>
      </p:sp>
      <p:sp>
        <p:nvSpPr>
          <p:cNvPr id="16" name="power-assumptions">
            <a:extLst xmlns:a="http://schemas.openxmlformats.org/drawingml/2006/main">
              <a:ext uri="{FF2B5EF4-FFF2-40B4-BE49-F238E27FC236}">
                <a16:creationId xmlns:a16="http://schemas.microsoft.com/office/drawing/2014/main" id="{4B8A032E-B445-4D8E-A887-864BA8E9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695700"/>
            <a:ext cx="3143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Cold-start dan inrush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Voltage drop kabel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Seluruh beban aktif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Temperatur enclosure</a:t>
            </a:r>
          </a:p>
        </p:txBody>
      </p:sp>
      <p:sp>
        <p:nvSpPr>
          <p:cNvPr id="17" name="power-1a-title">
            <a:extLst xmlns:a="http://schemas.openxmlformats.org/drawingml/2006/main">
              <a:ext uri="{FF2B5EF4-FFF2-40B4-BE49-F238E27FC236}">
                <a16:creationId xmlns:a16="http://schemas.microsoft.com/office/drawing/2014/main" id="{4449BCAF-D5D7-4DD1-B4C0-7BC5EA91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19450"/>
            <a:ext cx="2952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Kriteria penerimaan</a:t>
            </a:r>
          </a:p>
        </p:txBody>
      </p:sp>
      <p:sp>
        <p:nvSpPr>
          <p:cNvPr id="18" name="power-1a">
            <a:extLst xmlns:a="http://schemas.openxmlformats.org/drawingml/2006/main">
              <a:ext uri="{FF2B5EF4-FFF2-40B4-BE49-F238E27FC236}">
                <a16:creationId xmlns:a16="http://schemas.microsoft.com/office/drawing/2014/main" id="{F9F809E7-D7E7-451D-9088-EAD4F9EB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695700"/>
            <a:ext cx="29527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Catu 24 VDC/2 A stabil pada start, operasi kontinu, transmisi radio, alarm, dan beban tambahan dalam skenario FAT.</a:t>
            </a:r>
          </a:p>
        </p:txBody>
      </p:sp>
    </p:spTree>
    <p:extLst>
      <p:ext uri="{BB962C8B-B14F-4D97-AF65-F5344CB8AC3E}">
        <p14:creationId xmlns:p14="http://schemas.microsoft.com/office/powerpoint/2010/main" val="11926445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7">
            <a:extLst xmlns:a="http://schemas.openxmlformats.org/drawingml/2006/main">
              <a:ext uri="{FF2B5EF4-FFF2-40B4-BE49-F238E27FC236}">
                <a16:creationId xmlns:a16="http://schemas.microsoft.com/office/drawing/2014/main" id="{B73DAC2B-1C5E-41FF-8CF8-77797560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57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FAT GLD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D53996FF-1CB2-47EA-916C-E1E804F5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FAT memverifikasi kinerja catu GLD 24 VDC/2 A</a:t>
            </a:r>
          </a:p>
        </p:txBody>
      </p:sp>
      <p:sp>
        <p:nvSpPr>
          <p:cNvPr id="3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21A09DC3-6294-4CA8-9999-135E0C32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1201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footer-left-7">
            <a:extLst xmlns:a="http://schemas.openxmlformats.org/drawingml/2006/main">
              <a:ext uri="{FF2B5EF4-FFF2-40B4-BE49-F238E27FC236}">
                <a16:creationId xmlns:a16="http://schemas.microsoft.com/office/drawing/2014/main" id="{B90026D7-A808-48EA-B9B4-DE7C487B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INTERNAL • 19 AGUSTUS 2026</a:t>
            </a:r>
          </a:p>
        </p:txBody>
      </p:sp>
      <p:sp>
        <p:nvSpPr>
          <p:cNvPr id="5" name="footer-number-7">
            <a:extLst xmlns:a="http://schemas.openxmlformats.org/drawingml/2006/main">
              <a:ext uri="{FF2B5EF4-FFF2-40B4-BE49-F238E27FC236}">
                <a16:creationId xmlns:a16="http://schemas.microsoft.com/office/drawing/2014/main" id="{1ED379B2-CED1-4756-8D3C-6CF23631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07</a:t>
            </a:r>
          </a:p>
        </p:txBody>
      </p:sp>
      <p:sp>
        <p:nvSpPr>
          <p:cNvPr id="6" name="fat-track">
            <a:extLst xmlns:a="http://schemas.openxmlformats.org/drawingml/2006/main">
              <a:ext uri="{FF2B5EF4-FFF2-40B4-BE49-F238E27FC236}">
                <a16:creationId xmlns:a16="http://schemas.microsoft.com/office/drawing/2014/main" id="{E14360A1-5A5A-47E3-BF67-FC84BCE3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0"/>
            <a:ext cx="1047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7" name="fat-dot-1">
            <a:extLst xmlns:a="http://schemas.openxmlformats.org/drawingml/2006/main">
              <a:ext uri="{FF2B5EF4-FFF2-40B4-BE49-F238E27FC236}">
                <a16:creationId xmlns:a16="http://schemas.microsoft.com/office/drawing/2014/main" id="{B60717FF-4482-47C9-860F-ADDB6C89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67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8" name="fat-dot-2">
            <a:extLst xmlns:a="http://schemas.openxmlformats.org/drawingml/2006/main">
              <a:ext uri="{FF2B5EF4-FFF2-40B4-BE49-F238E27FC236}">
                <a16:creationId xmlns:a16="http://schemas.microsoft.com/office/drawing/2014/main" id="{DF2F4665-B53A-465C-B18D-CE42786F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467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9" name="fat-dot-3">
            <a:extLst xmlns:a="http://schemas.openxmlformats.org/drawingml/2006/main">
              <a:ext uri="{FF2B5EF4-FFF2-40B4-BE49-F238E27FC236}">
                <a16:creationId xmlns:a16="http://schemas.microsoft.com/office/drawing/2014/main" id="{9241C689-9F97-482A-9F3A-59742D8D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467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10" name="fat-card-1">
            <a:extLst xmlns:a="http://schemas.openxmlformats.org/drawingml/2006/main">
              <a:ext uri="{FF2B5EF4-FFF2-40B4-BE49-F238E27FC236}">
                <a16:creationId xmlns:a16="http://schemas.microsoft.com/office/drawing/2014/main" id="{03FA4FD0-04DB-4E2B-904D-D2059720C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66850"/>
            <a:ext cx="3143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at-card-2">
            <a:extLst xmlns:a="http://schemas.openxmlformats.org/drawingml/2006/main">
              <a:ext uri="{FF2B5EF4-FFF2-40B4-BE49-F238E27FC236}">
                <a16:creationId xmlns:a16="http://schemas.microsoft.com/office/drawing/2014/main" id="{F3EC8566-67AE-4240-A645-03ECC925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466850"/>
            <a:ext cx="3143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at-card-3">
            <a:extLst xmlns:a="http://schemas.openxmlformats.org/drawingml/2006/main">
              <a:ext uri="{FF2B5EF4-FFF2-40B4-BE49-F238E27FC236}">
                <a16:creationId xmlns:a16="http://schemas.microsoft.com/office/drawing/2014/main" id="{E7E7D0EF-3A6D-4CB5-B7C8-3475A9D7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66850"/>
            <a:ext cx="33909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at-1-title">
            <a:extLst xmlns:a="http://schemas.openxmlformats.org/drawingml/2006/main">
              <a:ext uri="{FF2B5EF4-FFF2-40B4-BE49-F238E27FC236}">
                <a16:creationId xmlns:a16="http://schemas.microsoft.com/office/drawing/2014/main" id="{34045961-069D-4518-AD1B-0FFB2067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71650"/>
            <a:ext cx="2571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1. IDENTIFIKASI</a:t>
            </a:r>
          </a:p>
        </p:txBody>
      </p:sp>
      <p:sp>
        <p:nvSpPr>
          <p:cNvPr id="14" name="fat-1-body">
            <a:extLst xmlns:a="http://schemas.openxmlformats.org/drawingml/2006/main">
              <a:ext uri="{FF2B5EF4-FFF2-40B4-BE49-F238E27FC236}">
                <a16:creationId xmlns:a16="http://schemas.microsoft.com/office/drawing/2014/main" id="{9502A2F6-E4F6-4E7A-8599-1E2972C4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05050"/>
            <a:ext cx="257175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MPN dan lot delapan sensor MQ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Resistansi heater saat dingin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Fan, alarm, dan beban tambahan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Panjang serta ukuran kabel</a:t>
            </a:r>
          </a:p>
        </p:txBody>
      </p:sp>
      <p:sp>
        <p:nvSpPr>
          <p:cNvPr id="15" name="fat-2-title">
            <a:extLst xmlns:a="http://schemas.openxmlformats.org/drawingml/2006/main">
              <a:ext uri="{FF2B5EF4-FFF2-40B4-BE49-F238E27FC236}">
                <a16:creationId xmlns:a16="http://schemas.microsoft.com/office/drawing/2014/main" id="{AFD368E8-4ECE-45EB-B728-5401835E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771650"/>
            <a:ext cx="2571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2. PENGUKURAN</a:t>
            </a:r>
          </a:p>
        </p:txBody>
      </p:sp>
      <p:sp>
        <p:nvSpPr>
          <p:cNvPr id="16" name="fat-2-body">
            <a:extLst xmlns:a="http://schemas.openxmlformats.org/drawingml/2006/main">
              <a:ext uri="{FF2B5EF4-FFF2-40B4-BE49-F238E27FC236}">
                <a16:creationId xmlns:a16="http://schemas.microsoft.com/office/drawing/2014/main" id="{7EE61990-7256-4C1C-B348-A9906A4D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05050"/>
            <a:ext cx="257175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Cold-start setelah OFF ≥30 menit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Profil arus hingga 120 menit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Log input 24 V dan rail internal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Capture peak dengan instrumen memadai</a:t>
            </a:r>
          </a:p>
        </p:txBody>
      </p:sp>
      <p:sp>
        <p:nvSpPr>
          <p:cNvPr id="17" name="fat-3-title">
            <a:extLst xmlns:a="http://schemas.openxmlformats.org/drawingml/2006/main">
              <a:ext uri="{FF2B5EF4-FFF2-40B4-BE49-F238E27FC236}">
                <a16:creationId xmlns:a16="http://schemas.microsoft.com/office/drawing/2014/main" id="{FFAD8F79-2CAC-4437-8603-D572BE4C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71650"/>
            <a:ext cx="2819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3. STRESS &amp; ACCEPT</a:t>
            </a:r>
          </a:p>
        </p:txBody>
      </p:sp>
      <p:sp>
        <p:nvSpPr>
          <p:cNvPr id="18" name="fat-3-body">
            <a:extLst xmlns:a="http://schemas.openxmlformats.org/drawingml/2006/main">
              <a:ext uri="{FF2B5EF4-FFF2-40B4-BE49-F238E27FC236}">
                <a16:creationId xmlns:a16="http://schemas.microsoft.com/office/drawing/2014/main" id="{47164940-CF30-4A1B-A687-EA97EA92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05050"/>
            <a:ext cx="28194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Seluruh heater + radio + RS485 + LED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Alarm/fan terpisah dan bersamaan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Kabel terpanjang + enclosure tertutup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Tanpa current-limit atau reset</a:t>
            </a:r>
          </a:p>
        </p:txBody>
      </p:sp>
      <p:sp>
        <p:nvSpPr>
          <p:cNvPr id="19" name="fat-label-1">
            <a:extLst xmlns:a="http://schemas.openxmlformats.org/drawingml/2006/main">
              <a:ext uri="{FF2B5EF4-FFF2-40B4-BE49-F238E27FC236}">
                <a16:creationId xmlns:a16="http://schemas.microsoft.com/office/drawing/2014/main" id="{688F0679-69B9-409C-9C5F-9E501E89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025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INPUT TERVERIFIKASI</a:t>
            </a:r>
          </a:p>
        </p:txBody>
      </p:sp>
      <p:sp>
        <p:nvSpPr>
          <p:cNvPr id="20" name="fat-label-2">
            <a:extLst xmlns:a="http://schemas.openxmlformats.org/drawingml/2006/main">
              <a:ext uri="{FF2B5EF4-FFF2-40B4-BE49-F238E27FC236}">
                <a16:creationId xmlns:a16="http://schemas.microsoft.com/office/drawing/2014/main" id="{504D4957-A382-4674-9942-3365C898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81025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WAVEFORM &amp; THERMAL</a:t>
            </a:r>
          </a:p>
        </p:txBody>
      </p:sp>
      <p:sp>
        <p:nvSpPr>
          <p:cNvPr id="21" name="fat-label-3">
            <a:extLst xmlns:a="http://schemas.openxmlformats.org/drawingml/2006/main">
              <a:ext uri="{FF2B5EF4-FFF2-40B4-BE49-F238E27FC236}">
                <a16:creationId xmlns:a16="http://schemas.microsoft.com/office/drawing/2014/main" id="{18D06EF1-664D-47E0-B6AE-BF96E68B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810250"/>
            <a:ext cx="3390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24 VDC/2 A TERVERIFIKASI</a:t>
            </a:r>
          </a:p>
        </p:txBody>
      </p:sp>
    </p:spTree>
    <p:extLst>
      <p:ext uri="{BB962C8B-B14F-4D97-AF65-F5344CB8AC3E}">
        <p14:creationId xmlns:p14="http://schemas.microsoft.com/office/powerpoint/2010/main" val="587667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ection-8">
            <a:extLst xmlns:a="http://schemas.openxmlformats.org/drawingml/2006/main">
              <a:ext uri="{FF2B5EF4-FFF2-40B4-BE49-F238E27FC236}">
                <a16:creationId xmlns:a16="http://schemas.microsoft.com/office/drawing/2014/main" id="{B61E0129-E355-4836-87C5-827422CF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57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ENERGI CH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9F27CF5B-E840-4A40-A729-36605CDF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CH memakai 1 baterai 4000 mAh dan 2 panel 6 W</a:t>
            </a:r>
          </a:p>
        </p:txBody>
      </p:sp>
      <p:sp>
        <p:nvSpPr>
          <p:cNvPr id="3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5B8D50B2-C693-4A3B-BF37-B15120FD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1201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footer-left-8">
            <a:extLst xmlns:a="http://schemas.openxmlformats.org/drawingml/2006/main">
              <a:ext uri="{FF2B5EF4-FFF2-40B4-BE49-F238E27FC236}">
                <a16:creationId xmlns:a16="http://schemas.microsoft.com/office/drawing/2014/main" id="{7947ED14-6F6A-401C-83BE-D9F86276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INTERNAL • 19 AGUSTUS 2026</a:t>
            </a:r>
          </a:p>
        </p:txBody>
      </p:sp>
      <p:sp>
        <p:nvSpPr>
          <p:cNvPr id="5" name="footer-number-8">
            <a:extLst xmlns:a="http://schemas.openxmlformats.org/drawingml/2006/main">
              <a:ext uri="{FF2B5EF4-FFF2-40B4-BE49-F238E27FC236}">
                <a16:creationId xmlns:a16="http://schemas.microsoft.com/office/drawing/2014/main" id="{DF824C35-4151-4388-8467-2CF25E24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08</a:t>
            </a:r>
          </a:p>
        </p:txBody>
      </p:sp>
      <p:sp>
        <p:nvSpPr>
          <p:cNvPr id="6" name="ch-image-backing">
            <a:extLst xmlns:a="http://schemas.openxmlformats.org/drawingml/2006/main">
              <a:ext uri="{FF2B5EF4-FFF2-40B4-BE49-F238E27FC236}">
                <a16:creationId xmlns:a16="http://schemas.microsoft.com/office/drawing/2014/main" id="{D8FAE332-2C0C-4546-9C98-EEFCE99E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409575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ch-image-caption">
            <a:extLst xmlns:a="http://schemas.openxmlformats.org/drawingml/2006/main">
              <a:ext uri="{FF2B5EF4-FFF2-40B4-BE49-F238E27FC236}">
                <a16:creationId xmlns:a16="http://schemas.microsoft.com/office/drawing/2014/main" id="{BCD9652C-1D35-4AE4-B2A9-8C3B7FB7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81700"/>
            <a:ext cx="4095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Konsep enclosure CH; ukuran mounting sementara ditulis ... cm.</a:t>
            </a:r>
          </a:p>
        </p:txBody>
      </p:sp>
      <p:sp>
        <p:nvSpPr>
          <p:cNvPr id="8" name="ch-source-title">
            <a:extLst xmlns:a="http://schemas.openxmlformats.org/drawingml/2006/main">
              <a:ext uri="{FF2B5EF4-FFF2-40B4-BE49-F238E27FC236}">
                <a16:creationId xmlns:a16="http://schemas.microsoft.com/office/drawing/2014/main" id="{6C615A56-E401-4D0B-90ED-2DE0B6524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466850"/>
            <a:ext cx="2952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2366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Konfigurasi yang ditetapkan</a:t>
            </a:r>
          </a:p>
        </p:txBody>
      </p:sp>
      <p:sp>
        <p:nvSpPr>
          <p:cNvPr id="9" name="ch-source-body">
            <a:extLst xmlns:a="http://schemas.openxmlformats.org/drawingml/2006/main">
              <a:ext uri="{FF2B5EF4-FFF2-40B4-BE49-F238E27FC236}">
                <a16:creationId xmlns:a16="http://schemas.microsoft.com/office/drawing/2014/main" id="{9DF27F62-640B-4DD0-BABF-2579A7FB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81200"/>
            <a:ext cx="304800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1 baterai LiitoKala 4000 mAh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2 panel surya, masing-masing 6 W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Radio STAR 920 MHz dan MESH 921 MHz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Charger dan jalur daya single-cell</a:t>
            </a:r>
          </a:p>
        </p:txBody>
      </p:sp>
      <p:sp>
        <p:nvSpPr>
          <p:cNvPr id="10" name="ch-gap-title">
            <a:extLst xmlns:a="http://schemas.openxmlformats.org/drawingml/2006/main">
              <a:ext uri="{FF2B5EF4-FFF2-40B4-BE49-F238E27FC236}">
                <a16:creationId xmlns:a16="http://schemas.microsoft.com/office/drawing/2014/main" id="{A0B83BCD-FA63-4C22-8CA9-6B4DB8D1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66850"/>
            <a:ext cx="304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3112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A86500"/>
                </a:solidFill>
                <a:latin typeface="Arial"/>
                <a:ea typeface="Arial"/>
                <a:cs typeface="Arial"/>
              </a:defRPr>
            </a:pPr>
            <a:r>
              <a:t>Implementasi di area SRU</a:t>
            </a:r>
          </a:p>
        </p:txBody>
      </p:sp>
      <p:sp>
        <p:nvSpPr>
          <p:cNvPr id="11" name="ch-gap-body">
            <a:extLst xmlns:a="http://schemas.openxmlformats.org/drawingml/2006/main">
              <a:ext uri="{FF2B5EF4-FFF2-40B4-BE49-F238E27FC236}">
                <a16:creationId xmlns:a16="http://schemas.microsoft.com/office/drawing/2014/main" id="{1E9CEDBA-BC8E-48FE-85F5-E765905D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81200"/>
            <a:ext cx="304800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Jumlah CH menyesuaikan cakupan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Penempatan mengikuti hasil survei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Rute antena disesuaikan dengan titik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Dimensi mounting: ... cm</a:t>
            </a:r>
          </a:p>
        </p:txBody>
      </p:sp>
      <p:sp>
        <p:nvSpPr>
          <p:cNvPr id="12" name="ch-note">
            <a:extLst xmlns:a="http://schemas.openxmlformats.org/drawingml/2006/main">
              <a:ext uri="{FF2B5EF4-FFF2-40B4-BE49-F238E27FC236}">
                <a16:creationId xmlns:a16="http://schemas.microsoft.com/office/drawing/2014/main" id="{0342CCEC-A59B-4B39-AA75-63F32CC7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71950"/>
            <a:ext cx="6381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h-note-title">
            <a:extLst xmlns:a="http://schemas.openxmlformats.org/drawingml/2006/main">
              <a:ext uri="{FF2B5EF4-FFF2-40B4-BE49-F238E27FC236}">
                <a16:creationId xmlns:a16="http://schemas.microsoft.com/office/drawing/2014/main" id="{A414EE1B-E7EC-409A-A04F-89D8C168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419600"/>
            <a:ext cx="1714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05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A86500"/>
                </a:solidFill>
                <a:latin typeface="Arial"/>
                <a:ea typeface="Arial"/>
                <a:cs typeface="Arial"/>
              </a:defRPr>
            </a:pPr>
            <a:r>
              <a:t>Verifikasi energi</a:t>
            </a:r>
          </a:p>
        </p:txBody>
      </p:sp>
      <p:sp>
        <p:nvSpPr>
          <p:cNvPr id="14" name="ch-note-body">
            <a:extLst xmlns:a="http://schemas.openxmlformats.org/drawingml/2006/main">
              <a:ext uri="{FF2B5EF4-FFF2-40B4-BE49-F238E27FC236}">
                <a16:creationId xmlns:a16="http://schemas.microsoft.com/office/drawing/2014/main" id="{0586FD36-7349-40B4-AF13-4F7A4ABF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81500"/>
            <a:ext cx="40005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730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Pengisian, autonomy, temperatur, dan pola komunikasi diuji sebagai bagian dari verifikasi CH sebelum pemasangan.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9dcb4fea2f47a9"/>
          <a:stretch xmlns:a="http://schemas.openxmlformats.org/drawingml/2006/main"/>
        </p:blipFill>
        <p:spPr>
          <a:xfrm xmlns:a="http://schemas.openxmlformats.org/drawingml/2006/main">
            <a:off x="1134315" y="1428750"/>
            <a:ext cx="2817719" cy="4476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426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tion-9">
            <a:extLst xmlns:a="http://schemas.openxmlformats.org/drawingml/2006/main">
              <a:ext uri="{FF2B5EF4-FFF2-40B4-BE49-F238E27FC236}">
                <a16:creationId xmlns:a16="http://schemas.microsoft.com/office/drawing/2014/main" id="{CFD91B40-3B82-4F07-A869-5A2B1CB4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57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GATEWAY &amp; JARINGAN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79DAAD2C-DB5C-4954-94AD-DE288081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Bahan pembicaraan Gateway dan jaringan IT</a:t>
            </a:r>
          </a:p>
        </p:txBody>
      </p:sp>
      <p:sp>
        <p:nvSpPr>
          <p:cNvPr id="3" name="footer-rule-9">
            <a:extLst xmlns:a="http://schemas.openxmlformats.org/drawingml/2006/main">
              <a:ext uri="{FF2B5EF4-FFF2-40B4-BE49-F238E27FC236}">
                <a16:creationId xmlns:a16="http://schemas.microsoft.com/office/drawing/2014/main" id="{5ED47AE5-F160-48B8-AC75-E9584D77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1201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footer-left-9">
            <a:extLst xmlns:a="http://schemas.openxmlformats.org/drawingml/2006/main">
              <a:ext uri="{FF2B5EF4-FFF2-40B4-BE49-F238E27FC236}">
                <a16:creationId xmlns:a16="http://schemas.microsoft.com/office/drawing/2014/main" id="{6C232E07-4357-4C4D-B9E8-C947BA5A3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INTERNAL • 19 AGUSTUS 2026</a:t>
            </a:r>
          </a:p>
        </p:txBody>
      </p:sp>
      <p:sp>
        <p:nvSpPr>
          <p:cNvPr id="5" name="footer-number-9">
            <a:extLst xmlns:a="http://schemas.openxmlformats.org/drawingml/2006/main">
              <a:ext uri="{FF2B5EF4-FFF2-40B4-BE49-F238E27FC236}">
                <a16:creationId xmlns:a16="http://schemas.microsoft.com/office/drawing/2014/main" id="{8320F8FD-9D61-405F-A348-67E2F793A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09</a:t>
            </a:r>
          </a:p>
        </p:txBody>
      </p:sp>
      <p:sp>
        <p:nvSpPr>
          <p:cNvPr id="6" name="gw-intro">
            <a:extLst xmlns:a="http://schemas.openxmlformats.org/drawingml/2006/main">
              <a:ext uri="{FF2B5EF4-FFF2-40B4-BE49-F238E27FC236}">
                <a16:creationId xmlns:a16="http://schemas.microsoft.com/office/drawing/2014/main" id="{E5AA778E-A426-484D-AD11-0CC17D6B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11201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Gateway, jaringan, dan server belum dibahas atau disepakati; bagian ini menjadi agenda pembicaraan awal dengan tim IT.</a:t>
            </a:r>
          </a:p>
        </p:txBody>
      </p:sp>
      <p:sp>
        <p:nvSpPr>
          <p:cNvPr id="7" name="gw-physical">
            <a:extLst xmlns:a="http://schemas.openxmlformats.org/drawingml/2006/main">
              <a:ext uri="{FF2B5EF4-FFF2-40B4-BE49-F238E27FC236}">
                <a16:creationId xmlns:a16="http://schemas.microsoft.com/office/drawing/2014/main" id="{0DE65C2D-7FFC-447D-AC18-AB2F22A6D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57400"/>
            <a:ext cx="5143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w-physical-title">
            <a:extLst xmlns:a="http://schemas.openxmlformats.org/drawingml/2006/main">
              <a:ext uri="{FF2B5EF4-FFF2-40B4-BE49-F238E27FC236}">
                <a16:creationId xmlns:a16="http://schemas.microsoft.com/office/drawing/2014/main" id="{18B82D68-71C2-4AED-9295-750DF405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4572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701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Penempatan &amp; perangkat</a:t>
            </a:r>
          </a:p>
        </p:txBody>
      </p:sp>
      <p:sp>
        <p:nvSpPr>
          <p:cNvPr id="9" name="gw-physical-body">
            <a:extLst xmlns:a="http://schemas.openxmlformats.org/drawingml/2006/main">
              <a:ext uri="{FF2B5EF4-FFF2-40B4-BE49-F238E27FC236}">
                <a16:creationId xmlns:a16="http://schemas.microsoft.com/office/drawing/2014/main" id="{9A09C8B5-67B9-4B75-AF29-F224FB6F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4572000" cy="190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Lokasi Gateway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Pilihan koneksi site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Posisi dan rute antena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Catu daya serta grounding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Dukungan operasional</a:t>
            </a:r>
          </a:p>
        </p:txBody>
      </p:sp>
      <p:sp>
        <p:nvSpPr>
          <p:cNvPr id="10" name="gw-ticket">
            <a:extLst xmlns:a="http://schemas.openxmlformats.org/drawingml/2006/main">
              <a:ext uri="{FF2B5EF4-FFF2-40B4-BE49-F238E27FC236}">
                <a16:creationId xmlns:a16="http://schemas.microsoft.com/office/drawing/2014/main" id="{60A4FF52-0824-4A90-89C3-D2DCCBD4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57400"/>
            <a:ext cx="56388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w-ticket-title">
            <a:extLst xmlns:a="http://schemas.openxmlformats.org/drawingml/2006/main">
              <a:ext uri="{FF2B5EF4-FFF2-40B4-BE49-F238E27FC236}">
                <a16:creationId xmlns:a16="http://schemas.microsoft.com/office/drawing/2014/main" id="{C9D9BD1F-6036-439D-9785-EB3E8C07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81250"/>
            <a:ext cx="5067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701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Data untuk dibahas dengan IT</a:t>
            </a:r>
          </a:p>
        </p:txBody>
      </p:sp>
      <p:sp>
        <p:nvSpPr>
          <p:cNvPr id="12" name="gw-ticket-body">
            <a:extLst xmlns:a="http://schemas.openxmlformats.org/drawingml/2006/main">
              <a:ext uri="{FF2B5EF4-FFF2-40B4-BE49-F238E27FC236}">
                <a16:creationId xmlns:a16="http://schemas.microsoft.com/office/drawing/2014/main" id="{132CD171-3D99-4FED-92E9-024E2C8C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52750"/>
            <a:ext cx="5067300" cy="207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1  MAC Wi-Fi unit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2  Alamat broker/server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3  Port komunikasi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4  SSID, VLAN, DHCP, DNS, NTP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5  Keamanan dan penanggung jawab</a:t>
            </a:r>
          </a:p>
        </p:txBody>
      </p:sp>
      <p:sp>
        <p:nvSpPr>
          <p:cNvPr id="13" name="gw-footnote">
            <a:extLst xmlns:a="http://schemas.openxmlformats.org/drawingml/2006/main">
              <a:ext uri="{FF2B5EF4-FFF2-40B4-BE49-F238E27FC236}">
                <a16:creationId xmlns:a16="http://schemas.microsoft.com/office/drawing/2014/main" id="{D3EF822D-981D-473D-82F9-560F302A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57850"/>
            <a:ext cx="11201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Output pembicaraan: lokasi, metode koneksi, parameter jaringan, penanggung jawab, dan kriteria penerimaan.</a:t>
            </a:r>
          </a:p>
        </p:txBody>
      </p:sp>
    </p:spTree>
    <p:extLst>
      <p:ext uri="{BB962C8B-B14F-4D97-AF65-F5344CB8AC3E}">
        <p14:creationId xmlns:p14="http://schemas.microsoft.com/office/powerpoint/2010/main" val="12352554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-10">
            <a:extLst xmlns:a="http://schemas.openxmlformats.org/drawingml/2006/main">
              <a:ext uri="{FF2B5EF4-FFF2-40B4-BE49-F238E27FC236}">
                <a16:creationId xmlns:a16="http://schemas.microsoft.com/office/drawing/2014/main" id="{948564C7-CE46-4C09-884F-783A09A3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57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KEAMANAN JARINGAN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53C91F2A-D6B9-4995-BF45-2D371F8C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 Agenda keamanan jaringan</a:t>
            </a:r>
          </a:p>
        </p:txBody>
      </p:sp>
      <p:sp>
        <p:nvSpPr>
          <p:cNvPr id="3" name="footer-rule-10">
            <a:extLst xmlns:a="http://schemas.openxmlformats.org/drawingml/2006/main">
              <a:ext uri="{FF2B5EF4-FFF2-40B4-BE49-F238E27FC236}">
                <a16:creationId xmlns:a16="http://schemas.microsoft.com/office/drawing/2014/main" id="{E416E850-3AF0-45C2-9406-1A4E62F4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1201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footer-left-10">
            <a:extLst xmlns:a="http://schemas.openxmlformats.org/drawingml/2006/main">
              <a:ext uri="{FF2B5EF4-FFF2-40B4-BE49-F238E27FC236}">
                <a16:creationId xmlns:a16="http://schemas.microsoft.com/office/drawing/2014/main" id="{1453C9A7-AE98-48EA-AF03-71A8949A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INTERNAL • 19 AGUSTUS 2026</a:t>
            </a:r>
          </a:p>
        </p:txBody>
      </p:sp>
      <p:sp>
        <p:nvSpPr>
          <p:cNvPr id="5" name="footer-number-10">
            <a:extLst xmlns:a="http://schemas.openxmlformats.org/drawingml/2006/main">
              <a:ext uri="{FF2B5EF4-FFF2-40B4-BE49-F238E27FC236}">
                <a16:creationId xmlns:a16="http://schemas.microsoft.com/office/drawing/2014/main" id="{4957DEC9-75EF-4DCA-B6CC-DA0B02CE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10</a:t>
            </a:r>
          </a:p>
        </p:txBody>
      </p:sp>
      <p:sp>
        <p:nvSpPr>
          <p:cNvPr id="6" name="tls-intro">
            <a:extLst xmlns:a="http://schemas.openxmlformats.org/drawingml/2006/main">
              <a:ext uri="{FF2B5EF4-FFF2-40B4-BE49-F238E27FC236}">
                <a16:creationId xmlns:a16="http://schemas.microsoft.com/office/drawing/2014/main" id="{B55528F2-C206-4A8F-A547-4041F532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Opsi berikut disiapkan untuk menentukan arah keamanan komunikasi bersama tim IT.</a:t>
            </a:r>
          </a:p>
        </p:txBody>
      </p:sp>
      <p:sp>
        <p:nvSpPr>
          <p:cNvPr id="7" name="tls-current">
            <a:extLst xmlns:a="http://schemas.openxmlformats.org/drawingml/2006/main">
              <a:ext uri="{FF2B5EF4-FFF2-40B4-BE49-F238E27FC236}">
                <a16:creationId xmlns:a16="http://schemas.microsoft.com/office/drawing/2014/main" id="{A804665D-C7A7-4621-AD5E-71555952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6215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ls-current-label">
            <a:extLst xmlns:a="http://schemas.openxmlformats.org/drawingml/2006/main">
              <a:ext uri="{FF2B5EF4-FFF2-40B4-BE49-F238E27FC236}">
                <a16:creationId xmlns:a16="http://schemas.microsoft.com/office/drawing/2014/main" id="{B42338B3-9D54-472B-9602-E4DE1AEA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438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C01818"/>
                </a:solidFill>
                <a:latin typeface="Arial"/>
                <a:ea typeface="Arial"/>
                <a:cs typeface="Arial"/>
              </a:defRPr>
            </a:pPr>
            <a:r>
              <a:t>KEPUTUSAN ARSITEKTUR</a:t>
            </a:r>
          </a:p>
        </p:txBody>
      </p:sp>
      <p:sp>
        <p:nvSpPr>
          <p:cNvPr id="9" name="tls-current-title">
            <a:extLst xmlns:a="http://schemas.openxmlformats.org/drawingml/2006/main">
              <a:ext uri="{FF2B5EF4-FFF2-40B4-BE49-F238E27FC236}">
                <a16:creationId xmlns:a16="http://schemas.microsoft.com/office/drawing/2014/main" id="{77EC947F-5F4E-4F33-B525-87260B84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4381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Proteksi komunikasi</a:t>
            </a:r>
          </a:p>
        </p:txBody>
      </p:sp>
      <p:sp>
        <p:nvSpPr>
          <p:cNvPr id="10" name="tls-current-body">
            <a:extLst xmlns:a="http://schemas.openxmlformats.org/drawingml/2006/main">
              <a:ext uri="{FF2B5EF4-FFF2-40B4-BE49-F238E27FC236}">
                <a16:creationId xmlns:a16="http://schemas.microsoft.com/office/drawing/2014/main" id="{406E3A38-655D-4601-BFD7-E122BA3D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52800"/>
            <a:ext cx="4381500" cy="121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Protokol dan penggunaan TLS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Identitas setiap perangkat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Autentikasi dan autorisasi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Pengelolaan kredensial</a:t>
            </a:r>
          </a:p>
        </p:txBody>
      </p:sp>
      <p:sp>
        <p:nvSpPr>
          <p:cNvPr id="11" name="tls-arrow">
            <a:extLst xmlns:a="http://schemas.openxmlformats.org/drawingml/2006/main">
              <a:ext uri="{FF2B5EF4-FFF2-40B4-BE49-F238E27FC236}">
                <a16:creationId xmlns:a16="http://schemas.microsoft.com/office/drawing/2014/main" id="{60E821A9-C85A-4333-8564-BC3C3353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86100"/>
            <a:ext cx="952500" cy="438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tls-required">
            <a:extLst xmlns:a="http://schemas.openxmlformats.org/drawingml/2006/main">
              <a:ext uri="{FF2B5EF4-FFF2-40B4-BE49-F238E27FC236}">
                <a16:creationId xmlns:a16="http://schemas.microsoft.com/office/drawing/2014/main" id="{B353BE1F-15B3-456F-8AE3-8D78B92C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96215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ls-required-label">
            <a:extLst xmlns:a="http://schemas.openxmlformats.org/drawingml/2006/main">
              <a:ext uri="{FF2B5EF4-FFF2-40B4-BE49-F238E27FC236}">
                <a16:creationId xmlns:a16="http://schemas.microsoft.com/office/drawing/2014/main" id="{8B5757D0-5369-4168-B73A-99445E1E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47900"/>
            <a:ext cx="438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B7D4E"/>
                </a:solidFill>
                <a:latin typeface="Arial"/>
                <a:ea typeface="Arial"/>
                <a:cs typeface="Arial"/>
              </a:defRPr>
            </a:pPr>
            <a:r>
              <a:t>BUKTI PENERIMAAN</a:t>
            </a:r>
          </a:p>
        </p:txBody>
      </p:sp>
      <p:sp>
        <p:nvSpPr>
          <p:cNvPr id="14" name="tls-required-title">
            <a:extLst xmlns:a="http://schemas.openxmlformats.org/drawingml/2006/main">
              <a:ext uri="{FF2B5EF4-FFF2-40B4-BE49-F238E27FC236}">
                <a16:creationId xmlns:a16="http://schemas.microsoft.com/office/drawing/2014/main" id="{C25F9CBB-B381-4739-BF5C-41A4D70C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86050"/>
            <a:ext cx="4381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Uji dan pencatatan</a:t>
            </a:r>
          </a:p>
        </p:txBody>
      </p:sp>
      <p:sp>
        <p:nvSpPr>
          <p:cNvPr id="15" name="tls-required-body">
            <a:extLst xmlns:a="http://schemas.openxmlformats.org/drawingml/2006/main">
              <a:ext uri="{FF2B5EF4-FFF2-40B4-BE49-F238E27FC236}">
                <a16:creationId xmlns:a16="http://schemas.microsoft.com/office/drawing/2014/main" id="{7974C5BA-3B8E-41AE-B599-6E633A82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52800"/>
            <a:ext cx="4381500" cy="121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Topic ACL dan broker log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CONNACK serta pub/sub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Reconnect dan restart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Siklus hidup sertifikat</a:t>
            </a:r>
          </a:p>
        </p:txBody>
      </p:sp>
      <p:sp>
        <p:nvSpPr>
          <p:cNvPr id="16" name="tls-note">
            <a:extLst xmlns:a="http://schemas.openxmlformats.org/drawingml/2006/main">
              <a:ext uri="{FF2B5EF4-FFF2-40B4-BE49-F238E27FC236}">
                <a16:creationId xmlns:a16="http://schemas.microsoft.com/office/drawing/2014/main" id="{D5BF3E8D-891F-4AC5-819F-3E609A3E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19700"/>
            <a:ext cx="11201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ls-note-text">
            <a:extLst xmlns:a="http://schemas.openxmlformats.org/drawingml/2006/main">
              <a:ext uri="{FF2B5EF4-FFF2-40B4-BE49-F238E27FC236}">
                <a16:creationId xmlns:a16="http://schemas.microsoft.com/office/drawing/2014/main" id="{06FBB0CE-75AF-4659-97FC-F15A70EF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1062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64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Poin keputusan bersama IT: protokol, identitas, akses, logging, kredensial, dan pengujian penerimaan.</a:t>
            </a:r>
          </a:p>
        </p:txBody>
      </p:sp>
    </p:spTree>
    <p:extLst>
      <p:ext uri="{BB962C8B-B14F-4D97-AF65-F5344CB8AC3E}">
        <p14:creationId xmlns:p14="http://schemas.microsoft.com/office/powerpoint/2010/main" val="7193632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ection-11">
            <a:extLst xmlns:a="http://schemas.openxmlformats.org/drawingml/2006/main">
              <a:ext uri="{FF2B5EF4-FFF2-40B4-BE49-F238E27FC236}">
                <a16:creationId xmlns:a16="http://schemas.microsoft.com/office/drawing/2014/main" id="{B66B28E3-3120-4C61-8222-5EA40552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57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SERVER &amp; DASHBOARD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3A0E889B-6105-4703-AB24-922C301E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Bahan pembicaraan server dan dashboard</a:t>
            </a:r>
          </a:p>
        </p:txBody>
      </p:sp>
      <p:sp>
        <p:nvSpPr>
          <p:cNvPr id="3" name="footer-rule-11">
            <a:extLst xmlns:a="http://schemas.openxmlformats.org/drawingml/2006/main">
              <a:ext uri="{FF2B5EF4-FFF2-40B4-BE49-F238E27FC236}">
                <a16:creationId xmlns:a16="http://schemas.microsoft.com/office/drawing/2014/main" id="{01BF1A5C-86CC-43A0-A483-037E2754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1201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footer-left-11">
            <a:extLst xmlns:a="http://schemas.openxmlformats.org/drawingml/2006/main">
              <a:ext uri="{FF2B5EF4-FFF2-40B4-BE49-F238E27FC236}">
                <a16:creationId xmlns:a16="http://schemas.microsoft.com/office/drawing/2014/main" id="{083FE9B2-227B-4A95-8353-98DB5B00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INTERNAL • 19 AGUSTUS 2026</a:t>
            </a:r>
          </a:p>
        </p:txBody>
      </p:sp>
      <p:sp>
        <p:nvSpPr>
          <p:cNvPr id="5" name="footer-number-11">
            <a:extLst xmlns:a="http://schemas.openxmlformats.org/drawingml/2006/main">
              <a:ext uri="{FF2B5EF4-FFF2-40B4-BE49-F238E27FC236}">
                <a16:creationId xmlns:a16="http://schemas.microsoft.com/office/drawing/2014/main" id="{C6CB2499-24E5-439A-B87C-887BA5CC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11</a:t>
            </a:r>
          </a:p>
        </p:txBody>
      </p:sp>
      <p:sp>
        <p:nvSpPr>
          <p:cNvPr id="6" name="server-intro">
            <a:extLst xmlns:a="http://schemas.openxmlformats.org/drawingml/2006/main">
              <a:ext uri="{FF2B5EF4-FFF2-40B4-BE49-F238E27FC236}">
                <a16:creationId xmlns:a16="http://schemas.microsoft.com/office/drawing/2014/main" id="{2B760500-ED78-4928-B631-9EECF6D5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11201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Pembahasan awal perlu menetapkan layanan, platform, keamanan, operasi, dan kriteria penerimaan.</a:t>
            </a:r>
          </a:p>
        </p:txBody>
      </p:sp>
      <p:sp>
        <p:nvSpPr>
          <p:cNvPr id="7" name="server-source">
            <a:extLst xmlns:a="http://schemas.openxmlformats.org/drawingml/2006/main">
              <a:ext uri="{FF2B5EF4-FFF2-40B4-BE49-F238E27FC236}">
                <a16:creationId xmlns:a16="http://schemas.microsoft.com/office/drawing/2014/main" id="{4EF56EEC-B97D-4882-82DD-7650C1E3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81200"/>
            <a:ext cx="33337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rver-pilot">
            <a:extLst xmlns:a="http://schemas.openxmlformats.org/drawingml/2006/main">
              <a:ext uri="{FF2B5EF4-FFF2-40B4-BE49-F238E27FC236}">
                <a16:creationId xmlns:a16="http://schemas.microsoft.com/office/drawing/2014/main" id="{27646CD9-5AEC-4B91-B622-5294E990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81200"/>
            <a:ext cx="33337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erver-prod">
            <a:extLst xmlns:a="http://schemas.openxmlformats.org/drawingml/2006/main">
              <a:ext uri="{FF2B5EF4-FFF2-40B4-BE49-F238E27FC236}">
                <a16:creationId xmlns:a16="http://schemas.microsoft.com/office/drawing/2014/main" id="{F93CC3E7-E765-4808-A114-A50FD892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81200"/>
            <a:ext cx="33337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rver-source-title">
            <a:extLst xmlns:a="http://schemas.openxmlformats.org/drawingml/2006/main">
              <a:ext uri="{FF2B5EF4-FFF2-40B4-BE49-F238E27FC236}">
                <a16:creationId xmlns:a16="http://schemas.microsoft.com/office/drawing/2014/main" id="{1185B781-7043-4118-9D9A-40D2E2C2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2762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KEBUTUHAN LAYANAN</a:t>
            </a:r>
          </a:p>
        </p:txBody>
      </p:sp>
      <p:sp>
        <p:nvSpPr>
          <p:cNvPr id="11" name="server-source-big">
            <a:extLst xmlns:a="http://schemas.openxmlformats.org/drawingml/2006/main">
              <a:ext uri="{FF2B5EF4-FFF2-40B4-BE49-F238E27FC236}">
                <a16:creationId xmlns:a16="http://schemas.microsoft.com/office/drawing/2014/main" id="{349CA21B-EC67-4CEC-8845-4705881F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2762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866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C01818"/>
                </a:solidFill>
                <a:latin typeface="Arial"/>
                <a:ea typeface="Arial"/>
                <a:cs typeface="Arial"/>
              </a:defRPr>
            </a:pPr>
            <a:r>
              <a:t>Data &amp; dashboard</a:t>
            </a:r>
          </a:p>
        </p:txBody>
      </p:sp>
      <p:sp>
        <p:nvSpPr>
          <p:cNvPr id="12" name="server-source-body">
            <a:extLst xmlns:a="http://schemas.openxmlformats.org/drawingml/2006/main">
              <a:ext uri="{FF2B5EF4-FFF2-40B4-BE49-F238E27FC236}">
                <a16:creationId xmlns:a16="http://schemas.microsoft.com/office/drawing/2014/main" id="{A7AB0BAA-97CF-482F-A74E-B56AF808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2762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Broker komunikasi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Pengolahan data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Dashboard pengguna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Dataset dan log</a:t>
            </a:r>
          </a:p>
        </p:txBody>
      </p:sp>
      <p:sp>
        <p:nvSpPr>
          <p:cNvPr id="13" name="server-pilot-title">
            <a:extLst xmlns:a="http://schemas.openxmlformats.org/drawingml/2006/main">
              <a:ext uri="{FF2B5EF4-FFF2-40B4-BE49-F238E27FC236}">
                <a16:creationId xmlns:a16="http://schemas.microsoft.com/office/drawing/2014/main" id="{966B08A8-C1CA-48D2-898D-459ADCD9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86000"/>
            <a:ext cx="2762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PLATFORM &amp; HOSTING</a:t>
            </a:r>
          </a:p>
        </p:txBody>
      </p:sp>
      <p:sp>
        <p:nvSpPr>
          <p:cNvPr id="14" name="server-pilot-big">
            <a:extLst xmlns:a="http://schemas.openxmlformats.org/drawingml/2006/main">
              <a:ext uri="{FF2B5EF4-FFF2-40B4-BE49-F238E27FC236}">
                <a16:creationId xmlns:a16="http://schemas.microsoft.com/office/drawing/2014/main" id="{66A697AC-E938-4431-BEEE-40ADA1B1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724150"/>
            <a:ext cx="27622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Keputusan bersama IT</a:t>
            </a:r>
          </a:p>
        </p:txBody>
      </p:sp>
      <p:sp>
        <p:nvSpPr>
          <p:cNvPr id="15" name="server-pilot-body">
            <a:extLst xmlns:a="http://schemas.openxmlformats.org/drawingml/2006/main">
              <a:ext uri="{FF2B5EF4-FFF2-40B4-BE49-F238E27FC236}">
                <a16:creationId xmlns:a16="http://schemas.microsoft.com/office/drawing/2014/main" id="{88D58F85-1903-4491-BED8-6C9A8B38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733800"/>
            <a:ext cx="27622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Lokasi hosting, kapasitas, sistem operasi, runtime, akses pengguna, dan integrasi jaringan.</a:t>
            </a:r>
          </a:p>
        </p:txBody>
      </p:sp>
      <p:sp>
        <p:nvSpPr>
          <p:cNvPr id="16" name="server-prod-title">
            <a:extLst xmlns:a="http://schemas.openxmlformats.org/drawingml/2006/main">
              <a:ext uri="{FF2B5EF4-FFF2-40B4-BE49-F238E27FC236}">
                <a16:creationId xmlns:a16="http://schemas.microsoft.com/office/drawing/2014/main" id="{D0E6EB74-C17E-4BD7-A41B-CE03F153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286000"/>
            <a:ext cx="2762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OPERASI &amp; KEAMANAN</a:t>
            </a:r>
          </a:p>
        </p:txBody>
      </p:sp>
      <p:sp>
        <p:nvSpPr>
          <p:cNvPr id="17" name="server-prod-big">
            <a:extLst xmlns:a="http://schemas.openxmlformats.org/drawingml/2006/main">
              <a:ext uri="{FF2B5EF4-FFF2-40B4-BE49-F238E27FC236}">
                <a16:creationId xmlns:a16="http://schemas.microsoft.com/office/drawing/2014/main" id="{66A7B3B1-B98D-4EF8-A759-F42B988F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24150"/>
            <a:ext cx="2762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Runbook layanan</a:t>
            </a:r>
          </a:p>
        </p:txBody>
      </p:sp>
      <p:sp>
        <p:nvSpPr>
          <p:cNvPr id="18" name="server-prod-body">
            <a:extLst xmlns:a="http://schemas.openxmlformats.org/drawingml/2006/main">
              <a:ext uri="{FF2B5EF4-FFF2-40B4-BE49-F238E27FC236}">
                <a16:creationId xmlns:a16="http://schemas.microsoft.com/office/drawing/2014/main" id="{10948BBE-060E-42DA-8605-DB9E3B27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33750"/>
            <a:ext cx="2762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TLS dan ACL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Backup dan restore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Monitoring serta retention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HTTPS/RBAC dan owner operasi</a:t>
            </a:r>
          </a:p>
        </p:txBody>
      </p:sp>
      <p:sp>
        <p:nvSpPr>
          <p:cNvPr id="19" name="server-two-gaps">
            <a:extLst xmlns:a="http://schemas.openxmlformats.org/drawingml/2006/main">
              <a:ext uri="{FF2B5EF4-FFF2-40B4-BE49-F238E27FC236}">
                <a16:creationId xmlns:a16="http://schemas.microsoft.com/office/drawing/2014/main" id="{7DDE1C87-02EF-4DB7-8085-37BCA369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19750"/>
            <a:ext cx="11201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Output pembicaraan: arsitektur, kapasitas, keamanan, operasi, owner, dan acceptance test yang disepakati.</a:t>
            </a:r>
          </a:p>
        </p:txBody>
      </p:sp>
    </p:spTree>
    <p:extLst>
      <p:ext uri="{BB962C8B-B14F-4D97-AF65-F5344CB8AC3E}">
        <p14:creationId xmlns:p14="http://schemas.microsoft.com/office/powerpoint/2010/main" val="1590919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-12">
            <a:extLst xmlns:a="http://schemas.openxmlformats.org/drawingml/2006/main">
              <a:ext uri="{FF2B5EF4-FFF2-40B4-BE49-F238E27FC236}">
                <a16:creationId xmlns:a16="http://schemas.microsoft.com/office/drawing/2014/main" id="{614FD8DF-83C4-42D9-94FB-233D904E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57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LOKASI SRU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BF3EB7F9-9223-4E3F-898C-A980AC4E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Lokasi pemasangan diarahkan ke area SRU</a:t>
            </a:r>
          </a:p>
        </p:txBody>
      </p:sp>
      <p:sp>
        <p:nvSpPr>
          <p:cNvPr id="3" name="footer-rule-12">
            <a:extLst xmlns:a="http://schemas.openxmlformats.org/drawingml/2006/main">
              <a:ext uri="{FF2B5EF4-FFF2-40B4-BE49-F238E27FC236}">
                <a16:creationId xmlns:a16="http://schemas.microsoft.com/office/drawing/2014/main" id="{C90EB95A-E6DD-4AF2-BB9D-1A589F79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1201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footer-left-12">
            <a:extLst xmlns:a="http://schemas.openxmlformats.org/drawingml/2006/main">
              <a:ext uri="{FF2B5EF4-FFF2-40B4-BE49-F238E27FC236}">
                <a16:creationId xmlns:a16="http://schemas.microsoft.com/office/drawing/2014/main" id="{0B3D092A-A6D1-4463-9798-4C765E8E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INTERNAL • 19 AGUSTUS 2026</a:t>
            </a:r>
          </a:p>
        </p:txBody>
      </p:sp>
      <p:sp>
        <p:nvSpPr>
          <p:cNvPr id="5" name="footer-number-12">
            <a:extLst xmlns:a="http://schemas.openxmlformats.org/drawingml/2006/main">
              <a:ext uri="{FF2B5EF4-FFF2-40B4-BE49-F238E27FC236}">
                <a16:creationId xmlns:a16="http://schemas.microsoft.com/office/drawing/2014/main" id="{DB11297F-4038-46C4-962C-3E038F4B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12</a:t>
            </a:r>
          </a:p>
        </p:txBody>
      </p:sp>
      <p:sp>
        <p:nvSpPr>
          <p:cNvPr id="6" name="safety-banner">
            <a:extLst xmlns:a="http://schemas.openxmlformats.org/drawingml/2006/main">
              <a:ext uri="{FF2B5EF4-FFF2-40B4-BE49-F238E27FC236}">
                <a16:creationId xmlns:a16="http://schemas.microsoft.com/office/drawing/2014/main" id="{1043D4BC-317A-4ED3-8A24-B7646366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112014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afety-banner-label">
            <a:extLst xmlns:a="http://schemas.openxmlformats.org/drawingml/2006/main">
              <a:ext uri="{FF2B5EF4-FFF2-40B4-BE49-F238E27FC236}">
                <a16:creationId xmlns:a16="http://schemas.microsoft.com/office/drawing/2014/main" id="{D54E57C7-3CB3-42FD-8664-78B138A1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01818"/>
                </a:solidFill>
                <a:latin typeface="Arial"/>
                <a:ea typeface="Arial"/>
                <a:cs typeface="Arial"/>
              </a:defRPr>
            </a:pPr>
            <a:r>
              <a:t>AREA SRU</a:t>
            </a:r>
          </a:p>
        </p:txBody>
      </p:sp>
      <p:sp>
        <p:nvSpPr>
          <p:cNvPr id="8" name="safety-banner-text">
            <a:extLst xmlns:a="http://schemas.openxmlformats.org/drawingml/2006/main">
              <a:ext uri="{FF2B5EF4-FFF2-40B4-BE49-F238E27FC236}">
                <a16:creationId xmlns:a16="http://schemas.microsoft.com/office/drawing/2014/main" id="{3A0B5DA7-06D4-4164-AA6F-B594D480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19250"/>
            <a:ext cx="8534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Rencana awal pemasangan di area LPG telah dialihkan ke area SRU.</a:t>
            </a:r>
          </a:p>
        </p:txBody>
      </p:sp>
      <p:sp>
        <p:nvSpPr>
          <p:cNvPr id="9" name="safety-rule-title">
            <a:extLst xmlns:a="http://schemas.openxmlformats.org/drawingml/2006/main">
              <a:ext uri="{FF2B5EF4-FFF2-40B4-BE49-F238E27FC236}">
                <a16:creationId xmlns:a16="http://schemas.microsoft.com/office/drawing/2014/main" id="{F8FC559E-878D-484F-9263-F443DC4F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81300"/>
            <a:ext cx="342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Ruang lingkup Cilacap</a:t>
            </a:r>
          </a:p>
        </p:txBody>
      </p:sp>
      <p:sp>
        <p:nvSpPr>
          <p:cNvPr id="10" name="safety-rules">
            <a:extLst xmlns:a="http://schemas.openxmlformats.org/drawingml/2006/main">
              <a:ext uri="{FF2B5EF4-FFF2-40B4-BE49-F238E27FC236}">
                <a16:creationId xmlns:a16="http://schemas.microsoft.com/office/drawing/2014/main" id="{F75DFF28-2103-4930-9490-38B378B5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5334000" cy="186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Rencana awal: area LPG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Lokasi pemasangan: area SRU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Ruang lingkup: 3 unit GLD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Jumlah CH menyesuaikan cakupan</a:t>
            </a:r>
          </a:p>
        </p:txBody>
      </p:sp>
      <p:sp>
        <p:nvSpPr>
          <p:cNvPr id="11" name="safety-gates-title">
            <a:extLst xmlns:a="http://schemas.openxmlformats.org/drawingml/2006/main">
              <a:ext uri="{FF2B5EF4-FFF2-40B4-BE49-F238E27FC236}">
                <a16:creationId xmlns:a16="http://schemas.microsoft.com/office/drawing/2014/main" id="{EC681A99-B076-4B67-B2AB-F02C81E4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476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Koordinasi site &amp; HSE</a:t>
            </a:r>
          </a:p>
        </p:txBody>
      </p:sp>
      <p:sp>
        <p:nvSpPr>
          <p:cNvPr id="12" name="safety-gates">
            <a:extLst xmlns:a="http://schemas.openxmlformats.org/drawingml/2006/main">
              <a:ext uri="{FF2B5EF4-FFF2-40B4-BE49-F238E27FC236}">
                <a16:creationId xmlns:a16="http://schemas.microsoft.com/office/drawing/2014/main" id="{C0D76DCB-81D2-4760-9454-34018956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276600"/>
            <a:ext cx="4533900" cy="186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1  Penetapan titik pemasangan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2  Klasifikasi area setiap titik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3  Desain instalasi dan izin kerja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4  Pemeriksaan serta persetujuan site</a:t>
            </a:r>
          </a:p>
        </p:txBody>
      </p:sp>
      <p:sp>
        <p:nvSpPr>
          <p:cNvPr id="13" name="safety-bottom">
            <a:extLst xmlns:a="http://schemas.openxmlformats.org/drawingml/2006/main">
              <a:ext uri="{FF2B5EF4-FFF2-40B4-BE49-F238E27FC236}">
                <a16:creationId xmlns:a16="http://schemas.microsoft.com/office/drawing/2014/main" id="{560DEDD1-16D2-4AF9-8AF9-2EEF2E41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67350"/>
            <a:ext cx="1120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afety-bottom-text">
            <a:extLst xmlns:a="http://schemas.openxmlformats.org/drawingml/2006/main">
              <a:ext uri="{FF2B5EF4-FFF2-40B4-BE49-F238E27FC236}">
                <a16:creationId xmlns:a16="http://schemas.microsoft.com/office/drawing/2014/main" id="{3D0F342A-A3C4-4D26-8903-38329374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10744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Pemasangan mengikuti ketentuan site dan persyaratan HSE Pertamina.</a:t>
            </a:r>
          </a:p>
        </p:txBody>
      </p:sp>
    </p:spTree>
    <p:extLst>
      <p:ext uri="{BB962C8B-B14F-4D97-AF65-F5344CB8AC3E}">
        <p14:creationId xmlns:p14="http://schemas.microsoft.com/office/powerpoint/2010/main" val="10660081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tion-13">
            <a:extLst xmlns:a="http://schemas.openxmlformats.org/drawingml/2006/main">
              <a:ext uri="{FF2B5EF4-FFF2-40B4-BE49-F238E27FC236}">
                <a16:creationId xmlns:a16="http://schemas.microsoft.com/office/drawing/2014/main" id="{AEDB4B23-0627-41D1-ADA5-11F3CE9C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57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MOUNTING &amp; SITE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71EA0929-3944-4EE0-936D-B315C056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Mounting untuk area SRU</a:t>
            </a:r>
          </a:p>
        </p:txBody>
      </p:sp>
      <p:sp>
        <p:nvSpPr>
          <p:cNvPr id="3" name="footer-rule-13">
            <a:extLst xmlns:a="http://schemas.openxmlformats.org/drawingml/2006/main">
              <a:ext uri="{FF2B5EF4-FFF2-40B4-BE49-F238E27FC236}">
                <a16:creationId xmlns:a16="http://schemas.microsoft.com/office/drawing/2014/main" id="{F79567B6-5987-4DBF-9120-50987A9B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1201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footer-left-13">
            <a:extLst xmlns:a="http://schemas.openxmlformats.org/drawingml/2006/main">
              <a:ext uri="{FF2B5EF4-FFF2-40B4-BE49-F238E27FC236}">
                <a16:creationId xmlns:a16="http://schemas.microsoft.com/office/drawing/2014/main" id="{4D8A1F2C-5F68-43CE-8A38-C4DF6B17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INTERNAL • 19 AGUSTUS 2026</a:t>
            </a:r>
          </a:p>
        </p:txBody>
      </p:sp>
      <p:sp>
        <p:nvSpPr>
          <p:cNvPr id="5" name="footer-number-13">
            <a:extLst xmlns:a="http://schemas.openxmlformats.org/drawingml/2006/main">
              <a:ext uri="{FF2B5EF4-FFF2-40B4-BE49-F238E27FC236}">
                <a16:creationId xmlns:a16="http://schemas.microsoft.com/office/drawing/2014/main" id="{C8D26622-351D-4277-BF9C-227D801A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13</a:t>
            </a:r>
          </a:p>
        </p:txBody>
      </p:sp>
      <p:sp>
        <p:nvSpPr>
          <p:cNvPr id="6" name="mounting-intro">
            <a:extLst xmlns:a="http://schemas.openxmlformats.org/drawingml/2006/main">
              <a:ext uri="{FF2B5EF4-FFF2-40B4-BE49-F238E27FC236}">
                <a16:creationId xmlns:a16="http://schemas.microsoft.com/office/drawing/2014/main" id="{07D85E0A-1070-4F33-9598-3815CE7F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143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Dimensi sementara ditulis ... cm; drawing fabrikasi mengikuti pengukuran titik pemasangan.</a:t>
            </a:r>
          </a:p>
        </p:txBody>
      </p:sp>
      <p:sp>
        <p:nvSpPr>
          <p:cNvPr id="7" name="mounting-survey-title">
            <a:extLst xmlns:a="http://schemas.openxmlformats.org/drawingml/2006/main">
              <a:ext uri="{FF2B5EF4-FFF2-40B4-BE49-F238E27FC236}">
                <a16:creationId xmlns:a16="http://schemas.microsoft.com/office/drawing/2014/main" id="{901C6AD2-8E70-4AB8-A161-45B29BCC6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76450"/>
            <a:ext cx="476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701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Data fabrikasi yang dicatat</a:t>
            </a:r>
          </a:p>
        </p:txBody>
      </p:sp>
      <p:sp>
        <p:nvSpPr>
          <p:cNvPr id="8" name="mounting-survey-body">
            <a:extLst xmlns:a="http://schemas.openxmlformats.org/drawingml/2006/main">
              <a:ext uri="{FF2B5EF4-FFF2-40B4-BE49-F238E27FC236}">
                <a16:creationId xmlns:a16="http://schemas.microsoft.com/office/drawing/2014/main" id="{DD09FE65-06B0-4944-8DBC-B69E8800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4762500" cy="2114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OD, material, tebal, dan beban struktur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Angin, getaran, korosi, dan anchor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Sumber daya, rute kabel, gland, voltage drop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Tinggi antena, LOS, coax, grounding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Akses kerja dan ruang pemeliharaan</a:t>
            </a:r>
          </a:p>
        </p:txBody>
      </p:sp>
      <p:sp>
        <p:nvSpPr>
          <p:cNvPr id="9" name="mounting-proposal">
            <a:extLst xmlns:a="http://schemas.openxmlformats.org/drawingml/2006/main">
              <a:ext uri="{FF2B5EF4-FFF2-40B4-BE49-F238E27FC236}">
                <a16:creationId xmlns:a16="http://schemas.microsoft.com/office/drawing/2014/main" id="{BA465161-7BB6-4908-B895-42A7141F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9110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ounting-proposal-text">
            <a:extLst xmlns:a="http://schemas.openxmlformats.org/drawingml/2006/main">
              <a:ext uri="{FF2B5EF4-FFF2-40B4-BE49-F238E27FC236}">
                <a16:creationId xmlns:a16="http://schemas.microsoft.com/office/drawing/2014/main" id="{DB5F1BB5-F727-4C13-AF12-5AB80ECD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46863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A86500"/>
                </a:solidFill>
                <a:latin typeface="Arial"/>
                <a:ea typeface="Arial"/>
                <a:cs typeface="Arial"/>
              </a:defRPr>
            </a:pPr>
            <a:r>
              <a:t>DIMENSI MOUNTING: ... cm</a:t>
            </a:r>
          </a:p>
        </p:txBody>
      </p:sp>
      <p:sp>
        <p:nvSpPr>
          <p:cNvPr id="11" name="mounting-image-backing">
            <a:extLst xmlns:a="http://schemas.openxmlformats.org/drawingml/2006/main">
              <a:ext uri="{FF2B5EF4-FFF2-40B4-BE49-F238E27FC236}">
                <a16:creationId xmlns:a16="http://schemas.microsoft.com/office/drawing/2014/main" id="{064104D9-6C38-44B9-A542-D4DC3FA2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390650"/>
            <a:ext cx="5638800" cy="422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mounting-caption">
            <a:extLst xmlns:a="http://schemas.openxmlformats.org/drawingml/2006/main">
              <a:ext uri="{FF2B5EF4-FFF2-40B4-BE49-F238E27FC236}">
                <a16:creationId xmlns:a16="http://schemas.microsoft.com/office/drawing/2014/main" id="{C56555BB-11FD-4407-8209-07C6751E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753100"/>
            <a:ext cx="5638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Referensi survei untuk persiapan pemasangan di area SRU.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0204074ce94b00"/>
          <a:srcRect xmlns:a="http://schemas.openxmlformats.org/drawingml/2006/main" l="5875" t="0" r="58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57900" y="1390650"/>
            <a:ext cx="5638800" cy="4229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00484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14">
            <a:extLst xmlns:a="http://schemas.openxmlformats.org/drawingml/2006/main">
              <a:ext uri="{FF2B5EF4-FFF2-40B4-BE49-F238E27FC236}">
                <a16:creationId xmlns:a16="http://schemas.microsoft.com/office/drawing/2014/main" id="{2754D91E-D8F1-41B2-B600-15EA1D85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57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ROADMAP</a:t>
            </a:r>
          </a:p>
        </p:txBody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CFFC6002-AD58-402F-8EFD-7282808C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Roadmap menuju target September 2027</a:t>
            </a:r>
          </a:p>
        </p:txBody>
      </p:sp>
      <p:sp>
        <p:nvSpPr>
          <p:cNvPr id="3" name="footer-rule-14">
            <a:extLst xmlns:a="http://schemas.openxmlformats.org/drawingml/2006/main">
              <a:ext uri="{FF2B5EF4-FFF2-40B4-BE49-F238E27FC236}">
                <a16:creationId xmlns:a16="http://schemas.microsoft.com/office/drawing/2014/main" id="{D3E4A6ED-01C4-4404-838B-074CF900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1201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footer-left-14">
            <a:extLst xmlns:a="http://schemas.openxmlformats.org/drawingml/2006/main">
              <a:ext uri="{FF2B5EF4-FFF2-40B4-BE49-F238E27FC236}">
                <a16:creationId xmlns:a16="http://schemas.microsoft.com/office/drawing/2014/main" id="{69C59B1A-EC9E-40DE-B6A6-1A3E8014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INTERNAL • 19 AGUSTUS 2026</a:t>
            </a:r>
          </a:p>
        </p:txBody>
      </p:sp>
      <p:sp>
        <p:nvSpPr>
          <p:cNvPr id="5" name="footer-number-14">
            <a:extLst xmlns:a="http://schemas.openxmlformats.org/drawingml/2006/main">
              <a:ext uri="{FF2B5EF4-FFF2-40B4-BE49-F238E27FC236}">
                <a16:creationId xmlns:a16="http://schemas.microsoft.com/office/drawing/2014/main" id="{3873A195-977B-49F1-940D-1A72A9F8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14</a:t>
            </a:r>
          </a:p>
        </p:txBody>
      </p:sp>
      <p:sp>
        <p:nvSpPr>
          <p:cNvPr id="6" name="roadmap-track">
            <a:extLst xmlns:a="http://schemas.openxmlformats.org/drawingml/2006/main">
              <a:ext uri="{FF2B5EF4-FFF2-40B4-BE49-F238E27FC236}">
                <a16:creationId xmlns:a16="http://schemas.microsoft.com/office/drawing/2014/main" id="{4EF0EC5D-AF80-46F0-9969-0E407DE7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810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7" name="roadmap-dot-1">
            <a:extLst xmlns:a="http://schemas.openxmlformats.org/drawingml/2006/main">
              <a:ext uri="{FF2B5EF4-FFF2-40B4-BE49-F238E27FC236}">
                <a16:creationId xmlns:a16="http://schemas.microsoft.com/office/drawing/2014/main" id="{2DDE0A0C-EBAF-4FA7-AF5B-F2187B7D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8" name="roadmap-dot-2">
            <a:extLst xmlns:a="http://schemas.openxmlformats.org/drawingml/2006/main">
              <a:ext uri="{FF2B5EF4-FFF2-40B4-BE49-F238E27FC236}">
                <a16:creationId xmlns:a16="http://schemas.microsoft.com/office/drawing/2014/main" id="{171D41AA-465A-49E7-9CDC-816D5381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486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9" name="roadmap-dot-3">
            <a:extLst xmlns:a="http://schemas.openxmlformats.org/drawingml/2006/main">
              <a:ext uri="{FF2B5EF4-FFF2-40B4-BE49-F238E27FC236}">
                <a16:creationId xmlns:a16="http://schemas.microsoft.com/office/drawing/2014/main" id="{0A86CD33-FFBA-4E93-8728-EF6350AC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486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10" name="roadmap-card-1">
            <a:extLst xmlns:a="http://schemas.openxmlformats.org/drawingml/2006/main">
              <a:ext uri="{FF2B5EF4-FFF2-40B4-BE49-F238E27FC236}">
                <a16:creationId xmlns:a16="http://schemas.microsoft.com/office/drawing/2014/main" id="{D180879C-9F06-475B-9EBD-81E7EFD2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32004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oadmap-card-2">
            <a:extLst xmlns:a="http://schemas.openxmlformats.org/drawingml/2006/main">
              <a:ext uri="{FF2B5EF4-FFF2-40B4-BE49-F238E27FC236}">
                <a16:creationId xmlns:a16="http://schemas.microsoft.com/office/drawing/2014/main" id="{4C663CFE-4204-4F7D-924A-58A56E82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466850"/>
            <a:ext cx="32004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oadmap-card-3">
            <a:extLst xmlns:a="http://schemas.openxmlformats.org/drawingml/2006/main">
              <a:ext uri="{FF2B5EF4-FFF2-40B4-BE49-F238E27FC236}">
                <a16:creationId xmlns:a16="http://schemas.microsoft.com/office/drawing/2014/main" id="{E87A756F-6E71-46A0-87AA-FD23B4480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466850"/>
            <a:ext cx="35814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oadmap-1-title">
            <a:extLst xmlns:a="http://schemas.openxmlformats.org/drawingml/2006/main">
              <a:ext uri="{FF2B5EF4-FFF2-40B4-BE49-F238E27FC236}">
                <a16:creationId xmlns:a16="http://schemas.microsoft.com/office/drawing/2014/main" id="{4758857D-CC70-499E-974B-F7304E6D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7165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AGUSTUS 2026</a:t>
            </a:r>
          </a:p>
        </p:txBody>
      </p:sp>
      <p:sp>
        <p:nvSpPr>
          <p:cNvPr id="14" name="roadmap-1-body">
            <a:extLst xmlns:a="http://schemas.openxmlformats.org/drawingml/2006/main">
              <a:ext uri="{FF2B5EF4-FFF2-40B4-BE49-F238E27FC236}">
                <a16:creationId xmlns:a16="http://schemas.microsoft.com/office/drawing/2014/main" id="{8C5121C7-990D-4642-8C66-BB347629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43150"/>
            <a:ext cx="2628900" cy="1847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1856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10 Agustus: acuan “3 minggu lagi”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Rencana kunjungan sekitar akhir Agustus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Catu GLD ditetapkan 24 VDC/2 A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Konfigurasi energi CH ditetapkan</a:t>
            </a:r>
          </a:p>
        </p:txBody>
      </p:sp>
      <p:sp>
        <p:nvSpPr>
          <p:cNvPr id="15" name="roadmap-2-title">
            <a:extLst xmlns:a="http://schemas.openxmlformats.org/drawingml/2006/main">
              <a:ext uri="{FF2B5EF4-FFF2-40B4-BE49-F238E27FC236}">
                <a16:creationId xmlns:a16="http://schemas.microsoft.com/office/drawing/2014/main" id="{43549032-7A7F-452F-84C1-F6A3875F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7165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SEPTEMBER 2026</a:t>
            </a:r>
          </a:p>
        </p:txBody>
      </p:sp>
      <p:sp>
        <p:nvSpPr>
          <p:cNvPr id="16" name="roadmap-2-body">
            <a:extLst xmlns:a="http://schemas.openxmlformats.org/drawingml/2006/main">
              <a:ext uri="{FF2B5EF4-FFF2-40B4-BE49-F238E27FC236}">
                <a16:creationId xmlns:a16="http://schemas.microsoft.com/office/drawing/2014/main" id="{F5BBF9F5-D8C3-4938-8E66-44F162F0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43150"/>
            <a:ext cx="2628900" cy="1847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Survei area SRU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Pengukuran mounting ... cm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Support, kabel, drawing, dan BOM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Bahan pembicaraan bersama IT</a:t>
            </a:r>
          </a:p>
        </p:txBody>
      </p:sp>
      <p:sp>
        <p:nvSpPr>
          <p:cNvPr id="17" name="roadmap-3-title">
            <a:extLst xmlns:a="http://schemas.openxmlformats.org/drawingml/2006/main">
              <a:ext uri="{FF2B5EF4-FFF2-40B4-BE49-F238E27FC236}">
                <a16:creationId xmlns:a16="http://schemas.microsoft.com/office/drawing/2014/main" id="{1F6AEACE-AAA3-4AD4-8D0F-90D326D1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71650"/>
            <a:ext cx="3009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OKT 2026 → SEP 2027</a:t>
            </a:r>
          </a:p>
        </p:txBody>
      </p:sp>
      <p:sp>
        <p:nvSpPr>
          <p:cNvPr id="18" name="roadmap-3-body">
            <a:extLst xmlns:a="http://schemas.openxmlformats.org/drawingml/2006/main">
              <a:ext uri="{FF2B5EF4-FFF2-40B4-BE49-F238E27FC236}">
                <a16:creationId xmlns:a16="http://schemas.microsoft.com/office/drawing/2014/main" id="{6E42E576-CBD0-4962-9B44-605AD608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43150"/>
            <a:ext cx="300990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Penyelesaian desain dan FAT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Proses sertifikasi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Fabrikasi dan pemasangan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SAT, pelatihan, serah terima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Target penerimaan fase awal</a:t>
            </a:r>
          </a:p>
        </p:txBody>
      </p:sp>
      <p:sp>
        <p:nvSpPr>
          <p:cNvPr id="19" name="roadmap-label-1">
            <a:extLst xmlns:a="http://schemas.openxmlformats.org/drawingml/2006/main">
              <a:ext uri="{FF2B5EF4-FFF2-40B4-BE49-F238E27FC236}">
                <a16:creationId xmlns:a16="http://schemas.microsoft.com/office/drawing/2014/main" id="{3CC64D30-8391-4462-A7AB-2F0789EF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BASELINE &amp; KUNJUNGAN</a:t>
            </a:r>
          </a:p>
        </p:txBody>
      </p:sp>
      <p:sp>
        <p:nvSpPr>
          <p:cNvPr id="20" name="roadmap-label-2">
            <a:extLst xmlns:a="http://schemas.openxmlformats.org/drawingml/2006/main">
              <a:ext uri="{FF2B5EF4-FFF2-40B4-BE49-F238E27FC236}">
                <a16:creationId xmlns:a16="http://schemas.microsoft.com/office/drawing/2014/main" id="{E66DD53D-9493-46B7-BB9A-7BA6E29C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82930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SITE &amp; SUPPORT PACK</a:t>
            </a:r>
          </a:p>
        </p:txBody>
      </p:sp>
      <p:sp>
        <p:nvSpPr>
          <p:cNvPr id="21" name="roadmap-label-3">
            <a:extLst xmlns:a="http://schemas.openxmlformats.org/drawingml/2006/main">
              <a:ext uri="{FF2B5EF4-FFF2-40B4-BE49-F238E27FC236}">
                <a16:creationId xmlns:a16="http://schemas.microsoft.com/office/drawing/2014/main" id="{47F20287-BC89-464D-8392-A2AE3AF2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829300"/>
            <a:ext cx="3581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IMPLEMENTASI → TERIMA</a:t>
            </a:r>
          </a:p>
        </p:txBody>
      </p:sp>
    </p:spTree>
    <p:extLst>
      <p:ext uri="{BB962C8B-B14F-4D97-AF65-F5344CB8AC3E}">
        <p14:creationId xmlns:p14="http://schemas.microsoft.com/office/powerpoint/2010/main" val="2685849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15">
            <a:extLst xmlns:a="http://schemas.openxmlformats.org/drawingml/2006/main">
              <a:ext uri="{FF2B5EF4-FFF2-40B4-BE49-F238E27FC236}">
                <a16:creationId xmlns:a16="http://schemas.microsoft.com/office/drawing/2014/main" id="{368DCEE2-BDFB-433E-994B-F7C09DBD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57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TANGGUNG JAWAB</a:t>
            </a:r>
          </a:p>
        </p:txBody>
      </p:sp>
      <p:sp>
        <p:nvSpPr>
          <p:cNvPr id="2" name="title-15">
            <a:extLst xmlns:a="http://schemas.openxmlformats.org/drawingml/2006/main">
              <a:ext uri="{FF2B5EF4-FFF2-40B4-BE49-F238E27FC236}">
                <a16:creationId xmlns:a16="http://schemas.microsoft.com/office/drawing/2014/main" id="{B67D2CD2-CDDA-42CF-8E0E-32398B26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Tanggung jawab ditetapkan per organisasi</a:t>
            </a:r>
          </a:p>
        </p:txBody>
      </p:sp>
      <p:sp>
        <p:nvSpPr>
          <p:cNvPr id="3" name="footer-rule-15">
            <a:extLst xmlns:a="http://schemas.openxmlformats.org/drawingml/2006/main">
              <a:ext uri="{FF2B5EF4-FFF2-40B4-BE49-F238E27FC236}">
                <a16:creationId xmlns:a16="http://schemas.microsoft.com/office/drawing/2014/main" id="{D52C08A0-A98F-4F87-B91B-2A4F0549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1201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footer-left-15">
            <a:extLst xmlns:a="http://schemas.openxmlformats.org/drawingml/2006/main">
              <a:ext uri="{FF2B5EF4-FFF2-40B4-BE49-F238E27FC236}">
                <a16:creationId xmlns:a16="http://schemas.microsoft.com/office/drawing/2014/main" id="{3AE0D565-AD4C-4A06-A274-64E70E55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INTERNAL • 19 AGUSTUS 2026</a:t>
            </a:r>
          </a:p>
        </p:txBody>
      </p:sp>
      <p:sp>
        <p:nvSpPr>
          <p:cNvPr id="5" name="footer-number-15">
            <a:extLst xmlns:a="http://schemas.openxmlformats.org/drawingml/2006/main">
              <a:ext uri="{FF2B5EF4-FFF2-40B4-BE49-F238E27FC236}">
                <a16:creationId xmlns:a16="http://schemas.microsoft.com/office/drawing/2014/main" id="{BBA0C08C-EB66-40F5-A100-8E89BD8D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15</a:t>
            </a:r>
          </a:p>
        </p:txBody>
      </p:sp>
      <p:sp>
        <p:nvSpPr>
          <p:cNvPr id="6" name="ownership-intro">
            <a:extLst xmlns:a="http://schemas.openxmlformats.org/drawingml/2006/main">
              <a:ext uri="{FF2B5EF4-FFF2-40B4-BE49-F238E27FC236}">
                <a16:creationId xmlns:a16="http://schemas.microsoft.com/office/drawing/2014/main" id="{10298161-2BE5-4146-9DEF-24C69890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11201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Pembagian tanggung jawab menjadi dasar koordinasi dan action list implementasi.</a:t>
            </a:r>
          </a:p>
        </p:txBody>
      </p:sp>
      <p:sp>
        <p:nvSpPr>
          <p:cNvPr id="7" name="owner-lgu">
            <a:extLst xmlns:a="http://schemas.openxmlformats.org/drawingml/2006/main">
              <a:ext uri="{FF2B5EF4-FFF2-40B4-BE49-F238E27FC236}">
                <a16:creationId xmlns:a16="http://schemas.microsoft.com/office/drawing/2014/main" id="{D015F086-DB72-4F7E-AE92-C82165D4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43100"/>
            <a:ext cx="33337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owner-pertamina">
            <a:extLst xmlns:a="http://schemas.openxmlformats.org/drawingml/2006/main">
              <a:ext uri="{FF2B5EF4-FFF2-40B4-BE49-F238E27FC236}">
                <a16:creationId xmlns:a16="http://schemas.microsoft.com/office/drawing/2014/main" id="{35ADB863-4DD3-43ED-9AC9-F143D2BA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43100"/>
            <a:ext cx="33337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owner-vendor">
            <a:extLst xmlns:a="http://schemas.openxmlformats.org/drawingml/2006/main">
              <a:ext uri="{FF2B5EF4-FFF2-40B4-BE49-F238E27FC236}">
                <a16:creationId xmlns:a16="http://schemas.microsoft.com/office/drawing/2014/main" id="{C6F8AD4F-A4AE-4451-A4D1-DD2C27D80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43100"/>
            <a:ext cx="33337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owner-lgu-title">
            <a:extLst xmlns:a="http://schemas.openxmlformats.org/drawingml/2006/main">
              <a:ext uri="{FF2B5EF4-FFF2-40B4-BE49-F238E27FC236}">
                <a16:creationId xmlns:a16="http://schemas.microsoft.com/office/drawing/2014/main" id="{FAF1D51F-5382-4DA1-BD5B-D88E09EE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2762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LGU</a:t>
            </a:r>
          </a:p>
        </p:txBody>
      </p:sp>
      <p:sp>
        <p:nvSpPr>
          <p:cNvPr id="11" name="owner-lgu-body">
            <a:extLst xmlns:a="http://schemas.openxmlformats.org/drawingml/2006/main">
              <a:ext uri="{FF2B5EF4-FFF2-40B4-BE49-F238E27FC236}">
                <a16:creationId xmlns:a16="http://schemas.microsoft.com/office/drawing/2014/main" id="{C6CDE552-B453-4BA7-9BBB-F3813645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27622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R / A untuk: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GLD, CH, datasheet, dan BOM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Spesifikasi teknis dan desain support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FAT serta bukti teknis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Bahan pembicaraan Gateway/server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Dukungan SAT</a:t>
            </a:r>
          </a:p>
        </p:txBody>
      </p:sp>
      <p:sp>
        <p:nvSpPr>
          <p:cNvPr id="12" name="owner-pertamina-title">
            <a:extLst xmlns:a="http://schemas.openxmlformats.org/drawingml/2006/main">
              <a:ext uri="{FF2B5EF4-FFF2-40B4-BE49-F238E27FC236}">
                <a16:creationId xmlns:a16="http://schemas.microsoft.com/office/drawing/2014/main" id="{BA12C8D5-78C6-4084-A728-0072C960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47900"/>
            <a:ext cx="2762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0416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PERTAMINA CILACAP</a:t>
            </a:r>
          </a:p>
        </p:txBody>
      </p:sp>
      <p:sp>
        <p:nvSpPr>
          <p:cNvPr id="13" name="owner-pertamina-body">
            <a:extLst xmlns:a="http://schemas.openxmlformats.org/drawingml/2006/main">
              <a:ext uri="{FF2B5EF4-FFF2-40B4-BE49-F238E27FC236}">
                <a16:creationId xmlns:a16="http://schemas.microsoft.com/office/drawing/2014/main" id="{5C34E6FB-F779-42D6-9880-05ED889F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76550"/>
            <a:ext cx="27622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 / C untuk: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Titik pemasangan area SRU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Basis HSE, izin, dan utilitas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Kabel, struktur, dan kontraktor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Persetujuan instalasi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Penerimaan dan sign-off</a:t>
            </a:r>
          </a:p>
        </p:txBody>
      </p:sp>
      <p:sp>
        <p:nvSpPr>
          <p:cNvPr id="14" name="owner-vendor-title">
            <a:extLst xmlns:a="http://schemas.openxmlformats.org/drawingml/2006/main">
              <a:ext uri="{FF2B5EF4-FFF2-40B4-BE49-F238E27FC236}">
                <a16:creationId xmlns:a16="http://schemas.microsoft.com/office/drawing/2014/main" id="{19FA270E-D5DA-4788-8ED6-93BEE0B9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247900"/>
            <a:ext cx="2762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IT &amp; VENDOR</a:t>
            </a:r>
          </a:p>
        </p:txBody>
      </p:sp>
      <p:sp>
        <p:nvSpPr>
          <p:cNvPr id="15" name="owner-vendor-body">
            <a:extLst xmlns:a="http://schemas.openxmlformats.org/drawingml/2006/main">
              <a:ext uri="{FF2B5EF4-FFF2-40B4-BE49-F238E27FC236}">
                <a16:creationId xmlns:a16="http://schemas.microsoft.com/office/drawing/2014/main" id="{AECB77D6-256A-482D-A26F-C5FAA240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76550"/>
            <a:ext cx="27622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R / C untuk: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IT: jaringan, server, dan keamanan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IT: parameter serta acceptance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Vendor: dukungan kunjungan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Vendor: data sertifikasi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Dukungan pengujian/inspeksi</a:t>
            </a:r>
          </a:p>
        </p:txBody>
      </p:sp>
      <p:sp>
        <p:nvSpPr>
          <p:cNvPr id="16" name="ownership-key">
            <a:extLst xmlns:a="http://schemas.openxmlformats.org/drawingml/2006/main">
              <a:ext uri="{FF2B5EF4-FFF2-40B4-BE49-F238E27FC236}">
                <a16:creationId xmlns:a16="http://schemas.microsoft.com/office/drawing/2014/main" id="{BC9407B0-7B71-4045-A0AA-92C779CB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72150"/>
            <a:ext cx="11201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R = Responsible • A = Accountable • C = Consulted</a:t>
            </a:r>
          </a:p>
        </p:txBody>
      </p:sp>
    </p:spTree>
    <p:extLst>
      <p:ext uri="{BB962C8B-B14F-4D97-AF65-F5344CB8AC3E}">
        <p14:creationId xmlns:p14="http://schemas.microsoft.com/office/powerpoint/2010/main" val="213345858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-16">
            <a:extLst xmlns:a="http://schemas.openxmlformats.org/drawingml/2006/main">
              <a:ext uri="{FF2B5EF4-FFF2-40B4-BE49-F238E27FC236}">
                <a16:creationId xmlns:a16="http://schemas.microsoft.com/office/drawing/2014/main" id="{D617E9F0-C3D2-40F8-A7CF-75F4AC62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57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AKSI LANJUT</a:t>
            </a:r>
          </a:p>
        </p:txBody>
      </p:sp>
      <p:sp>
        <p:nvSpPr>
          <p:cNvPr id="2" name="title-16">
            <a:extLst xmlns:a="http://schemas.openxmlformats.org/drawingml/2006/main">
              <a:ext uri="{FF2B5EF4-FFF2-40B4-BE49-F238E27FC236}">
                <a16:creationId xmlns:a16="http://schemas.microsoft.com/office/drawing/2014/main" id="{12C1A9DB-8B8D-40B2-B890-4C34F2CC5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Baseline dan tindak lanjut</a:t>
            </a:r>
          </a:p>
        </p:txBody>
      </p:sp>
      <p:sp>
        <p:nvSpPr>
          <p:cNvPr id="3" name="footer-rule-16">
            <a:extLst xmlns:a="http://schemas.openxmlformats.org/drawingml/2006/main">
              <a:ext uri="{FF2B5EF4-FFF2-40B4-BE49-F238E27FC236}">
                <a16:creationId xmlns:a16="http://schemas.microsoft.com/office/drawing/2014/main" id="{D8CC925A-A9C4-44CC-ACC9-A16CA029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1201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footer-left-16">
            <a:extLst xmlns:a="http://schemas.openxmlformats.org/drawingml/2006/main">
              <a:ext uri="{FF2B5EF4-FFF2-40B4-BE49-F238E27FC236}">
                <a16:creationId xmlns:a16="http://schemas.microsoft.com/office/drawing/2014/main" id="{E945D97B-17C7-4D7C-B21F-44308EAF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INTERNAL • 19 AGUSTUS 2026</a:t>
            </a:r>
          </a:p>
        </p:txBody>
      </p:sp>
      <p:sp>
        <p:nvSpPr>
          <p:cNvPr id="5" name="footer-number-16">
            <a:extLst xmlns:a="http://schemas.openxmlformats.org/drawingml/2006/main">
              <a:ext uri="{FF2B5EF4-FFF2-40B4-BE49-F238E27FC236}">
                <a16:creationId xmlns:a16="http://schemas.microsoft.com/office/drawing/2014/main" id="{98113889-ACB5-44F2-9E3D-5533B5D5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16</a:t>
            </a:r>
          </a:p>
        </p:txBody>
      </p:sp>
      <p:sp>
        <p:nvSpPr>
          <p:cNvPr id="6" name="decision-intro">
            <a:extLst xmlns:a="http://schemas.openxmlformats.org/drawingml/2006/main">
              <a:ext uri="{FF2B5EF4-FFF2-40B4-BE49-F238E27FC236}">
                <a16:creationId xmlns:a16="http://schemas.microsoft.com/office/drawing/2014/main" id="{59EAF7EB-340A-4F93-A9B1-C7104AA5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Fakta yang dikonfirmasi menjadi baseline; topik IT disiapkan sebagai agenda pembicaraan.</a:t>
            </a:r>
          </a:p>
        </p:txBody>
      </p:sp>
      <p:sp>
        <p:nvSpPr>
          <p:cNvPr id="7" name="decision-1-num">
            <a:extLst xmlns:a="http://schemas.openxmlformats.org/drawingml/2006/main">
              <a:ext uri="{FF2B5EF4-FFF2-40B4-BE49-F238E27FC236}">
                <a16:creationId xmlns:a16="http://schemas.microsoft.com/office/drawing/2014/main" id="{A20C6BD7-F53D-4175-9CCE-FB689953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24050"/>
            <a:ext cx="666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8" name="decision-1">
            <a:extLst xmlns:a="http://schemas.openxmlformats.org/drawingml/2006/main">
              <a:ext uri="{FF2B5EF4-FFF2-40B4-BE49-F238E27FC236}">
                <a16:creationId xmlns:a16="http://schemas.microsoft.com/office/drawing/2014/main" id="{37296F42-E817-494B-BA64-B53A1E84F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24050"/>
            <a:ext cx="4476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Gunakan catu GLD 24 VDC/2 A.</a:t>
            </a:r>
          </a:p>
        </p:txBody>
      </p:sp>
      <p:sp>
        <p:nvSpPr>
          <p:cNvPr id="9" name="decision-2-num">
            <a:extLst xmlns:a="http://schemas.openxmlformats.org/drawingml/2006/main">
              <a:ext uri="{FF2B5EF4-FFF2-40B4-BE49-F238E27FC236}">
                <a16:creationId xmlns:a16="http://schemas.microsoft.com/office/drawing/2014/main" id="{6DEAC38E-611A-4B02-8B47-74F2FC8C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00350"/>
            <a:ext cx="666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0" name="decision-2">
            <a:extLst xmlns:a="http://schemas.openxmlformats.org/drawingml/2006/main">
              <a:ext uri="{FF2B5EF4-FFF2-40B4-BE49-F238E27FC236}">
                <a16:creationId xmlns:a16="http://schemas.microsoft.com/office/drawing/2014/main" id="{968F7305-04E8-480A-B994-45E897C4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00350"/>
            <a:ext cx="4476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Siapkan 3 unit GLD untuk area SRU.</a:t>
            </a:r>
          </a:p>
        </p:txBody>
      </p:sp>
      <p:sp>
        <p:nvSpPr>
          <p:cNvPr id="11" name="decision-3-num">
            <a:extLst xmlns:a="http://schemas.openxmlformats.org/drawingml/2006/main">
              <a:ext uri="{FF2B5EF4-FFF2-40B4-BE49-F238E27FC236}">
                <a16:creationId xmlns:a16="http://schemas.microsoft.com/office/drawing/2014/main" id="{F321FCE9-318A-4B8A-AB08-626E9049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52850"/>
            <a:ext cx="666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2" name="decision-3">
            <a:extLst xmlns:a="http://schemas.openxmlformats.org/drawingml/2006/main">
              <a:ext uri="{FF2B5EF4-FFF2-40B4-BE49-F238E27FC236}">
                <a16:creationId xmlns:a16="http://schemas.microsoft.com/office/drawing/2014/main" id="{3DBA3EE3-02FE-40F7-94E5-343CA278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52850"/>
            <a:ext cx="4476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561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Jumlah CH mengikuti cakupan; tiap CH memakai 1 baterai 4000 mAh dan 2 panel 6 W.</a:t>
            </a:r>
          </a:p>
        </p:txBody>
      </p:sp>
      <p:sp>
        <p:nvSpPr>
          <p:cNvPr id="13" name="decision-4-num">
            <a:extLst xmlns:a="http://schemas.openxmlformats.org/drawingml/2006/main">
              <a:ext uri="{FF2B5EF4-FFF2-40B4-BE49-F238E27FC236}">
                <a16:creationId xmlns:a16="http://schemas.microsoft.com/office/drawing/2014/main" id="{17FA11C4-004E-4836-8472-AD483F93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24050"/>
            <a:ext cx="666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14" name="decision-4">
            <a:extLst xmlns:a="http://schemas.openxmlformats.org/drawingml/2006/main">
              <a:ext uri="{FF2B5EF4-FFF2-40B4-BE49-F238E27FC236}">
                <a16:creationId xmlns:a16="http://schemas.microsoft.com/office/drawing/2014/main" id="{5092C4C7-09B6-46CE-A522-AFA55675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24050"/>
            <a:ext cx="4476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Catat “3 minggu dari 10 Agustus” sebagai rencana kunjungan.</a:t>
            </a:r>
          </a:p>
        </p:txBody>
      </p:sp>
      <p:sp>
        <p:nvSpPr>
          <p:cNvPr id="15" name="decision-5-num">
            <a:extLst xmlns:a="http://schemas.openxmlformats.org/drawingml/2006/main">
              <a:ext uri="{FF2B5EF4-FFF2-40B4-BE49-F238E27FC236}">
                <a16:creationId xmlns:a16="http://schemas.microsoft.com/office/drawing/2014/main" id="{7E7C50CA-76B8-4D1D-98B5-C326F8F9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00350"/>
            <a:ext cx="666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16" name="decision-5">
            <a:extLst xmlns:a="http://schemas.openxmlformats.org/drawingml/2006/main">
              <a:ext uri="{FF2B5EF4-FFF2-40B4-BE49-F238E27FC236}">
                <a16:creationId xmlns:a16="http://schemas.microsoft.com/office/drawing/2014/main" id="{C8535704-55E4-4100-ABB8-D7E92A00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00350"/>
            <a:ext cx="4476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Gunakan ... cm untuk dimensi mounting sementara.</a:t>
            </a:r>
          </a:p>
        </p:txBody>
      </p:sp>
      <p:sp>
        <p:nvSpPr>
          <p:cNvPr id="17" name="decision-6-num">
            <a:extLst xmlns:a="http://schemas.openxmlformats.org/drawingml/2006/main">
              <a:ext uri="{FF2B5EF4-FFF2-40B4-BE49-F238E27FC236}">
                <a16:creationId xmlns:a16="http://schemas.microsoft.com/office/drawing/2014/main" id="{0A1212C2-5F14-48B1-928B-846F2086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52850"/>
            <a:ext cx="666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  <p:sp>
        <p:nvSpPr>
          <p:cNvPr id="18" name="decision-6">
            <a:extLst xmlns:a="http://schemas.openxmlformats.org/drawingml/2006/main">
              <a:ext uri="{FF2B5EF4-FFF2-40B4-BE49-F238E27FC236}">
                <a16:creationId xmlns:a16="http://schemas.microsoft.com/office/drawing/2014/main" id="{922D7890-92D5-425D-B927-2AD7A964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52850"/>
            <a:ext cx="4476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Siapkan pembicaraan Gateway, jaringan, keamanan, dan server bersama IT.</a:t>
            </a:r>
          </a:p>
        </p:txBody>
      </p:sp>
      <p:sp>
        <p:nvSpPr>
          <p:cNvPr id="19" name="decision-output">
            <a:extLst xmlns:a="http://schemas.openxmlformats.org/drawingml/2006/main">
              <a:ext uri="{FF2B5EF4-FFF2-40B4-BE49-F238E27FC236}">
                <a16:creationId xmlns:a16="http://schemas.microsoft.com/office/drawing/2014/main" id="{7DFF271E-5413-436B-B579-5A6D61A6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0"/>
            <a:ext cx="112014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decision-output-title">
            <a:extLst xmlns:a="http://schemas.openxmlformats.org/drawingml/2006/main">
              <a:ext uri="{FF2B5EF4-FFF2-40B4-BE49-F238E27FC236}">
                <a16:creationId xmlns:a16="http://schemas.microsoft.com/office/drawing/2014/main" id="{70421F8E-B94F-4F51-91D8-2AC12BB6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OUTPUT</a:t>
            </a:r>
          </a:p>
        </p:txBody>
      </p:sp>
      <p:sp>
        <p:nvSpPr>
          <p:cNvPr id="21" name="decision-output-body">
            <a:extLst xmlns:a="http://schemas.openxmlformats.org/drawingml/2006/main">
              <a:ext uri="{FF2B5EF4-FFF2-40B4-BE49-F238E27FC236}">
                <a16:creationId xmlns:a16="http://schemas.microsoft.com/office/drawing/2014/main" id="{B4D2476C-9AAD-478E-8EAE-3B482189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181600"/>
            <a:ext cx="8534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6738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Baseline teknis • agenda kunjungan • input survei SRU • bahan pembicaraan IT • tanggung jawab organisasi</a:t>
            </a:r>
          </a:p>
        </p:txBody>
      </p:sp>
      <p:sp>
        <p:nvSpPr>
          <p:cNvPr id="22" name="decision-output-note">
            <a:extLst xmlns:a="http://schemas.openxmlformats.org/drawingml/2006/main">
              <a:ext uri="{FF2B5EF4-FFF2-40B4-BE49-F238E27FC236}">
                <a16:creationId xmlns:a16="http://schemas.microsoft.com/office/drawing/2014/main" id="{49434BDD-B872-4CA0-B9FF-BFA42106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619750"/>
            <a:ext cx="853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Tindak lanjut dicatat sebagai action list dengan owner organisasi, jadwal, dan bukti penyelesaian.</a:t>
            </a:r>
          </a:p>
        </p:txBody>
      </p:sp>
    </p:spTree>
    <p:extLst>
      <p:ext uri="{BB962C8B-B14F-4D97-AF65-F5344CB8AC3E}">
        <p14:creationId xmlns:p14="http://schemas.microsoft.com/office/powerpoint/2010/main" val="1532482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2026-08-19T06:44:57.6430000Z</dcterms:created>
  <dcterms:modified xsi:type="dcterms:W3CDTF">2026-08-19T06:44:57.6430000Z</dcterms:modified>
</coreProperties>
</file>
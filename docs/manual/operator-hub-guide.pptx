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E65C00"/>
                </a:solidFill>
                <a:latin typeface="Segoe UI"/>
              </a:rPr>
              <a:t>PERTAMINA GLD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Panduan Operator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977639"/>
            <a:ext cx="1828800" cy="4572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C9CDD8"/>
                </a:solidFill>
                <a:latin typeface="Segoe UI"/>
              </a:rPr>
              <a:t>Konsol operator GLD, ClusterHead, dan Gateway — dari upload firmware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C9CDD8"/>
                </a:solidFill>
                <a:latin typeface="Segoe UI"/>
              </a:rPr>
              <a:t>sampai pengambilan dataset, nulling, QC, dan monitoring mesh.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apps/operator-hub  ·  Pertamina GLD  ·  Dokumen operasional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Apa itu Operator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Satu pintu masuk untuk tiga konsol operator yang sudah 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Peran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2"/>
            <a:ext cx="3515258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Operator Hub tidak menggantikan aplikasi mana pun. Hub menjalankan bridge.py masing-masing konsol sebagai proses anak di port sendiri, lalu menampilkannya di dalam satu jendela lewat tab.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313176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Hub — port 5173</a:t>
            </a:r>
          </a:p>
        </p:txBody>
      </p:sp>
      <p:sp>
        <p:nvSpPr>
          <p:cNvPr id="10" name="Oval 9"/>
          <p:cNvSpPr/>
          <p:nvPr/>
        </p:nvSpPr>
        <p:spPr>
          <a:xfrm>
            <a:off x="521208" y="3372612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573779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GLD Operator — port 5174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" y="3633215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834382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CH Operator — port 5273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" y="389381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94985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Gateway Operator — port 5373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" y="4154421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8218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Cara menjalankan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218" y="2084832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Jalankan berkas: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8218" y="2345435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run-operator-hub.bat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8218" y="2732530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Browser otomatis terbuka ke: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8218" y="2993133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http://127.0.0.1:5173/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218" y="3380228"/>
            <a:ext cx="3515258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Menutup jendela Hub (atau Ctrl+C di konsolnya) otomatis menghentikan ketiga bridge anak yang dijalankannya.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3516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Preflight saat 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3516" y="2084832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Sebelum menjalankan konsol anak, Hub melakukan pemeriksaan read-only: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8108" y="2555747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Python runtime Hub dan CH</a:t>
            </a:r>
          </a:p>
        </p:txBody>
      </p:sp>
      <p:sp>
        <p:nvSpPr>
          <p:cNvPr id="28" name="Oval 27"/>
          <p:cNvSpPr/>
          <p:nvPr/>
        </p:nvSpPr>
        <p:spPr>
          <a:xfrm>
            <a:off x="8191804" y="2615183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8108" y="2816350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Uploader Espressif di apps/lib/esptool*</a:t>
            </a:r>
          </a:p>
        </p:txBody>
      </p:sp>
      <p:sp>
        <p:nvSpPr>
          <p:cNvPr id="30" name="Oval 29"/>
          <p:cNvSpPr/>
          <p:nvPr/>
        </p:nvSpPr>
        <p:spPr>
          <a:xfrm>
            <a:off x="8191804" y="2875786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8108" y="3076953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Paket firmware offline + hash-nya</a:t>
            </a:r>
          </a:p>
        </p:txBody>
      </p:sp>
      <p:sp>
        <p:nvSpPr>
          <p:cNvPr id="32" name="Oval 31"/>
          <p:cNvSpPr/>
          <p:nvPr/>
        </p:nvSpPr>
        <p:spPr>
          <a:xfrm>
            <a:off x="8191804" y="3136389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8108" y="3337556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Driver CH340 Windows</a:t>
            </a:r>
          </a:p>
        </p:txBody>
      </p:sp>
      <p:sp>
        <p:nvSpPr>
          <p:cNvPr id="34" name="Oval 33"/>
          <p:cNvSpPr/>
          <p:nvPr/>
        </p:nvSpPr>
        <p:spPr>
          <a:xfrm>
            <a:off x="8191804" y="3396992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8108" y="3598159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Port lokal yang dibutuhkan</a:t>
            </a:r>
          </a:p>
        </p:txBody>
      </p:sp>
      <p:sp>
        <p:nvSpPr>
          <p:cNvPr id="36" name="Oval 35"/>
          <p:cNvSpPr/>
          <p:nvPr/>
        </p:nvSpPr>
        <p:spPr>
          <a:xfrm>
            <a:off x="8191804" y="3657595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3516" y="3985254"/>
            <a:ext cx="3515258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Preflight tidak pernah mengunduh, memasang driver, membuka COM, atau menulis firmware — hanya melaporkan.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126480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6126480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22706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Titik hijau pada setiap tab menyala saat bridge konsol tersebut menjawab /api/health. Hub yang melakukan polling ini, karena browser tidak bisa memeriksa lintas-origin.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Halaman awal Operator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Hub selalu terbuka di halaman pemilihan konsol.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3954" y="1508904"/>
            <a:ext cx="6383787" cy="34329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-hub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954" y="1517904"/>
            <a:ext cx="6365787" cy="34149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166056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152340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Tab bar. Pindah konsol kapan saja; titik hijau = bridge sehat.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563941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562569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Kartu GLD — Gas Leak Detector (sensor, dataset, kalibrasi).</a:t>
            </a:r>
          </a:p>
        </p:txBody>
      </p:sp>
      <p:sp>
        <p:nvSpPr>
          <p:cNvPr id="12" name="Oval 11"/>
          <p:cNvSpPr/>
          <p:nvPr/>
        </p:nvSpPr>
        <p:spPr>
          <a:xfrm>
            <a:off x="4322978" y="5166056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446" y="5152340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Kartu CH — Cluster Head (LoRa, serial, routing, firmware).</a:t>
            </a:r>
          </a:p>
        </p:txBody>
      </p:sp>
      <p:sp>
        <p:nvSpPr>
          <p:cNvPr id="14" name="Oval 13"/>
          <p:cNvSpPr/>
          <p:nvPr/>
        </p:nvSpPr>
        <p:spPr>
          <a:xfrm>
            <a:off x="4322978" y="5639410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446" y="562569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Kartu GW — Gateway (Wi-Fi, MQTT, topologi).</a:t>
            </a:r>
          </a:p>
        </p:txBody>
      </p:sp>
      <p:sp>
        <p:nvSpPr>
          <p:cNvPr id="16" name="Oval 15"/>
          <p:cNvSpPr/>
          <p:nvPr/>
        </p:nvSpPr>
        <p:spPr>
          <a:xfrm>
            <a:off x="8143036" y="5166056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504" y="5152340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Status preflight: siap / ada yang kurang.</a:t>
            </a:r>
          </a:p>
        </p:txBody>
      </p:sp>
      <p:sp>
        <p:nvSpPr>
          <p:cNvPr id="18" name="Oval 17"/>
          <p:cNvSpPr/>
          <p:nvPr/>
        </p:nvSpPr>
        <p:spPr>
          <a:xfrm>
            <a:off x="8143036" y="5639410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504" y="562569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Klik judul "Operator Hub" untuk kembali ke halaman ini.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Setiap konsol tetap bisa dijalankan sendiri lewat run-gld-operator.bat / run-ch-operator.bat / run-gw-operator.bat.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Tentang tangkapan layar di dokumen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Supaya panel tidak kosong, layar diisi data contoh.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Kondisi pengambilan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2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Semua tangkapan layar diambil tanpa perangkat keras terhubung.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82239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GLD memakai simulator bawaan aplikasi — badge di kanan atas tertulis "mock".</a:t>
            </a:r>
          </a:p>
        </p:txBody>
      </p:sp>
      <p:sp>
        <p:nvSpPr>
          <p:cNvPr id="10" name="Oval 9"/>
          <p:cNvSpPr/>
          <p:nvPr/>
        </p:nvSpPr>
        <p:spPr>
          <a:xfrm>
            <a:off x="521208" y="2741675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153154"/>
            <a:ext cx="3350666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CH dan Gateway diisi contoh telemetri yang formatnya sama dengan yang dikirim firmware.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" y="3212590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218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Baris status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218" y="2084832"/>
            <a:ext cx="3515258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Layar "upload berjalan" dan "upload selesai" adalah contoh tampilan status, bukan hasil flashing nyata.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218" y="2892551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Teksnya persis sama dengan yang ditulis aplikasi pada kondisi tersebut.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3516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3516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Angka pada layar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3516" y="2084832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COM, ID perangkat, RSSI, SSID, dan alamat broker pada gambar adalah contoh.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2682239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Di lapangan nilainya mengikuti perangkat dan jaringan yang dipakai.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65C00"/>
                </a:solidFill>
                <a:latin typeface="Segoe UI"/>
              </a:rP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GLD — Gas Leak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C9CDD8"/>
                </a:solidFill>
                <a:latin typeface="Segoe UI"/>
              </a:rPr>
              <a:t>Konsol sensor: firmware, mode operasi, dataset, nulling, dan QC.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858768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84048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Upload firmware (pilih ENV dan COM, tunggu sampai selesai)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4242816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245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Mode Running — telemetri 8 kanal MQ secara langsung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626864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60857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Mode Dataset — perekaman data berlabel lewat MQTT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5010912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99262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Mode Nulling — pencarian titik nol tiap kanal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394960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QC — verdict Pass/Fail per kanal, tersimpan di NVS GLD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779008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6072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Log, Ops Panel, Expert Terminal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Pilih menu GLD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Dari halaman awal Hub, klik kartu GLD (atau tab GLD di atas).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7485" y="1508904"/>
            <a:ext cx="7216724" cy="3879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-hub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485" y="1517904"/>
            <a:ext cx="7198724" cy="386181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612892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599176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Klik kartu Gas Leak Detector untuk masuk konsol GLD.</a:t>
            </a:r>
          </a:p>
        </p:txBody>
      </p:sp>
      <p:sp>
        <p:nvSpPr>
          <p:cNvPr id="10" name="Oval 9"/>
          <p:cNvSpPr/>
          <p:nvPr/>
        </p:nvSpPr>
        <p:spPr>
          <a:xfrm>
            <a:off x="4322978" y="5612892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446" y="5599176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Atau langsung lewat tab GLD di tab bar.</a:t>
            </a:r>
          </a:p>
        </p:txBody>
      </p:sp>
      <p:sp>
        <p:nvSpPr>
          <p:cNvPr id="12" name="Oval 11"/>
          <p:cNvSpPr/>
          <p:nvPr/>
        </p:nvSpPr>
        <p:spPr>
          <a:xfrm>
            <a:off x="8143036" y="5612892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504" y="5599176"/>
            <a:ext cx="3230270" cy="989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Pastikan status preflight sudah "ready" sebelum mulai flashing — kalau ada dependensi upload yang kurang, dashboard tetap terbuka tetapi tombol flashing ditandai tidak tersedia.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Kenali layar konsol GLD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Header berisi status live dan empat tombol utama.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Badge status: koneksi serial, bridge, port aktif, ID perangkat, dan mode saat ini.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7548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261768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Ops Panel — slot armada, perintah cepat, ganti mode.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6682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753105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Firmware Upload — dialog flashing (langkah berikutnya).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25815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244442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Port Setup — pilih dan sambungkan COM.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749495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" y="3735779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Enam tab kerja: Running, Dataset, Nulling, QC, Log, Expert.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0174" y="1508904"/>
            <a:ext cx="6880387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ld-01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174" y="1517904"/>
            <a:ext cx="6862387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PRASYARAT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Port Setup — sambungkan COM lebih dulu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Semua perintah serial memerlukan koneksi COM yang aktif.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Daftar COM hasil pemindaian bridge. Pilih port GLD.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0686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054961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Scan — pindai ulang kalau kabel baru dicolok.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6001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546298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Kalau port tidak muncul, ketik manual (mis. COM10) lalu tekan Use Manual.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25815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244442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Connect Serial — baud tetap 115200.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54268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" y="3528972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Detail port terpilih ditampilkan di sini.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3492" y="1508904"/>
            <a:ext cx="5513751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ld-02-port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92" y="1517904"/>
            <a:ext cx="5495751" cy="449884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Upload firmware akan memutus koneksi serial ini sendiri, lalu menyambung ulang secara otomatis setelah flashing selesai.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Firmware Upload — pilih ENV, pilih COM, klik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Tombol Firmware Upload membuka dialog ini dan memuat paket firmware bawaan.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Firmware environment — pilih gld atau gldFieldtest. Mengganti pilihan langsung memuat ulang paketnya.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7548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261768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Target COM — port yang akan di-flash.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6682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753105"/>
            <a:ext cx="3022092" cy="10340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Reset NVS? Tidak dicentang: semua parameter NVS dipertahankan. Dicentang: NVS dihapus, perangkat boot dengan seluruh default firmware termasuk GLD ID 1001.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87857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864862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Baris status memberi tahu apakah dialog sudah siap.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36991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" y="4356199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Klik Upload untuk memulai flashing.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70938" y="1508904"/>
            <a:ext cx="4598858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ld-03-fw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938" y="1517904"/>
            <a:ext cx="4580858" cy="449884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Nama paket yang dimuat tampil di atas (contoh: "Package: gld v0.8.14"). Kalau tertulis "Package belum tersedia", paket firmware offline-nya belum 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Tunggu sampai upload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Selama proses berjalan, tombol dialog dikunci agar tidak terputus.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Baris status berjalan: aplikasi memutus serial lebih dulu, baru mengirim firmware ke COM tujuan.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75484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261768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Upload dan Cancel dinonaktifkan, checkbox Reset NVS dikunci. Jangan cabut kabel pada tahap ini.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9870" y="1508904"/>
            <a:ext cx="4640994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ld-04-fw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870" y="1517904"/>
            <a:ext cx="4622994" cy="44988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Contoh tampilan status — proses upload sebenarnya butuh perangkat GLD yang terhubung.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Upload selesai dan tersambung kembali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Aplikasi otomatis menyambung ulang ke COM yang sama.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Status akhir menyebut apakah NVS dipertahankan atau direset, lalu hasil reconnect ke COM.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9870" y="1508904"/>
            <a:ext cx="4640994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ld-05-fw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870" y="1517904"/>
            <a:ext cx="4622994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Kalau reconnect gagal, statusnya berbunyi "Upload berhasil, tetapi reconnect gagal. Periksa Port Setup" — buka Port Setup dan sambungkan manual.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Mode Running — telemetri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Tab default. Menampilkan 8 kanal MQ secara langsung.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Empat kartu ringkas: Device (ID + versi firmware), Mode (+ sumber daya), Gas (+ confidence), LoRa (+ baterai).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48229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468575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Toolbar: Switch to Running, rentang grafik (10 detik – 1 jam), Poll, Clear, Export CSV.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180435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3166719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Kanal 1–4: tegangan dan gain tiap sensor.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671772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658056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Grafik gabungan 8 kanal.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956302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" y="3942586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Kanal 5–8.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240832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" y="4227116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Ikon gerigi membuka Running Settings (langkah 7).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14170" y="1508904"/>
            <a:ext cx="6112394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ld-06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170" y="1517904"/>
            <a:ext cx="6094394" cy="449884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Urutan kanal CH1–CH8 adalah MQ8, MQ135, MQ3, MQ5, MQ4, MQ7, MQ6, MQ2.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Running — Power dan Boot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Bagian lipat di bawah grafik, untuk memastikan IC terbaca saat boot.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Power: sumber eksternal dan baterai. Boot Health: status ADS (ADC), MCP (DAC gain), DAC, dan ML.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5822" y="1508904"/>
            <a:ext cx="5849090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ld-07-running-b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822" y="1517904"/>
            <a:ext cx="5831090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Kalau salah satu tertulis tidak siap, jalankan Run Boot Check dari Running Settings sebelum melanjutkan ke nulling atau QC.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Konfigurasi mode Running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Poll interval, sumbu Y grafik, identitas perangkat, dan alamat CH.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Poll Interval — default 500 ms, sama dengan laju scan sensor GLD (GLD_SCAN_INTERVAL_MS). Polling lebih cepat hanya mengulang balasan lama.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48229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468575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Fix Y-axis — default mati (auto-scale). Aktifkan untuk mengunci rentang tegangan agar grafik berhenti menyesuaikan skala.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387242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3373526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Target GLD ID, rentang 1001–FEFF. Tombol Inject ID baru aktif setelah Expert Terminal dibuka.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085386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4071670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Target CH Address, rentang 0010–0FFF, dan tidak boleh sama dengan ID GLD itu sendiri.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131" y="1508904"/>
            <a:ext cx="6596473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d-08-runsettings-a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131" y="1517904"/>
            <a:ext cx="6578473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Konfigurasi mode Running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Radio LoRa STAR dan pemeriksaan sensor MQ.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LoRa STAR: frekuensi 920–923 MHz, bandwidth, SF 5–12, CR 5–8, sync word, TX power −9…22 dBm, preamble, tegangan TCXO/XTAL.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48229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468575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Apply LoRa. Nilai ini harus sama persis dengan radio STAR di CH, kalau tidak link berhenti membawa data.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180435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3166719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MQ Sensor Check + Boot IC Report: Refresh Status, Run Boot Check, dan status kehadiran tiap kanal MQ.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2131" y="1508904"/>
            <a:ext cx="6596473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ld-09-runsettings-b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131" y="1517904"/>
            <a:ext cx="6578473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Mode Dataset — sesi perekaman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Perekaman bersifat manual seperti perekam video: mulai saat Start, berhenti saat Stop.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Switch to Dataset — memindahkan GLD ke mode dataset lalu membuka Dataset Settings.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7548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261768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Ikon gerigi membuka Dataset Settings kapan saja.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66821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753105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Wizard 6 langkah: Switch Mode → Confirm Config → Start → Capturing → Stop → Save.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464965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451249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Kartu status: state sesi, jumlah baris terekam, waktu berjalan, dan nama berkas keluaran.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163109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" y="4149393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Start Dataset baru aktif setelah Confirm Config berhasil.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54446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" y="4640730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Stop Dataset mengakhiri sesi.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2105" y="1508904"/>
            <a:ext cx="5776525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ld-10-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105" y="1517904"/>
            <a:ext cx="5758525" cy="449884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Tidak ada batas jumlah sampel maupun durasi — sesi berjalan sampai Anda menekan Stop.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Dataset — baris terbaru dan berkas keluaran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Berkas di disk sudah ditulis langsung selama perekaman.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Tabel baris terakhir: waktu, sumber, sequence, label, dan delapan kolom MQ.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7548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261768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Download Snapshot hanya mengunduh salinan baris yang tampil di layar.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6682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753105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Open Folder membuka direktori hasil di disk.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9271" y="1508904"/>
            <a:ext cx="6502193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ld-11-dataset-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271" y="1517904"/>
            <a:ext cx="6484193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Konfigurasi mode Dataset (1/2) — Wi-Fi dan MQTT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Data dataset dikirim lewat MQTT, jadi bagian ini wajib berhasil lebih dulu.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SSID dan password Wi-Fi yang akan dipakai GLD.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0686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054961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Host, port, user, password broker, dan topic root.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6001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546298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Apply GLD Settings — mengirim konfigurasi ke perangkat.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05135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037635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Use this PC mengisi host dengan alamat PC ini; Test Broker memeriksa apakah broker bisa dihubungi.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7636" y="1508904"/>
            <a:ext cx="7365463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d-12-datasetsettings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36" y="1517904"/>
            <a:ext cx="7347463" cy="449884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Tombol Confirm Config di bawah tetap terkunci sampai Apply GLD Settings berhasil.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Konfigurasi mode Dataset (2/2) — parameter dan konfirmasi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Parameter perekaman lalu pembuatan berkas.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Label — nama kelas data, ikut jadi bagian nama berkas.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0686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054961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Interval Ms, Fan On Ms, dan Post Fan Settle Ms.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6001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546298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Run nulling before dataset — default mati. Aktifkan hanya kalau GLD ini perlu profil nulling baru sebelum merekam.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46496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451249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Confirm Config &amp; Create File — membuat berkas CSV dan membuka kunci tombol Start Dataset.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960" y="1755071"/>
            <a:ext cx="7454815" cy="459144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d-13-datasetsettings-b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64071"/>
            <a:ext cx="7436815" cy="45734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Mode Nulling — pencarian titik 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Setiap kanal dicari kode DAC-nya sampai tegangan mendekati target.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Switch to Nulling — memindahkan GLD ke mode nulling.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068677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054961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Ringkasan proses dan meta: retry armed, jumlah percobaan.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60014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546298"/>
            <a:ext cx="3022092" cy="10340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Satu kartu per kanal: tahap berjalan, meter sweep DAC, nilai baseline dan after, serta detail tiap tahap (baseline → eksponensial → biner → konfirmasi).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67177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658055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Ikon gerigi membuka Nulling Settings.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960" y="1892088"/>
            <a:ext cx="7454815" cy="431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d-14-nu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01088"/>
            <a:ext cx="7436815" cy="42994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Nulling — log mentah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Semua baris NULLING_* dari firmware tampil apa adanya.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Log ini yang menjadi sumber tampilan kartu di atasnya — berguna saat satu kanal gagal dan perlu ditelusuri.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2960" y="1881759"/>
            <a:ext cx="7454815" cy="433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ld-15-nulling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90759"/>
            <a:ext cx="7436815" cy="43200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Nulling Settings — ambang batas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Ambang mengikuti baseline tiap kanal.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Minimum Delta Threshold (V). Target tiap kanal dihitung sebagai baseline + max(|baseline| / 2, ambang minimum ini).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48229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468575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Apply Thresholds — nilai berlaku pada proses nulling berikutnya dan tersimpan di GLD.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18043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3166719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Refresh from GLD — membaca ulang nilai yang tersimpan di perangkat.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3914" y="1508904"/>
            <a:ext cx="5612906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ld-16-nulling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914" y="1517904"/>
            <a:ext cx="5594906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QC — verdict per kanal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Kanal harus lulus nulling dulu, baru operator memberi Pass/Fail.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Grup QC: MQ dan TPL.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861870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184815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Sub-tab: All Sensor plus delapan kanal MQ.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35320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339491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QC-OFF / QC-ON — menampilkan grafik sensor langsung supaya operator bisa menilai Pass/Fail secara visual.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051351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037635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Kartu tiap kanal: status nulling, status pengujian, dan tombol verdict.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960" y="1724824"/>
            <a:ext cx="7454815" cy="4085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d-17-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33824"/>
            <a:ext cx="7436815" cy="406700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Verdict disimpan di NVS GLD sendiri, jadi bertahan setelah aplikasi disambung ulang atau kabel dicabut. GET_QC_STATUS selalu menjadi acuan, bukan ingatan aplikasi.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QC — panel satu kanal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Sub-tab per sensor memberi kendali khusus untuk kanal itu saja.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662491"/>
            <a:ext cx="11203855" cy="416608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ld-18-qc-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1491"/>
            <a:ext cx="11185855" cy="414808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620633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6192622"/>
            <a:ext cx="10870387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Di panel per kanal tersedia Pass/Fail, nulling untuk satu kanal saja, Reset verdict, dan Full Scale MCP Sweep (menyapu DAC 0–4095 lalu bisa diekspor ke CSV).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Log — aliran serial mentah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Semua baris yang dikirim dan diterima lewat serial.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Pause menahan tampilan (jumlah baris tertahan ikut dihitung); tekan lagi untuk melanjutkan.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7548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261768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Download Log menyimpan lewat browser.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6682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753105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Save Log to Disk menyimpan lewat bridge ke folder sesi.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25815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244442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Isi log — sumber pertama saat menelusuri masalah.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960" y="1599005"/>
            <a:ext cx="7454815" cy="490357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d-19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08005"/>
            <a:ext cx="7436815" cy="48855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Ops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Laci samping untuk armada, perintah cepat, dan penggantian mode.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Fleet — sampai 8 slot GLD. Slot aktif menentukan port dan data yang ditampilkan seluruh tab.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7548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261768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+ Add Slot menambah GLD lain ke sesi yang sama.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66821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753105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Perintah cepat: Ping, Info, Status, Restart GLD.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25815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244442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Device Mode: Running, Dataset, Nulling — jalan pintas mengganti mode tanpa pindah tab.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3780" y="1508904"/>
            <a:ext cx="3853174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d-20-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780" y="1517904"/>
            <a:ext cx="3835174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LANGKAH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Expert Terminal dan timeout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Bagian lanjutan, terkunci PIN.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2082228"/>
            <a:ext cx="11203855" cy="2930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ld-21-exp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1228"/>
            <a:ext cx="11185855" cy="291298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796992"/>
            <a:ext cx="3230270" cy="791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Unlock — PIN lokal. Ini hanya penghalang, bukan pengaman sungguhan. Membuka kunci juga mengaktifkan Inject ID dan Apply CH Address.</a:t>
            </a:r>
          </a:p>
        </p:txBody>
      </p:sp>
      <p:sp>
        <p:nvSpPr>
          <p:cNvPr id="10" name="Oval 9"/>
          <p:cNvSpPr/>
          <p:nvPr/>
        </p:nvSpPr>
        <p:spPr>
          <a:xfrm>
            <a:off x="4322978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446" y="5796992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Kirim perintah serial bebas, mis. GET_STATUS.</a:t>
            </a:r>
          </a:p>
        </p:txBody>
      </p:sp>
      <p:sp>
        <p:nvSpPr>
          <p:cNvPr id="12" name="Oval 11"/>
          <p:cNvSpPr/>
          <p:nvPr/>
        </p:nvSpPr>
        <p:spPr>
          <a:xfrm>
            <a:off x="8143036" y="581070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504" y="5796992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Timeout: respons serial, kesiapan dataset, dan ambang dataset dianggap macet.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GLD ·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Apa lagi yang ada di konsol GLD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Fitur yang tidak masuk urutan langkah utama tetapi sering dipakai.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Header dan navigasi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84832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Dark Mode — ganti tema terang/gelap.</a:t>
            </a:r>
          </a:p>
        </p:txBody>
      </p:sp>
      <p:sp>
        <p:nvSpPr>
          <p:cNvPr id="9" name="Oval 8"/>
          <p:cNvSpPr/>
          <p:nvPr/>
        </p:nvSpPr>
        <p:spPr>
          <a:xfrm>
            <a:off x="521208" y="214426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345435"/>
            <a:ext cx="3350666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Badge bridge menunjukkan apakah bridge lokal hidup; tanpa bridge, upload firmware tidak bisa dijalankan.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" y="2404871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26662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Banner peringatan muncul di bawah header dan bisa ditutup dengan Dismiss.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308609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218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Alat bantu kalibrasi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2084832"/>
            <a:ext cx="3350666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Full Scale MCP Sweep — menyapu kode DAC 0–4095 untuk satu kanal, menampilkan grafik dan tabel, lalu diekspor ke CSV.</a:t>
            </a:r>
          </a:p>
        </p:txBody>
      </p:sp>
      <p:sp>
        <p:nvSpPr>
          <p:cNvPr id="17" name="Oval 16"/>
          <p:cNvSpPr/>
          <p:nvPr/>
        </p:nvSpPr>
        <p:spPr>
          <a:xfrm>
            <a:off x="4356506" y="214426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2810" y="2766059"/>
            <a:ext cx="3350666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Run Boot Check — menjalankan ulang pemeriksaan IC saat boot dari Running Settings.</a:t>
            </a:r>
          </a:p>
        </p:txBody>
      </p:sp>
      <p:sp>
        <p:nvSpPr>
          <p:cNvPr id="19" name="Oval 18"/>
          <p:cNvSpPr/>
          <p:nvPr/>
        </p:nvSpPr>
        <p:spPr>
          <a:xfrm>
            <a:off x="4356506" y="2825495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2810" y="3447286"/>
            <a:ext cx="3350666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Export CSV pada tab Running dan Dataset menyimpan isi grafik yang sedang tampil.</a:t>
            </a:r>
          </a:p>
        </p:txBody>
      </p:sp>
      <p:sp>
        <p:nvSpPr>
          <p:cNvPr id="21" name="Oval 20"/>
          <p:cNvSpPr/>
          <p:nvPr/>
        </p:nvSpPr>
        <p:spPr>
          <a:xfrm>
            <a:off x="4356506" y="3506722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3516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3516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Urutan kerja yang disarankan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3516" y="2084832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1. Port Setup → Connect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3516" y="2345435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2. Firmware Upload (bila perlu)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3516" y="2606038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3. Running → cek Boot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3516" y="2866641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4. Nulling → semua kanal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3516" y="3127244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5. QC → verdict per kanal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3516" y="3387847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6. Dataset → Confirm → Start/Stop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3516" y="3648450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7. Log → simpan bukti sesi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65C00"/>
                </a:solidFill>
                <a:latin typeface="Segoe UI"/>
              </a:rPr>
              <a:t>BAGIAN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CH — ClusterHead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C9CDD8"/>
                </a:solidFill>
                <a:latin typeface="Segoe UI"/>
              </a:rPr>
              <a:t>Penghubung antara GLD (radio STAR) dan Gateway (radio MESH). Hanya lewat serial USB — tanpa Wi-Fi maupun MQTT.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858768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84048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Upload firmware (ENV ch atau chFieldtest)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4242816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245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Overview — keadaan CH, radio, keepalive, dan pull request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626864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60857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CH Settings — identitas dan dua radio LoRa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5010912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99262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Nodes (GLD) — daftar GLD yang melapor ke CH ini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394960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Mesh / Parent — kandidat parent dan failover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779008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6072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Log dan Expert Terminal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Pilih menu CH, lalu kenali layarnya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Dari Hub klik kartu Cluster Head atau tab 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2341766" y="1508904"/>
            <a:ext cx="7508163" cy="3802093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01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766" y="1517904"/>
            <a:ext cx="7490163" cy="378409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535169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521453"/>
            <a:ext cx="3230270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Badge: link serial, bridge, port, CH ID, state, parent aktif, dan tegangan baterai.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620633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6192622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CH Settings — identitas dan konfigurasi radio.</a:t>
            </a:r>
          </a:p>
        </p:txBody>
      </p:sp>
      <p:sp>
        <p:nvSpPr>
          <p:cNvPr id="12" name="Oval 11"/>
          <p:cNvSpPr/>
          <p:nvPr/>
        </p:nvSpPr>
        <p:spPr>
          <a:xfrm>
            <a:off x="4322978" y="5535169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446" y="5521453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Firmware Upload — dialog flashing.</a:t>
            </a:r>
          </a:p>
        </p:txBody>
      </p:sp>
      <p:sp>
        <p:nvSpPr>
          <p:cNvPr id="14" name="Oval 13"/>
          <p:cNvSpPr/>
          <p:nvPr/>
        </p:nvSpPr>
        <p:spPr>
          <a:xfrm>
            <a:off x="4322978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446" y="5796992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Port Setup — pilih dan sambungkan COM.</a:t>
            </a:r>
          </a:p>
        </p:txBody>
      </p:sp>
      <p:sp>
        <p:nvSpPr>
          <p:cNvPr id="16" name="Oval 15"/>
          <p:cNvSpPr/>
          <p:nvPr/>
        </p:nvSpPr>
        <p:spPr>
          <a:xfrm>
            <a:off x="8143036" y="5535169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504" y="5521453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Lima tab: Overview, Nodes (GLD), Mesh / Parent, Log, Expert.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PRASYARAT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Port Setup 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Sama seperti GLD: COM harus tersambung sebelum perintah apa pun.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Pilih COM milik CH dari hasil pemindaian.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0686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054961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Atau ketik manual lalu tekan Use.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35320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339491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Connect — baud tetap 115200.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3363" y="1508904"/>
            <a:ext cx="4754009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-02-port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363" y="1517904"/>
            <a:ext cx="4736009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Firmware Upload — pilih ENV, pilih COM, klik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Alurnya identik dengan GLD.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Firmware environment — ch atau chFieldtest.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0686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054961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Target COM.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35320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339491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Reset NVS? Dicentang berarti NVS dihapus dan perangkat boot dengan default firmware, termasuk CH ID 0010 dan Gateway 0001.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25815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244442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Baris status kesiapan dialog.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54268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" y="3528972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Klik Upload.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72193" y="1508904"/>
            <a:ext cx="5196348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-03-fw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193" y="1517904"/>
            <a:ext cx="5178348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Tunggu sampai upload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Aplikasi berpindah ke tab Log agar prosesnya terlihat.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10340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Status berjalan: serial diputus dulu, lalu firmware dikirim ke COM tujuan. Setelah selesai aplikasi menyambung ulang dan menampilkan versi firmware yang terpasang.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0722" y="1508904"/>
            <a:ext cx="4659291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-04-fw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722" y="1517904"/>
            <a:ext cx="4641291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Contoh tampilan status — proses upload sebenarnya butuh perangkat CH yang terhubung.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Overview (1/3) — keadaan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Refresh mengirim GET_INFO dan GET_STATUS; Start polling mengulanginya berkala.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418688" y="1508904"/>
            <a:ext cx="7354318" cy="372436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05-overview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688" y="1517904"/>
            <a:ext cx="7336318" cy="370636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45744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443729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Refresh — sekali ambil.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573298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5719268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Start polling — ambil berulang.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6008523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5994807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State: keadaan CH (mis. JOINED) beserta alasannya.</a:t>
            </a:r>
          </a:p>
        </p:txBody>
      </p:sp>
      <p:sp>
        <p:nvSpPr>
          <p:cNvPr id="14" name="Oval 13"/>
          <p:cNvSpPr/>
          <p:nvPr/>
        </p:nvSpPr>
        <p:spPr>
          <a:xfrm>
            <a:off x="4322978" y="545744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446" y="5443729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Battery: tegangan dalam mV; badge berubah peringatan di bawah 3150 mV.</a:t>
            </a:r>
          </a:p>
        </p:txBody>
      </p:sp>
      <p:sp>
        <p:nvSpPr>
          <p:cNvPr id="16" name="Oval 15"/>
          <p:cNvSpPr/>
          <p:nvPr/>
        </p:nvSpPr>
        <p:spPr>
          <a:xfrm>
            <a:off x="4322978" y="5930799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446" y="5917083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Uptime sejak boot.</a:t>
            </a:r>
          </a:p>
        </p:txBody>
      </p:sp>
      <p:sp>
        <p:nvSpPr>
          <p:cNvPr id="18" name="Oval 17"/>
          <p:cNvSpPr/>
          <p:nvPr/>
        </p:nvSpPr>
        <p:spPr>
          <a:xfrm>
            <a:off x="4322978" y="620633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8446" y="6192622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Nodes seen: jumlah GLD di cache, plus jumlah yang belum terkirim.</a:t>
            </a:r>
          </a:p>
        </p:txBody>
      </p:sp>
      <p:sp>
        <p:nvSpPr>
          <p:cNvPr id="20" name="Oval 19"/>
          <p:cNvSpPr/>
          <p:nvPr/>
        </p:nvSpPr>
        <p:spPr>
          <a:xfrm>
            <a:off x="8143036" y="5457445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504" y="5443729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Identity: CH ID, root gateway, versi firmware/protokol, capabilities.</a:t>
            </a:r>
          </a:p>
        </p:txBody>
      </p:sp>
      <p:sp>
        <p:nvSpPr>
          <p:cNvPr id="22" name="Oval 21"/>
          <p:cNvSpPr/>
          <p:nvPr/>
        </p:nvSpPr>
        <p:spPr>
          <a:xfrm>
            <a:off x="8143036" y="5930799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504" y="5917083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Active parent: ID parent, RSSI, SNR, dan kedalaman mesh.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Overview (2/3) — keepalive, discovery, radio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Kartu-kartu ini menjelaskan kenapa CH sedang dalam keadaan tersebut.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85953" y="1508904"/>
            <a:ext cx="4819789" cy="244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06-overview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953" y="1517904"/>
            <a:ext cx="4801789" cy="242590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417698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4163264"/>
            <a:ext cx="3230270" cy="791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CH_HELLO: hasil hello terakhir (ACK diterima / menunggu / gagal), hitung mundur hello berikutnya, dan jumlah kegagalan terhadap ambangnya.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5045964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5032248"/>
            <a:ext cx="3230270" cy="989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CH_CONFIG: hasil pencarian parent terakhir dan kejadian berikutnya. Saat CH sudah JOINED, yang ditampilkan adalah hitung mundur pemeriksaan kesehatan parent.</a:t>
            </a:r>
          </a:p>
        </p:txBody>
      </p:sp>
      <p:sp>
        <p:nvSpPr>
          <p:cNvPr id="12" name="Oval 11"/>
          <p:cNvSpPr/>
          <p:nvPr/>
        </p:nvSpPr>
        <p:spPr>
          <a:xfrm>
            <a:off x="4322978" y="4176980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446" y="4163264"/>
            <a:ext cx="3230270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STAR radio — link ke GLD. Menampilkan hasil begin(), frekuensi, BW/SF/CR, dan sync word.</a:t>
            </a:r>
          </a:p>
        </p:txBody>
      </p:sp>
      <p:sp>
        <p:nvSpPr>
          <p:cNvPr id="14" name="Oval 13"/>
          <p:cNvSpPr/>
          <p:nvPr/>
        </p:nvSpPr>
        <p:spPr>
          <a:xfrm>
            <a:off x="4322978" y="4848149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446" y="4834433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MESH radio — link ke Gateway, format sama.</a:t>
            </a:r>
          </a:p>
        </p:txBody>
      </p:sp>
      <p:sp>
        <p:nvSpPr>
          <p:cNvPr id="16" name="Oval 15"/>
          <p:cNvSpPr/>
          <p:nvPr/>
        </p:nvSpPr>
        <p:spPr>
          <a:xfrm>
            <a:off x="8143036" y="4176980"/>
            <a:ext cx="214884" cy="214884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504" y="416326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Pull request dari Gateway, dilacak dalam tiga langkah.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Nilai STAR di sini harus sama dengan LoRa STAR di GLD, dan nilai MESH harus sama dengan MESH LoRa di Gateway.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Overview (3/3) — pull request dan tren baterai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CH tidak pernah membuat pull request; CH hanya melayani atau meneruskannya.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1037" y="1508904"/>
            <a:ext cx="8009620" cy="407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07-overview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037" y="1517904"/>
            <a:ext cx="7991620" cy="40596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796992"/>
            <a:ext cx="5140299" cy="791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Tiga langkah: (a) permintaan diterima, (b) sedang diproses, (c) balasan dikirim. Bila permintaan ternyata bukan untuk CH ini, langkah 2 dan 3 ditandai dilewati dan labelnya berubah menjadi "Not for this CH".</a:t>
            </a:r>
          </a:p>
        </p:txBody>
      </p:sp>
      <p:sp>
        <p:nvSpPr>
          <p:cNvPr id="10" name="Oval 9"/>
          <p:cNvSpPr/>
          <p:nvPr/>
        </p:nvSpPr>
        <p:spPr>
          <a:xfrm>
            <a:off x="6233007" y="581070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8475" y="5796992"/>
            <a:ext cx="5140299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Tren baterai dari nilai CH_BATT_MV yang terkumpul selama sesi.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CH Settings (1/2) — identitas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Setiap Apply membuat CH melakukan reboot.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CH ID, rentang 0010–0FFF.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86187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1848154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Root gateway ID, rentang 0001–000F.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4640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132684"/>
            <a:ext cx="3022092" cy="413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Apply CH ID / Apply gateway — keduanya memicu reboot.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960" y="1799891"/>
            <a:ext cx="7454815" cy="45018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-08-settings-a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08891"/>
            <a:ext cx="7436815" cy="448380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CH Settings (2/2) — dua radio 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CH memakai dua radio yang berbeda perannya.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STAR radio (ke GLD): frekuensi, BW, SF, CR, sync word, TX dBm. Harus sama dengan pengaturan LoRa STAR di setiap GLD di klaster ini.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482291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468575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MESH radio (ke Gateway): parameter sama, tetapi harus cocok dengan MESH LoRa di Gateway dan seluruh CH lain.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960" y="1516427"/>
            <a:ext cx="7454815" cy="45018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-09-settings-b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25427"/>
            <a:ext cx="7436815" cy="448380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Bagian Maintenance di bawahnya berisi RESTART, DEBUG_ON, dan DEBUG_OFF.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Alur kerja 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Urutan yang biasanya diikuti saat memasang atau memeriksa satu 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Pemasangan awal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2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1. Port Setup → Connect ke COM 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45435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2. Firmware Upload bila firmware perlu diperbarui.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16350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3. CH Settings → set CH ID dan Root gateway (CH reboot).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87265"/>
            <a:ext cx="3515258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4. CH Settings → samakan STAR LoRa dengan GLD, MESH LoRa dengan Gateway (CH reboot lagi).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Verifikasi bergabung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2084832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5. Overview → Refresh, lalu Start polling.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218" y="2555747"/>
            <a:ext cx="3515258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6. Perhatikan kartu CH_CONFIG: CH mengirim permintaan discovery selama JOINING atau PARENT_FAILOVER.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218" y="3236974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7. Setelah parent terpilih, State berubah JOINED dan kartu Active parent terisi.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8218" y="3707889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8. Kartu CH_HELLO harus menunjukkan "ACK received" secara berkala.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3516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3516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Verifikasi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2084832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9. Tab Nodes → GLD yang mengirim uplink STAR akan muncul.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2555747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10. Tab Mesh / Parent → periksa kandidat parent dan kualitas link.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3026662"/>
            <a:ext cx="3515258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11. Saat Gateway mengirim pull request, stepper di Overview berjalan sampai "Response sent".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Nodes (GLD) — GLD yang melapor ke CH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Isinya berasal dari NodeCache di RAM 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886154"/>
            <a:ext cx="11203855" cy="27562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10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95154"/>
            <a:ext cx="11185855" cy="273820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24378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23006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Refresh (GET_NODES) — minta isi cache terbaru.</a:t>
            </a:r>
          </a:p>
        </p:txBody>
      </p:sp>
      <p:sp>
        <p:nvSpPr>
          <p:cNvPr id="10" name="Oval 9"/>
          <p:cNvSpPr/>
          <p:nvPr/>
        </p:nvSpPr>
        <p:spPr>
          <a:xfrm>
            <a:off x="4322978" y="5243780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446" y="523006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Kolom: Node ID, Alarm, Power, Unsent, RSSI, SNR, Last update, Freshness.</a:t>
            </a:r>
          </a:p>
        </p:txBody>
      </p:sp>
      <p:sp>
        <p:nvSpPr>
          <p:cNvPr id="12" name="Oval 11"/>
          <p:cNvSpPr/>
          <p:nvPr/>
        </p:nvSpPr>
        <p:spPr>
          <a:xfrm>
            <a:off x="8143036" y="5243780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504" y="5230064"/>
            <a:ext cx="3230270" cy="791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Satu baris per GLD. "Last update" dihitung dari uplink STAR terakhir; node yang lebih tua dari 300 detik ditandai stale.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RSSI/SNR hanya mencerminkan paket STAR terakhir dan tidak disimpan firmware — node yang belum mengirim ulang pada sesi ini tampil tanpa nilai.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Mesh / Parent — pemilihan 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Kandidat parent yang terdengar CH lewat radio MESH.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790930"/>
            <a:ext cx="11203855" cy="35135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11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9930"/>
            <a:ext cx="11185855" cy="349557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796992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Send hello — memaksa satu keepalive ke parent.</a:t>
            </a:r>
          </a:p>
        </p:txBody>
      </p:sp>
      <p:sp>
        <p:nvSpPr>
          <p:cNvPr id="10" name="Oval 9"/>
          <p:cNvSpPr/>
          <p:nvPr/>
        </p:nvSpPr>
        <p:spPr>
          <a:xfrm>
            <a:off x="3367963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5796992"/>
            <a:ext cx="2275255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Clear parent NVS — menghapus parent tersimpan dan memaksa pencarian ulang.</a:t>
            </a:r>
          </a:p>
        </p:txBody>
      </p:sp>
      <p:sp>
        <p:nvSpPr>
          <p:cNvPr id="12" name="Oval 11"/>
          <p:cNvSpPr/>
          <p:nvPr/>
        </p:nvSpPr>
        <p:spPr>
          <a:xfrm>
            <a:off x="6233006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8474" y="5796992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Force failover — memicu perpindahan parent.</a:t>
            </a:r>
          </a:p>
        </p:txBody>
      </p:sp>
      <p:sp>
        <p:nvSpPr>
          <p:cNvPr id="14" name="Oval 13"/>
          <p:cNvSpPr/>
          <p:nvPr/>
        </p:nvSpPr>
        <p:spPr>
          <a:xfrm>
            <a:off x="9098049" y="581070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3517" y="5796992"/>
            <a:ext cx="2275255" cy="791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Tabel kandidat: parent-nya sendiri, depth, RSSI, SNR, baterai, capabilities, dan mana yang sedang aktif.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Mesh / Parent — detail pull request terakhir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Rincian permintaan terakhir dari Gateway yang dilihat CH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740103"/>
            <a:ext cx="11203855" cy="364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12-mesh-p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9103"/>
            <a:ext cx="11185855" cy="36237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83722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823509"/>
            <a:ext cx="10870387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Kapan terlihat, Request ID, status, status data, jumlah record dan ukurannya, serta apakah balasannya diantrikan ke parent.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MSG_SERVER_PULL_REQUEST datang lewat MESH dari Gateway root (atau diteruskan ke CH lain). CH tidak punya perintah serial untuk membuatnya sendiri.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Log 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Seluruh baris CH_* dari firmware.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546106"/>
            <a:ext cx="11203855" cy="4201043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13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5106"/>
            <a:ext cx="11185855" cy="418304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6008523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994807"/>
            <a:ext cx="2275255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Pause menahan tampilan.</a:t>
            </a:r>
          </a:p>
        </p:txBody>
      </p:sp>
      <p:sp>
        <p:nvSpPr>
          <p:cNvPr id="10" name="Oval 9"/>
          <p:cNvSpPr/>
          <p:nvPr/>
        </p:nvSpPr>
        <p:spPr>
          <a:xfrm>
            <a:off x="3367963" y="6008523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5994807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Download menyimpan lewat browser.</a:t>
            </a:r>
          </a:p>
        </p:txBody>
      </p:sp>
      <p:sp>
        <p:nvSpPr>
          <p:cNvPr id="12" name="Oval 11"/>
          <p:cNvSpPr/>
          <p:nvPr/>
        </p:nvSpPr>
        <p:spPr>
          <a:xfrm>
            <a:off x="6233006" y="6008523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8474" y="5994807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Save to disk menyimpan lewat bridge.</a:t>
            </a:r>
          </a:p>
        </p:txBody>
      </p:sp>
      <p:sp>
        <p:nvSpPr>
          <p:cNvPr id="14" name="Oval 13"/>
          <p:cNvSpPr/>
          <p:nvPr/>
        </p:nvSpPr>
        <p:spPr>
          <a:xfrm>
            <a:off x="9098049" y="6008523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3517" y="5994807"/>
            <a:ext cx="2275255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Isi log — dari sinilah semua kartu Overview, Nodes, dan Mesh dibentuk.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CH · LANGKAH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Expert Terminal 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Terkunci PIN, sama seperti di GLD.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730661"/>
            <a:ext cx="11203855" cy="3265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-14-exp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9661"/>
            <a:ext cx="11185855" cy="324700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44159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427879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Unlock / Lock dengan PIN lokal.</a:t>
            </a:r>
          </a:p>
        </p:txBody>
      </p:sp>
      <p:sp>
        <p:nvSpPr>
          <p:cNvPr id="10" name="Oval 9"/>
          <p:cNvSpPr/>
          <p:nvPr/>
        </p:nvSpPr>
        <p:spPr>
          <a:xfrm>
            <a:off x="4322978" y="544159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446" y="5427879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Kirim baris perintah bebas ke CH.</a:t>
            </a:r>
          </a:p>
        </p:txBody>
      </p:sp>
      <p:sp>
        <p:nvSpPr>
          <p:cNvPr id="12" name="Oval 11"/>
          <p:cNvSpPr/>
          <p:nvPr/>
        </p:nvSpPr>
        <p:spPr>
          <a:xfrm>
            <a:off x="8143036" y="5441595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504" y="5427879"/>
            <a:ext cx="3230270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Perintah cepat: APP_PING, GET_INFO, GET_STATUS, GET_NODES, GET_PARENTS, DEBUG_ON, DEBUG_OFF, RESTART.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Di bawahnya ada bagian Firmware upload versi lanjutan, untuk memuat folder paket firmware secara manual.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65C00"/>
                </a:solidFill>
                <a:latin typeface="Segoe UI"/>
              </a:rP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C9CDD8"/>
                </a:solidFill>
                <a:latin typeface="Segoe UI"/>
              </a:rPr>
              <a:t>Jembatan antara mesh LoRa dan broker MQTT di sisi server.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858768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84048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Upload firmware (profil gw atau gw_hello_ack_fieldtest)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4242816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245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Gateway Setup bertahap: COM → Wi-Fi → MQTT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626864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60857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Overview — Wi-Fi, MQTT, antrean uplink, radio MESH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5010912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99262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Uplinks — setiap frame MESH yang diterima dan diteruskan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394960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Topology — keadaan tiap CH dan umpan event mentah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779008"/>
            <a:ext cx="237744" cy="23774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6072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Commands, Boot Log, Firmware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Pilih menu Gateway dan kenali layarnya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Dari Hub klik kartu Gateway atau tab Gateway.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4028" y="1508904"/>
            <a:ext cx="9963638" cy="368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01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028" y="1517904"/>
            <a:ext cx="9945638" cy="366400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4150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401361"/>
            <a:ext cx="2275255" cy="11868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Badge. Perhatikan dua badge MQTT yang berbeda: "monitor MQTT" adalah koneksi PC ini ke broker, "gateway MQTT" adalah koneksi perangkat Gateway ke broker yang sama.</a:t>
            </a:r>
          </a:p>
        </p:txBody>
      </p:sp>
      <p:sp>
        <p:nvSpPr>
          <p:cNvPr id="10" name="Oval 9"/>
          <p:cNvSpPr/>
          <p:nvPr/>
        </p:nvSpPr>
        <p:spPr>
          <a:xfrm>
            <a:off x="3367963" y="54150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5401361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Gateway Setup — laci konfigurasi bertahap.</a:t>
            </a:r>
          </a:p>
        </p:txBody>
      </p:sp>
      <p:sp>
        <p:nvSpPr>
          <p:cNvPr id="12" name="Oval 11"/>
          <p:cNvSpPr/>
          <p:nvPr/>
        </p:nvSpPr>
        <p:spPr>
          <a:xfrm>
            <a:off x="6233006" y="541507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8474" y="5401361"/>
            <a:ext cx="2275255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Firmware Upload.</a:t>
            </a:r>
          </a:p>
        </p:txBody>
      </p:sp>
      <p:sp>
        <p:nvSpPr>
          <p:cNvPr id="14" name="Oval 13"/>
          <p:cNvSpPr/>
          <p:nvPr/>
        </p:nvSpPr>
        <p:spPr>
          <a:xfrm>
            <a:off x="9098049" y="5415077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3517" y="5401361"/>
            <a:ext cx="2275255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Enam tab: Overview, Uplinks, Topology, Commands, Boot Log, Firmware.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2 &amp;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Firmware Upload — pilih COM, klik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Gateway tidak punya pilihan ENV di dialog ini; profilnya diatur di tab Firmware.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Target COM — port Gateway.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86187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1848154"/>
            <a:ext cx="3022092" cy="10340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Reset NVS? Tidak dicentang: Wi-Fi, MQTT, mesh, dan parameter NVS lain dipertahankan. Dicentang: NVS dihapus dan perangkat boot dengan default firmware.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73627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959911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Baris status kesiapan.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258157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" y="3244441"/>
            <a:ext cx="3022092" cy="206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Klik Upload.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1415" y="1508904"/>
            <a:ext cx="5497905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w-02-fw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415" y="1517904"/>
            <a:ext cx="5479905" cy="449884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GATEWAY_ID adalah konstanta compile-time (firmware/config/GwConfig.h) — tidak ada perintah untuk menggantinya saat runtime, berbeda dengan ID CH dan GLD.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Tunggu sampai upload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Serial diputus dulu, lalu firmware dikirim.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620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Baris status berjalan sampai flashing selesai dan koneksi COM disambung ulang.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91211" y="1508904"/>
            <a:ext cx="5558313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w-03-fw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211" y="1517904"/>
            <a:ext cx="5540313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Contoh tampilan status — proses upload sebenarnya butuh perangkat Gateway yang terhubung.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Gateway Setup (1/3) — COM lalu Wi-Fi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Setiap langkah membuka kunci langkah berikutnya. Urutannya disengaja.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827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Langkah 1 — Gateway serial COM. Sambungkan dulu; Wi-Fi dan MQTT tetap terkunci sampai koneksi ini berhasil.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482291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2468575"/>
            <a:ext cx="3022092" cy="124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Langkah 2 — Gateway Wi-Fi. Simpan kredensial (Gateway reboot), sambungkan ulang COM bila perlu, lalu jalankan Test Gateway Wi-Fi. Tombol "Use this PC Wi-Fi" mengisi SSID dari profil Windows yang sedang aktif.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5973" y="1508904"/>
            <a:ext cx="6068788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w-04-setup-a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973" y="1517904"/>
            <a:ext cx="6050788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Gateway Setup (2/3) — MQTT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MQTT terbuka hanya setelah Gateway sendiri melaporkan alamat IP.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1447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Langkah 3 — MQTT. Broker diisi sekali, lalu dipakai dua klien: perangkat Gateway dan monitor operator di PC ini. Tombolnya: Save &amp; connect Gateway, Test broker from this PC, Connect operator monitor, Disconnect monitor.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48653" y="1508904"/>
            <a:ext cx="5443429" cy="4516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w-05-setup-b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653" y="1517904"/>
            <a:ext cx="5425429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Topic root terkunci di gld/gateway. Tombol "Use Hub Broker" mengisi host dengan broker yang dijalankan Hub.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Gateway Setup (3/3) — MESH 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Bagian ini hanya butuh COM, tidak menunggu Wi-Fi maupun MQTT.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734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" y="1563624"/>
            <a:ext cx="3022092" cy="1447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MESH LoRa: frekuensi, BW, SF, CR, sync word, TX dBm. Nilai divalidasi, disimpan ke NVS Gateway, dibaca ulang, lalu diterapkan setelah reboot otomatis. Semua radio MESH di setiap CH harus memakai nilai yang sama.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5973" y="1508904"/>
            <a:ext cx="6068788" cy="508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w-06-setup-c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973" y="1517904"/>
            <a:ext cx="6050788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Overview (1/2) — keadaan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Seluruh isi tab ini berasal dari pesan status yang diterbitkan Gateway sendiri.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1038" y="1508904"/>
            <a:ext cx="10289619" cy="3802093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07-overview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38" y="1517904"/>
            <a:ext cx="10271619" cy="378409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535169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521453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Refresh.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5796992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State beserta Gateway ID.</a:t>
            </a:r>
          </a:p>
        </p:txBody>
      </p:sp>
      <p:sp>
        <p:nvSpPr>
          <p:cNvPr id="12" name="Oval 11"/>
          <p:cNvSpPr/>
          <p:nvPr/>
        </p:nvSpPr>
        <p:spPr>
          <a:xfrm>
            <a:off x="4322978" y="5535169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446" y="5521453"/>
            <a:ext cx="3230270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Last status — umur pesan status terakhir. Gateway menerbitkannya sekitar tiap 10 detik.</a:t>
            </a:r>
          </a:p>
        </p:txBody>
      </p:sp>
      <p:sp>
        <p:nvSpPr>
          <p:cNvPr id="14" name="Oval 13"/>
          <p:cNvSpPr/>
          <p:nvPr/>
        </p:nvSpPr>
        <p:spPr>
          <a:xfrm>
            <a:off x="4322978" y="620633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446" y="6192622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WiFi / MQTT / Mesh ready.</a:t>
            </a:r>
          </a:p>
        </p:txBody>
      </p:sp>
      <p:sp>
        <p:nvSpPr>
          <p:cNvPr id="16" name="Oval 15"/>
          <p:cNvSpPr/>
          <p:nvPr/>
        </p:nvSpPr>
        <p:spPr>
          <a:xfrm>
            <a:off x="8143036" y="5535169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504" y="5521453"/>
            <a:ext cx="3230270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Antrean uplink: depth, kapasitas, jumlah yang dibuang, dan jumlah yang sudah diterbitkan.</a:t>
            </a:r>
          </a:p>
        </p:txBody>
      </p:sp>
      <p:sp>
        <p:nvSpPr>
          <p:cNvPr id="18" name="Oval 17"/>
          <p:cNvSpPr/>
          <p:nvPr/>
        </p:nvSpPr>
        <p:spPr>
          <a:xfrm>
            <a:off x="8143036" y="6206338"/>
            <a:ext cx="214884" cy="214884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504" y="6192622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Identity: Gateway ID, firmware, protokol, uptime, IP.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Overview (2/2) — Wi-Fi, MQTT, radio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Rincian koneksi perangkat.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8748" y="1508904"/>
            <a:ext cx="10254199" cy="390633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08-overview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48" y="1517904"/>
            <a:ext cx="10236199" cy="388833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63941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62569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Gateway Wi-Fi: SSID, kekuatan sinyal, kanal, MAC.</a:t>
            </a:r>
          </a:p>
        </p:txBody>
      </p:sp>
      <p:sp>
        <p:nvSpPr>
          <p:cNvPr id="10" name="Oval 9"/>
          <p:cNvSpPr/>
          <p:nvPr/>
        </p:nvSpPr>
        <p:spPr>
          <a:xfrm>
            <a:off x="4322978" y="563941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446" y="562569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Gateway MQTT: broker, state, autentikasi, subscription, topic root.</a:t>
            </a:r>
          </a:p>
        </p:txBody>
      </p:sp>
      <p:sp>
        <p:nvSpPr>
          <p:cNvPr id="12" name="Oval 11"/>
          <p:cNvSpPr/>
          <p:nvPr/>
        </p:nvSpPr>
        <p:spPr>
          <a:xfrm>
            <a:off x="8143036" y="5639410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504" y="5625694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MESH radio: frekuensi, bandwidth, SF/CR, sync word, TX power, preamble.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Kalau tab ini kosong, monitor MQTT di PC belum tersambung ke broker — buka Gateway Setup langkah 3 dan tekan Connect operator monitor.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Uplinks — frame MESH yang diteruskan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Setiap frame LoRa MESH yang diterima Gateway lalu diterbitkan ke MQTT, terbaru di atas.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2268525"/>
            <a:ext cx="11203855" cy="27562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09-upli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77525"/>
            <a:ext cx="11185855" cy="273820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6008523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994807"/>
            <a:ext cx="3230270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Kolom: waktu, tipe pesan, source, destination, sequence, panjang payload, RSSI/SNR, dan status parsing.</a:t>
            </a:r>
          </a:p>
        </p:txBody>
      </p:sp>
      <p:sp>
        <p:nvSpPr>
          <p:cNvPr id="10" name="Oval 9"/>
          <p:cNvSpPr/>
          <p:nvPr/>
        </p:nvSpPr>
        <p:spPr>
          <a:xfrm>
            <a:off x="4322978" y="6008523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446" y="5994807"/>
            <a:ext cx="3230270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Tipe pesan diterjemahkan dari ID protokol, mis. CH_HELLO, SENSOR_DATA, CLUSTER_DATA_RESPONSE, SERVER_PULL_REQUEST.</a:t>
            </a:r>
          </a:p>
        </p:txBody>
      </p:sp>
      <p:sp>
        <p:nvSpPr>
          <p:cNvPr id="12" name="Oval 11"/>
          <p:cNvSpPr/>
          <p:nvPr/>
        </p:nvSpPr>
        <p:spPr>
          <a:xfrm>
            <a:off x="8143036" y="6008523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504" y="5994807"/>
            <a:ext cx="3230270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Clear mengosongkan tabel di layar saja.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Topology — bentuk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Diturunkan dari event CH_HELLO, CH_CONFIG_REQUEST, dan CH_CONFIG_RESPONSE.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600548"/>
            <a:ext cx="11203855" cy="352523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10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9548"/>
            <a:ext cx="11185855" cy="350723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441595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427879"/>
            <a:ext cx="5140299" cy="5934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Tabel atas: keadaan terakhir yang diketahui untuk tiap CH — parent, baterai, RSSI/SNR, jenis laporan, capabilities, dan umur data.</a:t>
            </a:r>
          </a:p>
        </p:txBody>
      </p:sp>
      <p:sp>
        <p:nvSpPr>
          <p:cNvPr id="10" name="Oval 9"/>
          <p:cNvSpPr/>
          <p:nvPr/>
        </p:nvSpPr>
        <p:spPr>
          <a:xfrm>
            <a:off x="6233007" y="5441595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8475" y="5427879"/>
            <a:ext cx="5140299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Tabel bawah: umpan event mentah, urut waktu.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Baris yang lebih tua dari 300 detik ditandai sebagai stale.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Commands — perintah turun ke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Dua jenis perintah yang bisa dikirim operator lewat MQTT.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9539" y="1508904"/>
            <a:ext cx="9672616" cy="407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11-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39" y="1517904"/>
            <a:ext cx="9654616" cy="40596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796992"/>
            <a:ext cx="3230270" cy="791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Pull request → {topicRoot}/cmd/pull. Membentuk MSG_SERVER_PULL_REQUEST, dikirim ke hop pertama atau dirutekan berdasarkan cluster.</a:t>
            </a:r>
          </a:p>
        </p:txBody>
      </p:sp>
      <p:sp>
        <p:nvSpPr>
          <p:cNvPr id="10" name="Oval 9"/>
          <p:cNvSpPr/>
          <p:nvPr/>
        </p:nvSpPr>
        <p:spPr>
          <a:xfrm>
            <a:off x="4322978" y="581070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446" y="5796992"/>
            <a:ext cx="3230270" cy="791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Node command → {topicRoot}/cmd/node. Membentuk MSG_SERVER_NODE_COMMAND untuk satu GLD di balik sebuah CH; isi cluster, node ID, TTL, dan payload hex.</a:t>
            </a:r>
          </a:p>
        </p:txBody>
      </p:sp>
      <p:sp>
        <p:nvSpPr>
          <p:cNvPr id="12" name="Oval 11"/>
          <p:cNvSpPr/>
          <p:nvPr/>
        </p:nvSpPr>
        <p:spPr>
          <a:xfrm>
            <a:off x="8143036" y="581070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504" y="5796992"/>
            <a:ext cx="3230270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Log perintah yang sudah dikirim beserta topic dan payload-nya.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Boot Log dan tab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Log serial 115200 baud, dan flashing versi lanjutan.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1617825"/>
            <a:ext cx="11203855" cy="42554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12-boot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6825"/>
            <a:ext cx="11185855" cy="423741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6206338"/>
            <a:ext cx="214884" cy="214884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6192622"/>
            <a:ext cx="5140299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Log runtime Gateway. Koneksi COM yang sama juga dipakai alur provisioning Wi-Fi/MQTT di Gateway Setup.</a:t>
            </a:r>
          </a:p>
        </p:txBody>
      </p:sp>
      <p:sp>
        <p:nvSpPr>
          <p:cNvPr id="10" name="Oval 9"/>
          <p:cNvSpPr/>
          <p:nvPr/>
        </p:nvSpPr>
        <p:spPr>
          <a:xfrm>
            <a:off x="6233007" y="6206338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8475" y="6192622"/>
            <a:ext cx="5140299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Pause, Download, Save to disk, Clear.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GW · LANGKAH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Tab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Untuk memuat folder paket firmware secara manual.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920" y="2089795"/>
            <a:ext cx="11203855" cy="2744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w-13-firm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8795"/>
            <a:ext cx="11185855" cy="272655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2920" y="563941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5625694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Lock / Unlock dengan PIN lokal.</a:t>
            </a:r>
          </a:p>
        </p:txBody>
      </p:sp>
      <p:sp>
        <p:nvSpPr>
          <p:cNvPr id="10" name="Oval 9"/>
          <p:cNvSpPr/>
          <p:nvPr/>
        </p:nvSpPr>
        <p:spPr>
          <a:xfrm>
            <a:off x="3367963" y="563941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5625694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Profil firmware: gw atau gw_hello_ack_fieldtest.</a:t>
            </a:r>
          </a:p>
        </p:txBody>
      </p:sp>
      <p:sp>
        <p:nvSpPr>
          <p:cNvPr id="12" name="Oval 11"/>
          <p:cNvSpPr/>
          <p:nvPr/>
        </p:nvSpPr>
        <p:spPr>
          <a:xfrm>
            <a:off x="6233006" y="563941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8474" y="5625694"/>
            <a:ext cx="2275255" cy="395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Choose package folder — memuat paket dari folder.</a:t>
            </a:r>
          </a:p>
        </p:txBody>
      </p:sp>
      <p:sp>
        <p:nvSpPr>
          <p:cNvPr id="14" name="Oval 13"/>
          <p:cNvSpPr/>
          <p:nvPr/>
        </p:nvSpPr>
        <p:spPr>
          <a:xfrm>
            <a:off x="9098049" y="5639410"/>
            <a:ext cx="214884" cy="214884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3517" y="5625694"/>
            <a:ext cx="2275255" cy="197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Upload &amp; flash.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163056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163056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Tidak ada langkah provisioning setelah flashing, karena GATEWAY_ID ditetapkan saat kompilasi.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Urutan komisioning satu klaster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Ringkasan end-to-end dari perangkat kosong sampai data mengalir.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A. Gateway lebih dulu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2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1. Flash firmware Gateway.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45435"/>
            <a:ext cx="3515258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2. Gateway Setup: COM → Wi-Fi (simpan, reboot, test) → MQTT (simpan ke perangkat, sambungkan monitor).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26662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3. Setel MESH LoRa dan catat nilainya.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87265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4. Overview harus ONLINE dengan Wi-Fi dan MQTT 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B. ClusterHead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2084832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5. Flash firmware 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218" y="2345435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6. CH Settings: CH ID dan Root gateway.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218" y="2606038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7. MESH LoRa CH = MESH LoRa Gateway.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8218" y="2866641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8. Tentukan STAR LoRa untuk klaster ini.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218" y="3127244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9. Tunggu State menjadi JOINED dan CH_HELLO ber-ACK.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218" y="3598159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10. Di Gateway, CH ini muncul di tab Topology.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3516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C. GLD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2084832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11. Flash firmware GLD.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2345435"/>
            <a:ext cx="351525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12. Running Settings: GLD ID, CH Address, LoRa STAR (= STAR LoRa CH).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3516" y="2816350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13. Boot Health semua siap.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3516" y="3076953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14. Nulling sampai seluruh kanal OK.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3516" y="3337556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15. QC: beri verdict tiap kanal.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3516" y="3598159"/>
            <a:ext cx="351525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16. GLD muncul di tab Nodes pada CH.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126480"/>
            <a:ext cx="11185855" cy="42062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6126480"/>
            <a:ext cx="41148" cy="42062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22706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Segoe UI"/>
              </a:rPr>
              <a:t>Aturan pencocokan radio: STAR menghubungkan GLD ↔ CH, MESH menghubungkan CH ↔ CH ↔ Gateway. Nilai di kedua ujung harus sama persis.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65C00"/>
                </a:solidFill>
                <a:latin typeface="Segoe UI"/>
              </a:rP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500" b="1">
                <a:solidFill>
                  <a:srgbClr val="1A1A2E"/>
                </a:solidFill>
                <a:latin typeface="Segoe UI"/>
              </a:rPr>
              <a:t>Kalau ada yang tidak jalan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Titik pemeriksaan yang paling sering menyelesaikan masalah.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Tidak bisa connect 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84832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Pastikan driver CH340 terpasang (dicek preflight Hub).</a:t>
            </a:r>
          </a:p>
        </p:txBody>
      </p:sp>
      <p:sp>
        <p:nvSpPr>
          <p:cNvPr id="9" name="Oval 8"/>
          <p:cNvSpPr/>
          <p:nvPr/>
        </p:nvSpPr>
        <p:spPr>
          <a:xfrm>
            <a:off x="521208" y="214426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55747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Tutup aplikasi lain yang memegang port yang sama.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" y="2615183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26662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Coba isi COM manual di Port Setup.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308609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287265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Periksa badge bridge — tanpa bridge, upload firmware tidak tersedia.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" y="3346701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8218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GLD tidak muncul di 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810" y="2084832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Samakan LoRa STAR GLD dengan STAR radio CH: frekuensi, BW, SF, CR, sync word.</a:t>
            </a:r>
          </a:p>
        </p:txBody>
      </p:sp>
      <p:sp>
        <p:nvSpPr>
          <p:cNvPr id="19" name="Oval 18"/>
          <p:cNvSpPr/>
          <p:nvPr/>
        </p:nvSpPr>
        <p:spPr>
          <a:xfrm>
            <a:off x="4356506" y="214426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2810" y="2555747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Periksa CH Address di GLD menunjuk ke CH yang benar.</a:t>
            </a:r>
          </a:p>
        </p:txBody>
      </p:sp>
      <p:sp>
        <p:nvSpPr>
          <p:cNvPr id="21" name="Oval 20"/>
          <p:cNvSpPr/>
          <p:nvPr/>
        </p:nvSpPr>
        <p:spPr>
          <a:xfrm>
            <a:off x="4356506" y="2615183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2810" y="3026662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Di tab Nodes CH, node lebih tua dari 300 detik ditandai stale.</a:t>
            </a:r>
          </a:p>
        </p:txBody>
      </p:sp>
      <p:sp>
        <p:nvSpPr>
          <p:cNvPr id="23" name="Oval 22"/>
          <p:cNvSpPr/>
          <p:nvPr/>
        </p:nvSpPr>
        <p:spPr>
          <a:xfrm>
            <a:off x="4356506" y="308609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3516" y="1517904"/>
            <a:ext cx="3515258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1682496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A1A2E"/>
                </a:solidFill>
                <a:latin typeface="Segoe UI"/>
              </a:rPr>
              <a:t>CH tidak JOINED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8108" y="2084832"/>
            <a:ext cx="3350666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Samakan MESH LoRa CH dengan Gateway.</a:t>
            </a:r>
          </a:p>
        </p:txBody>
      </p:sp>
      <p:sp>
        <p:nvSpPr>
          <p:cNvPr id="27" name="Oval 26"/>
          <p:cNvSpPr/>
          <p:nvPr/>
        </p:nvSpPr>
        <p:spPr>
          <a:xfrm>
            <a:off x="8191804" y="2144268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8108" y="2345435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Lihat kartu CH_CONFIG: apakah discovery menemukan kandidat.</a:t>
            </a:r>
          </a:p>
        </p:txBody>
      </p:sp>
      <p:sp>
        <p:nvSpPr>
          <p:cNvPr id="29" name="Oval 28"/>
          <p:cNvSpPr/>
          <p:nvPr/>
        </p:nvSpPr>
        <p:spPr>
          <a:xfrm>
            <a:off x="8191804" y="2404871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8108" y="2816350"/>
            <a:ext cx="335066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Coba Clear parent NVS lalu biarkan mencari ulang.</a:t>
            </a:r>
          </a:p>
        </p:txBody>
      </p:sp>
      <p:sp>
        <p:nvSpPr>
          <p:cNvPr id="31" name="Oval 30"/>
          <p:cNvSpPr/>
          <p:nvPr/>
        </p:nvSpPr>
        <p:spPr>
          <a:xfrm>
            <a:off x="8191804" y="2875786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8108" y="3287265"/>
            <a:ext cx="3350666" cy="630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Segoe UI"/>
              </a:rPr>
              <a:t>Periksa hasil begin() radio MESH — kode −2 berarti chip SX1262 tidak terdeteksi lewat SPI.</a:t>
            </a:r>
          </a:p>
        </p:txBody>
      </p:sp>
      <p:sp>
        <p:nvSpPr>
          <p:cNvPr id="33" name="Oval 32"/>
          <p:cNvSpPr/>
          <p:nvPr/>
        </p:nvSpPr>
        <p:spPr>
          <a:xfrm>
            <a:off x="8191804" y="3346701"/>
            <a:ext cx="68580" cy="68580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
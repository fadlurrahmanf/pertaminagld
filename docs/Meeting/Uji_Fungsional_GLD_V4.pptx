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ndahuluan" id="{A0B01292-7CB2-EF25-A587-F3F5E78B1183}">
          <p14:sldIdLst>
            <p14:sldId id="256"/>
            <p14:sldId id="257"/>
            <p14:sldId id="258"/>
          </p14:sldIdLst>
        </p14:section>
        <p14:section name="Mode 24V" id="{8D912C08-AE16-3C81-7FA6-CDE42EDB233B}">
          <p14:sldIdLst>
            <p14:sldId id="259"/>
            <p14:sldId id="260"/>
            <p14:sldId id="261"/>
            <p14:sldId id="262"/>
            <p14:sldId id="263"/>
          </p14:sldIdLst>
        </p14:section>
        <p14:section name="Mode baterai" id="{2B86F70A-CBDD-D5DA-4332-39CB2D4ED073}">
          <p14:sldIdLst>
            <p14:sldId id="264"/>
            <p14:sldId id="265"/>
            <p14:sldId id="266"/>
            <p14:sldId id="267"/>
          </p14:sldIdLst>
        </p14:section>
        <p14:section name="Penutup" id="{8583A2FE-670D-5233-8A9F-9D2E379B091F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lang="it-IT" sz="1100" b="0" i="0" u="none" strike="noStrike">
                <a:solidFill>
                  <a:srgbClr val="1B2433"/>
                </a:solidFill>
                <a:latin typeface="+mn-lt"/>
              </a:rPr>
              <a:t>Kode DAC per sensor (0–4095)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Kode DAC</c:v>
                </c:pt>
              </c:strCache>
            </c:strRef>
          </c:tx>
          <c:spPr>
            <a:solidFill>
              <a:srgbClr val="2F7DE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MQ8</c:v>
                </c:pt>
                <c:pt idx="1">
                  <c:v>MQ135</c:v>
                </c:pt>
                <c:pt idx="2">
                  <c:v>MQ3</c:v>
                </c:pt>
                <c:pt idx="3">
                  <c:v>MQ5</c:v>
                </c:pt>
                <c:pt idx="4">
                  <c:v>MQ4</c:v>
                </c:pt>
                <c:pt idx="5">
                  <c:v>MQ7</c:v>
                </c:pt>
                <c:pt idx="6">
                  <c:v>MQ6</c:v>
                </c:pt>
                <c:pt idx="7">
                  <c:v>MQ2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473</c:v>
                </c:pt>
                <c:pt idx="1">
                  <c:v>703</c:v>
                </c:pt>
                <c:pt idx="2">
                  <c:v>751</c:v>
                </c:pt>
                <c:pt idx="3">
                  <c:v>682</c:v>
                </c:pt>
                <c:pt idx="4">
                  <c:v>678</c:v>
                </c:pt>
                <c:pt idx="5">
                  <c:v>913</c:v>
                </c:pt>
                <c:pt idx="6">
                  <c:v>1339</c:v>
                </c:pt>
                <c:pt idx="7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0F-4DE7-A406-499E08831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00"/>
          <c:min val="0"/>
        </c:scaling>
        <c:delete val="1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lang="en-ID" sz="1100" b="0" i="0" u="none" strike="noStrike">
                <a:solidFill>
                  <a:srgbClr val="1B2433"/>
                </a:solidFill>
                <a:latin typeface="+mn-lt"/>
              </a:rPr>
              <a:t>Tegangan baterai per siklus (mV)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Tegangan baterai (mV)</c:v>
                </c:pt>
              </c:strCache>
            </c:strRef>
          </c:tx>
          <c:spPr>
            <a:ln w="25400" cap="flat">
              <a:solidFill>
                <a:srgbClr val="2F7DE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F7DE1"/>
              </a:solidFill>
              <a:ln w="9525" cap="flat">
                <a:solidFill>
                  <a:srgbClr val="2F7DE1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3887</c:v>
                </c:pt>
                <c:pt idx="1">
                  <c:v>3886</c:v>
                </c:pt>
                <c:pt idx="2">
                  <c:v>3887</c:v>
                </c:pt>
                <c:pt idx="3">
                  <c:v>3885</c:v>
                </c:pt>
                <c:pt idx="4">
                  <c:v>3884</c:v>
                </c:pt>
                <c:pt idx="5">
                  <c:v>3884</c:v>
                </c:pt>
                <c:pt idx="6">
                  <c:v>3885</c:v>
                </c:pt>
                <c:pt idx="7">
                  <c:v>3884</c:v>
                </c:pt>
                <c:pt idx="8">
                  <c:v>3883</c:v>
                </c:pt>
                <c:pt idx="9">
                  <c:v>3884</c:v>
                </c:pt>
                <c:pt idx="10">
                  <c:v>3883</c:v>
                </c:pt>
                <c:pt idx="11">
                  <c:v>3882</c:v>
                </c:pt>
                <c:pt idx="12">
                  <c:v>3881</c:v>
                </c:pt>
                <c:pt idx="13">
                  <c:v>3881</c:v>
                </c:pt>
                <c:pt idx="14">
                  <c:v>3880</c:v>
                </c:pt>
                <c:pt idx="15">
                  <c:v>3880</c:v>
                </c:pt>
                <c:pt idx="16">
                  <c:v>3880</c:v>
                </c:pt>
                <c:pt idx="17">
                  <c:v>3879</c:v>
                </c:pt>
                <c:pt idx="18">
                  <c:v>3881</c:v>
                </c:pt>
                <c:pt idx="19">
                  <c:v>3880</c:v>
                </c:pt>
                <c:pt idx="20">
                  <c:v>3879</c:v>
                </c:pt>
                <c:pt idx="21">
                  <c:v>3877</c:v>
                </c:pt>
                <c:pt idx="22">
                  <c:v>3875</c:v>
                </c:pt>
                <c:pt idx="23">
                  <c:v>3877</c:v>
                </c:pt>
                <c:pt idx="24">
                  <c:v>3872</c:v>
                </c:pt>
                <c:pt idx="25">
                  <c:v>3872</c:v>
                </c:pt>
                <c:pt idx="26">
                  <c:v>3874</c:v>
                </c:pt>
                <c:pt idx="27">
                  <c:v>3873</c:v>
                </c:pt>
                <c:pt idx="28">
                  <c:v>3870</c:v>
                </c:pt>
                <c:pt idx="29">
                  <c:v>3871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02-466F-A3E3-CADDACD108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77A"/>
                    </a:solidFill>
                    <a:latin typeface="+mn-lt"/>
                  </a:defRPr>
                </a:pPr>
                <a:r>
                  <a:rPr lang="en-ID" sz="1000" b="0" i="0" u="none" strike="noStrike">
                    <a:solidFill>
                      <a:srgbClr val="5B677A"/>
                    </a:solidFill>
                    <a:latin typeface="+mn-lt"/>
                  </a:rPr>
                  <a:t>Siklus ke-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  <c:max val="3895"/>
          <c:min val="3860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260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foto: dokumentasi uji 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Spesifikasi dari firmware gld_atex v0.8.30 dan boot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 uji mengikuti tingkat ketergantungan: koneksi, boot, wiring, nulling; lalu baterai.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apps/operator-hub/firmware-packages/gld_atex/latest/manifest.json (dibuat 29 Sep 2026) dan screenshot Operator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screenshot Serial Log (15:56) dan logs/battery-test/v41/boot_V41_H1-H8_20261006T163636.log (mcp=8/8, nulling=PASS profil #1).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log serial 24V (GLD_POWER), firmware GldUnifiedMain.cpp (kipas GPIO7 aktif kontinu di mode 24V), foto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screenshot Operator Hub dan log nulling (NULLING_STAGE_TRANSITION, NULLING_THRESHOLD_DERIVED).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log nulling Operator Hub (NULLING_CH_OK per kanal, NULLING_NVS_SAVE=OK profileId=2, NULLING_RUNTIME_RESULT=PASS).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foto baterai, skematik GLD ATEX (F2, Q2, U14, U41, U43), dokumen teknis sertifikasi (backup battery path R&amp;D).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logs/battery-test/battery_cycles_20261006T144811.csv (kolom battery_mv, 30 siklus).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battery_cycles_20261006T144811.csv (duration_s=15,8; since_prev_s=18,9 untuk siklus 2 sampai 30). Port COM hilang termasuk waktu Windows mengenali ulang.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battery_raw_20261006T144811.log (GLD_BATTERY_SESSION_START, GLD_BATTERY_SESSION_WAIT reason=nulling_profile_not_applied delayMs=10000).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Butir 3: perkiraan beban heater sekitar 1 A dari rail 5 V; belum diukur.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Rangkuman status. Uji GLD V4 utama dan GLD V4 satunya dianggap setara.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Uji Fungsional GLD V4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Uji Fungsional GLD V4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UJI FUNGSIONAL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tx1"/>
                </a:solidFill>
              </a:rPr>
              <a:t>Uji Fungsional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GLD V4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Pengujian mode 24V dan mode baterai melalui Operator Hub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Pertamina Gas Leak Detector  ·  Oktober 2026</a:t>
            </a:r>
            <a:endParaRPr lang="en-US" sz="1200" dirty="0"/>
          </a:p>
        </p:txBody>
      </p:sp>
      <p:pic>
        <p:nvPicPr>
          <p:cNvPr id="6" name="Image 0" descr="Board GLD V4 terpasang dengan sensor di meja uji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0" y="822960"/>
            <a:ext cx="38404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A  ·  PENDAHULUAN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GLD V4: motherboard, cover, dan delapan sensor gas</a:t>
            </a:r>
            <a:endParaRPr lang="en-US" sz="2400" dirty="0"/>
          </a:p>
        </p:txBody>
      </p:sp>
      <p:pic>
        <p:nvPicPr>
          <p:cNvPr id="4" name="Image 0" descr="Board GLD V4"/>
          <p:cNvPicPr>
            <a:picLocks noChangeAspect="1"/>
          </p:cNvPicPr>
          <p:nvPr/>
        </p:nvPicPr>
        <p:blipFill>
          <a:blip r:embed="rId3"/>
          <a:srcRect t="19275" b="15942"/>
          <a:stretch>
            <a:fillRect/>
          </a:stretch>
        </p:blipFill>
        <p:spPr>
          <a:xfrm>
            <a:off x="749810" y="1860060"/>
            <a:ext cx="2915919" cy="3031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89120" y="1828800"/>
            <a:ext cx="35204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4526280" y="201168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012" y="2153412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5780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ESP32-S3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2578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Mikrokontroler WROOM-1U-N16R8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046720" y="1828800"/>
            <a:ext cx="35204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7"/>
          <p:cNvSpPr/>
          <p:nvPr/>
        </p:nvSpPr>
        <p:spPr>
          <a:xfrm>
            <a:off x="8183880" y="201168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612" y="215341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1540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ADS1256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9154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ADC pembaca delapan sensor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389120" y="2926080"/>
            <a:ext cx="35204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1"/>
          <p:cNvSpPr/>
          <p:nvPr/>
        </p:nvSpPr>
        <p:spPr>
          <a:xfrm>
            <a:off x="4526280" y="310896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012" y="325069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257800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MCP4725 × 8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25780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DAC nulling, lewat TCA9548A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046720" y="2926080"/>
            <a:ext cx="35204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5"/>
          <p:cNvSpPr/>
          <p:nvPr/>
        </p:nvSpPr>
        <p:spPr>
          <a:xfrm>
            <a:off x="8183880" y="310896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5612" y="3250692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15400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SX1262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891540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LoRa 920 MHz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389120" y="4023360"/>
            <a:ext cx="35204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Shape 19"/>
          <p:cNvSpPr/>
          <p:nvPr/>
        </p:nvSpPr>
        <p:spPr>
          <a:xfrm>
            <a:off x="4526280" y="420624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8012" y="4347972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780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8 sensor MQ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525780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MQ8, MQ135, MQ3, MQ5, MQ4, MQ7, MQ6, MQ2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8046720" y="4023360"/>
            <a:ext cx="35204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3"/>
          <p:cNvSpPr/>
          <p:nvPr/>
        </p:nvSpPr>
        <p:spPr>
          <a:xfrm>
            <a:off x="8183880" y="420624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5612" y="4347972"/>
            <a:ext cx="283464" cy="28346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91540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24V dan baterai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891540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Dua sumber daya, Li-ion 18650</a:t>
            </a:r>
            <a:endParaRPr lang="en-US" sz="105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5138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Alur sinyal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548640" y="5440680"/>
            <a:ext cx="196596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28"/>
          <p:cNvSpPr txBox="1"/>
          <p:nvPr/>
        </p:nvSpPr>
        <p:spPr>
          <a:xfrm>
            <a:off x="548640" y="5440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</a:rPr>
              <a:t>Sensor MQ × 8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2569464" y="5650992"/>
            <a:ext cx="201168" cy="219456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Shape 30"/>
          <p:cNvSpPr/>
          <p:nvPr/>
        </p:nvSpPr>
        <p:spPr>
          <a:xfrm>
            <a:off x="2825496" y="5440680"/>
            <a:ext cx="196596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1"/>
          <p:cNvSpPr txBox="1"/>
          <p:nvPr/>
        </p:nvSpPr>
        <p:spPr>
          <a:xfrm>
            <a:off x="2825496" y="5440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</a:rPr>
              <a:t>MCP4725 (nulling)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4846320" y="5650992"/>
            <a:ext cx="201168" cy="219456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Shape 33"/>
          <p:cNvSpPr/>
          <p:nvPr/>
        </p:nvSpPr>
        <p:spPr>
          <a:xfrm>
            <a:off x="5102352" y="5440680"/>
            <a:ext cx="196596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34"/>
          <p:cNvSpPr txBox="1"/>
          <p:nvPr/>
        </p:nvSpPr>
        <p:spPr>
          <a:xfrm>
            <a:off x="5102352" y="5440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</a:rPr>
              <a:t>ADS1256 (ADC)</a:t>
            </a:r>
            <a:endParaRPr lang="en-US" sz="1150" dirty="0"/>
          </a:p>
        </p:txBody>
      </p:sp>
      <p:sp>
        <p:nvSpPr>
          <p:cNvPr id="44" name="Shape 35"/>
          <p:cNvSpPr/>
          <p:nvPr/>
        </p:nvSpPr>
        <p:spPr>
          <a:xfrm>
            <a:off x="7123176" y="5650992"/>
            <a:ext cx="201168" cy="219456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Shape 36"/>
          <p:cNvSpPr/>
          <p:nvPr/>
        </p:nvSpPr>
        <p:spPr>
          <a:xfrm>
            <a:off x="7379208" y="5440680"/>
            <a:ext cx="196596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6" name="Text 37"/>
          <p:cNvSpPr txBox="1"/>
          <p:nvPr/>
        </p:nvSpPr>
        <p:spPr>
          <a:xfrm>
            <a:off x="7379208" y="5440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ESP32-S3 (inferensi)</a:t>
            </a:r>
            <a:endParaRPr lang="en-US" sz="1150" dirty="0"/>
          </a:p>
        </p:txBody>
      </p:sp>
      <p:sp>
        <p:nvSpPr>
          <p:cNvPr id="47" name="Shape 38"/>
          <p:cNvSpPr/>
          <p:nvPr/>
        </p:nvSpPr>
        <p:spPr>
          <a:xfrm>
            <a:off x="9400032" y="5650992"/>
            <a:ext cx="201168" cy="219456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8" name="Shape 39"/>
          <p:cNvSpPr/>
          <p:nvPr/>
        </p:nvSpPr>
        <p:spPr>
          <a:xfrm>
            <a:off x="9656064" y="5440680"/>
            <a:ext cx="196596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Text 40"/>
          <p:cNvSpPr txBox="1"/>
          <p:nvPr/>
        </p:nvSpPr>
        <p:spPr>
          <a:xfrm>
            <a:off x="9656064" y="5440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</a:rPr>
              <a:t>SX1262 (LoRa)</a:t>
            </a:r>
            <a:endParaRPr lang="en-US" sz="11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A  ·  PENDAHULUAN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Alur uji: mode 24V lebih dulu, lalu mode baterai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554480" cy="192024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Mode 24V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1874520"/>
            <a:ext cx="224028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2468880" y="205740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612" y="219913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02336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2834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Koneksi dan deploy firmware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874520"/>
            <a:ext cx="224028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4846320" y="205740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219913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0080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834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Uji boot IC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040880" y="1874520"/>
            <a:ext cx="224028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3"/>
          <p:cNvSpPr/>
          <p:nvPr/>
        </p:nvSpPr>
        <p:spPr>
          <a:xfrm>
            <a:off x="7223760" y="205740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492" y="219913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7824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7223760" y="2834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Uji wiring dan output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418320" y="1874520"/>
            <a:ext cx="224028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17"/>
          <p:cNvSpPr/>
          <p:nvPr/>
        </p:nvSpPr>
        <p:spPr>
          <a:xfrm>
            <a:off x="9601200" y="205740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2932" y="219913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15568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0" y="2834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Uji nulling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4114800"/>
            <a:ext cx="1554480" cy="192024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1"/>
          <p:cNvSpPr txBox="1"/>
          <p:nvPr/>
        </p:nvSpPr>
        <p:spPr>
          <a:xfrm>
            <a:off x="548640" y="411480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Mode baterai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2286000" y="4114800"/>
            <a:ext cx="224028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3"/>
          <p:cNvSpPr/>
          <p:nvPr/>
        </p:nvSpPr>
        <p:spPr>
          <a:xfrm>
            <a:off x="2468880" y="429768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0612" y="4439412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023360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2468880" y="5074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Setup baterai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4663440" y="4114800"/>
            <a:ext cx="224028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27"/>
          <p:cNvSpPr/>
          <p:nvPr/>
        </p:nvSpPr>
        <p:spPr>
          <a:xfrm>
            <a:off x="4846320" y="429768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8052" y="4439412"/>
            <a:ext cx="283464" cy="28346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400800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2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4846320" y="5074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Deteksi mode baterai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7040880" y="4114800"/>
            <a:ext cx="224028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Shape 31"/>
          <p:cNvSpPr/>
          <p:nvPr/>
        </p:nvSpPr>
        <p:spPr>
          <a:xfrm>
            <a:off x="7223760" y="429768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5492" y="4439412"/>
            <a:ext cx="283464" cy="28346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778240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3</a:t>
            </a:r>
            <a:endParaRPr lang="en-US" sz="2400" dirty="0"/>
          </a:p>
        </p:txBody>
      </p:sp>
      <p:sp>
        <p:nvSpPr>
          <p:cNvPr id="42" name="Text 33"/>
          <p:cNvSpPr txBox="1"/>
          <p:nvPr/>
        </p:nvSpPr>
        <p:spPr>
          <a:xfrm>
            <a:off x="7223760" y="5074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Siklus wake/sleep TPL5010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9418320" y="4114800"/>
            <a:ext cx="224028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35"/>
          <p:cNvSpPr/>
          <p:nvPr/>
        </p:nvSpPr>
        <p:spPr>
          <a:xfrm>
            <a:off x="9601200" y="4297680"/>
            <a:ext cx="566928" cy="566928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2932" y="4439412"/>
            <a:ext cx="283464" cy="283464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1155680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4</a:t>
            </a:r>
            <a:endParaRPr lang="en-US" sz="2400" dirty="0"/>
          </a:p>
        </p:txBody>
      </p:sp>
      <p:sp>
        <p:nvSpPr>
          <p:cNvPr id="47" name="Text 37"/>
          <p:cNvSpPr txBox="1"/>
          <p:nvPr/>
        </p:nvSpPr>
        <p:spPr>
          <a:xfrm>
            <a:off x="9601200" y="5074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Urutan sesi baterai</a:t>
            </a:r>
            <a:endParaRPr lang="en-US" sz="13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B  ·  MODE 24V  ·  UJI 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Firmware gld_atex v0.8.30 terpasang dan Operator Hub terhubung ke COM4</a:t>
            </a:r>
            <a:endParaRPr lang="en-US" sz="2400" dirty="0"/>
          </a:p>
        </p:txBody>
      </p:sp>
      <p:pic>
        <p:nvPicPr>
          <p:cNvPr id="4" name="Image 0" descr="Status Operator Hub: connected, COM4, ID 1001, mode inference, power 24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6035040" cy="5607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Operator Hub: connected, port COM4, ID 1001, mode inference, daya 24V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3291840"/>
            <a:ext cx="603504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 txBox="1"/>
          <p:nvPr/>
        </p:nvSpPr>
        <p:spPr>
          <a:xfrm>
            <a:off x="77724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Hasil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8404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Upload melalui Operator Hub berhasil. Board boot dengan firmware 0.8.30 dan terbaca stabil di COM4 pada 115200 baud.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874520"/>
          <a:ext cx="4690872" cy="331012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Nilai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Environment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gld_atex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Board profile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GLD ATEX MotherBoardGLDVer2 / GPIO7 fan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Versi firmware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0.8.30 (protokol 0.2.0)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Chip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ESP32-S3, flash 921600 baud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Berkas flash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bootloader, partitions, boot_app0, firmware (1.045.008 byte)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B  ·  MODE 24V  ·  UJI 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Seluruh IC lolos boot test; MODE_READY menunggu binding model</a:t>
            </a:r>
            <a:endParaRPr lang="en-US" sz="2400" dirty="0"/>
          </a:p>
        </p:txBody>
      </p:sp>
      <p:pic>
        <p:nvPicPr>
          <p:cNvPr id="4" name="Image 0" descr="Tabel BOOT_IC_REPORT di Operator 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858000" cy="37125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23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Boot IC report pada Serial Log Operator Hub (mode 24V)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680960" y="1828800"/>
            <a:ext cx="3959352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 txBox="1"/>
          <p:nvPr/>
        </p:nvSpPr>
        <p:spPr>
          <a:xfrm>
            <a:off x="7909560" y="193852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 / 8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32688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MCP4725 lolos tes tulis DAC (OK_TESTED)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2971800"/>
            <a:ext cx="3959352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 txBox="1"/>
          <p:nvPr/>
        </p:nvSpPr>
        <p:spPr>
          <a:xfrm>
            <a:off x="7909560" y="308152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30815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ADS1256, TCA9548A, PCF8574, SX1262, dan model ML: OK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0960" y="4114800"/>
            <a:ext cx="3959352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 txBox="1"/>
          <p:nvPr/>
        </p:nvSpPr>
        <p:spPr>
          <a:xfrm>
            <a:off x="790956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Mengapa MODE_READY NOT_OK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46177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Pada tampilan ini nulling belum dijalankan (nulling=FAIL) dan model belum di-bind (modelProfile=FAIL). Setelah nulling, status nulling menjadi PASS.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B  ·  MODE 24V  ·  UJI 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Sumber 24V terdeteksi dan kipas menyala otomatis</a:t>
            </a:r>
            <a:endParaRPr lang="en-US" sz="2400" dirty="0"/>
          </a:p>
        </p:txBody>
      </p:sp>
      <p:pic>
        <p:nvPicPr>
          <p:cNvPr id="4" name="Image 0" descr="Board GLD V4 tampak atas dengan terminal RS485, FAN, ALARM, BAT, 24V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28800"/>
            <a:ext cx="3291840" cy="438912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828800"/>
          <a:ext cx="7434072" cy="3611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Uji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Bukti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Deteksi sumber daya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GLD_POWER mode=24v externalPower=1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Komunikasi serial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CH340 terbaca di COM4, 115200 baud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Kipas (terminal FAN, GPIO7)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Firmware menjaga GPIO7 HIGH di mode 24V; kipas menyala terus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Terminal daya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Masukan 24V terpasang; terminal BAT, RS485, ALARM tersedia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206240" y="5577840"/>
            <a:ext cx="74340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 txBox="1"/>
          <p:nvPr/>
        </p:nvSpPr>
        <p:spPr>
          <a:xfrm>
            <a:off x="4434840" y="55778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Kesimpulan: jalur daya 24V dan keluaran kipas bekerja sesuai desain.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B  ·  MODE 24V  ·  UJI 4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Nulling berjalan dalam empat tahap per kanal</a:t>
            </a:r>
            <a:endParaRPr lang="en-US" sz="2400" dirty="0"/>
          </a:p>
        </p:txBody>
      </p:sp>
      <p:pic>
        <p:nvPicPr>
          <p:cNvPr id="4" name="Image 0" descr="Tampilan proses nulling kanal 1 di Operator 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309360" cy="31415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Operator Hub saat nulling kanal 1 (tahap confirm)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406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Warmup 30 detik, rata-rata 8 sampel, ambang adalah nilai terbesar dari 50% baseline dan 3× noise.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223760" y="1828800"/>
            <a:ext cx="44165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5"/>
          <p:cNvSpPr/>
          <p:nvPr/>
        </p:nvSpPr>
        <p:spPr>
          <a:xfrm>
            <a:off x="7406640" y="2029968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6"/>
          <p:cNvSpPr txBox="1"/>
          <p:nvPr/>
        </p:nvSpPr>
        <p:spPr>
          <a:xfrm>
            <a:off x="740664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Baseline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240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Mengukur keluaran sensor pada kode DAC 0 sampai 10.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23760" y="2907792"/>
            <a:ext cx="44165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7406640" y="31089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 txBox="1"/>
          <p:nvPr/>
        </p:nvSpPr>
        <p:spPr>
          <a:xfrm>
            <a:off x="74066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Exponential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192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Menaikkan kode DAC sampai keluaran melewati ambang.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23760" y="3986784"/>
            <a:ext cx="44165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5"/>
          <p:cNvSpPr/>
          <p:nvPr/>
        </p:nvSpPr>
        <p:spPr>
          <a:xfrm>
            <a:off x="7406640" y="418795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6"/>
          <p:cNvSpPr txBox="1"/>
          <p:nvPr/>
        </p:nvSpPr>
        <p:spPr>
          <a:xfrm>
            <a:off x="7406640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096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Binary search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183880" y="43982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Mempersempit rentang untuk titik kode DAC yang tepat.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23760" y="5065776"/>
            <a:ext cx="44165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0"/>
          <p:cNvSpPr/>
          <p:nvPr/>
        </p:nvSpPr>
        <p:spPr>
          <a:xfrm>
            <a:off x="7406640" y="5266944"/>
            <a:ext cx="548640" cy="54864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1"/>
          <p:cNvSpPr txBox="1"/>
          <p:nvPr/>
        </p:nvSpPr>
        <p:spPr>
          <a:xfrm>
            <a:off x="7406640" y="5266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183880" y="5175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Confirm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183880" y="54772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Memverifikasi titik stabil; mengulang bila gagal.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B  ·  MODE 24V  ·  UJI 4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Nulling 8 dari 8 kanal berhasil dan profil #2 tersimpan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858000" cy="37856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Kanal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Sensor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Baseline (mV)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Kode DAC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Setelah (mV)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CH1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MQ8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3,30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473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6,33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CH2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MQ135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1,14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2,77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MQ3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1,31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751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6,83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CH4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MQ5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1,71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682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13,47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CH5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MQ4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2,91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678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83,79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CH6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MQ7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1,78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913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4,13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CH7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MQ6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325,89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1339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790,76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CH8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MQ2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203,65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293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305,98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680960" y="1783080"/>
          <a:ext cx="3959352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680960" y="4846320"/>
            <a:ext cx="395935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3"/>
          <p:cNvSpPr txBox="1"/>
          <p:nvPr/>
        </p:nvSpPr>
        <p:spPr>
          <a:xfrm>
            <a:off x="7909560" y="4956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3"/>
                </a:solidFill>
              </a:rPr>
              <a:t>Interpretasi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909560" y="52578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Seluruh kanal melewati ambang dan lolos verifikasi. Kode DAC berbeda tiap sensor karena offset awalnya berbeda. NVS_SAVE=OK, profileId=2.</a:t>
            </a:r>
            <a:endParaRPr lang="en-US" sz="1100" dirty="0"/>
          </a:p>
        </p:txBody>
      </p:sp>
      <p:sp>
        <p:nvSpPr>
          <p:cNvPr id="4" name="Text 5"/>
          <p:cNvSpPr txBox="1"/>
          <p:nvPr/>
        </p:nvSpPr>
        <p:spPr>
          <a:xfrm>
            <a:off x="548640" y="5715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Baseline dan Setelah adalah tegangan keluaran sensor sebelum dan sesudah nulling.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C  ·  MODE BATERAI  ·  UJI 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Baterai Li-ion 18650 terhubung ke terminal BAT lewat konektor JST</a:t>
            </a:r>
            <a:endParaRPr lang="en-US" sz="2400" dirty="0"/>
          </a:p>
        </p:txBody>
      </p:sp>
      <p:pic>
        <p:nvPicPr>
          <p:cNvPr id="4" name="Image 0" descr="Baterai 18650 dengan kabel dan konektor JS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28800"/>
            <a:ext cx="402336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Jalur daya baterai pada board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937760" y="2240280"/>
            <a:ext cx="2011680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 txBox="1"/>
          <p:nvPr/>
        </p:nvSpPr>
        <p:spPr>
          <a:xfrm>
            <a:off x="502920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Baterai 18650 (4,2 V penuh)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86016" y="2587752"/>
            <a:ext cx="201168" cy="219456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7223760" y="2240280"/>
            <a:ext cx="201168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 txBox="1"/>
          <p:nvPr/>
        </p:nvSpPr>
        <p:spPr>
          <a:xfrm>
            <a:off x="731520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Fuse F2 dan Q2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272016" y="2587752"/>
            <a:ext cx="201168" cy="219456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9509760" y="2240280"/>
            <a:ext cx="201168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 txBox="1"/>
          <p:nvPr/>
        </p:nvSpPr>
        <p:spPr>
          <a:xfrm>
            <a:off x="960120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Switch U14 (diaktifkan latch TPL5010)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3474720"/>
            <a:ext cx="201168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 txBox="1"/>
          <p:nvPr/>
        </p:nvSpPr>
        <p:spPr>
          <a:xfrm>
            <a:off x="502920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Boost U41 (5 V)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86016" y="3822192"/>
            <a:ext cx="201168" cy="219456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4"/>
          <p:cNvSpPr/>
          <p:nvPr/>
        </p:nvSpPr>
        <p:spPr>
          <a:xfrm>
            <a:off x="7223760" y="3474720"/>
            <a:ext cx="201168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 txBox="1"/>
          <p:nvPr/>
        </p:nvSpPr>
        <p:spPr>
          <a:xfrm>
            <a:off x="731520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Buck U43 (3,3 V)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272016" y="3822192"/>
            <a:ext cx="201168" cy="219456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7"/>
          <p:cNvSpPr/>
          <p:nvPr/>
        </p:nvSpPr>
        <p:spPr>
          <a:xfrm>
            <a:off x="9509760" y="3474720"/>
            <a:ext cx="201168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8"/>
          <p:cNvSpPr txBox="1"/>
          <p:nvPr/>
        </p:nvSpPr>
        <p:spPr>
          <a:xfrm>
            <a:off x="960120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ESP32-S3 dan sensor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37760" y="4846320"/>
            <a:ext cx="670255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0"/>
          <p:cNvSpPr txBox="1"/>
          <p:nvPr/>
        </p:nvSpPr>
        <p:spPr>
          <a:xfrm>
            <a:off x="5166360" y="4956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Jalur baterai berstatus R&amp;D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166360" y="5285232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Desain cadangan memakai 7 sel 18650 paralel (4,2 V). Pada jalur ini, TPL5010 menghidupkan daya secara berkala lewat latch, lalu firmware mematikannya lagi.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C  ·  MODE BATERAI  ·  UJI 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Firmware mengenali mode baterai dan membaca tegangan 3,87 sampai 3,89 V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 txBox="1"/>
          <p:nvPr/>
        </p:nvSpPr>
        <p:spPr>
          <a:xfrm>
            <a:off x="777240" y="1938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battery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Mode daya terdeteksi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661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 txBox="1"/>
          <p:nvPr/>
        </p:nvSpPr>
        <p:spPr>
          <a:xfrm>
            <a:off x="4526280" y="1938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3.887 mV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Tegangan siklus pertama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661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 txBox="1"/>
          <p:nvPr/>
        </p:nvSpPr>
        <p:spPr>
          <a:xfrm>
            <a:off x="8275320" y="1938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3.871 mV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Tegangan siklus ke-30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3108960"/>
          <a:ext cx="7315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8138160" y="3108960"/>
            <a:ext cx="3502152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 txBox="1"/>
          <p:nvPr/>
        </p:nvSpPr>
        <p:spPr>
          <a:xfrm>
            <a:off x="8366760" y="3246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3"/>
                </a:solidFill>
              </a:rPr>
              <a:t>Interpretasi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361188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Sumber 24V tidak terdeteksi (externalPower=0), sehingga firmware masuk mode baterai. Tegangan turun 16 mV selama 30 siklus (9,2 menit), yaitu perilaku wajar baterai yang dibebani.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C  ·  MODE BATERAI  ·  UJI 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Board bangun dan tidur otomatis 30 kali dengan interval 18,9 detik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Satu siklus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280160" cy="17373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 txBox="1"/>
          <p:nvPr/>
        </p:nvSpPr>
        <p:spPr>
          <a:xfrm>
            <a:off x="658368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TPL5010 mengirim sinyal WAKE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2148840"/>
            <a:ext cx="1280160" cy="17373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 txBox="1"/>
          <p:nvPr/>
        </p:nvSpPr>
        <p:spPr>
          <a:xfrm>
            <a:off x="2029968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029968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Latch menyalakan daya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148840"/>
            <a:ext cx="1280160" cy="17373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 txBox="1"/>
          <p:nvPr/>
        </p:nvSpPr>
        <p:spPr>
          <a:xfrm>
            <a:off x="3401568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Firmware berjalan ±15,8 detik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1280160" cy="17373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 txBox="1"/>
          <p:nvPr/>
        </p:nvSpPr>
        <p:spPr>
          <a:xfrm>
            <a:off x="4773168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DONE lalu CLR mematikan daya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1280160" cy="17373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 txBox="1"/>
          <p:nvPr/>
        </p:nvSpPr>
        <p:spPr>
          <a:xfrm>
            <a:off x="6144768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Jeda ±3 detik, siklus berulang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67665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 txBox="1"/>
          <p:nvPr/>
        </p:nvSpPr>
        <p:spPr>
          <a:xfrm>
            <a:off x="777240" y="425196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3"/>
                </a:solidFill>
              </a:rPr>
              <a:t>Interpretasi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7200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Interval nyaris konstan (18,9 detik, rentang 18,9 sampai 19,0) menunjukkan TPL5010 dan latch daya bekerja stabil. Board mati sendiri setelah sesi dan bangun kembali tanpa campur tangan operator.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89520" y="182880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 txBox="1"/>
          <p:nvPr/>
        </p:nvSpPr>
        <p:spPr>
          <a:xfrm>
            <a:off x="77724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30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2880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siklus berturut-turut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46920" y="182880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 txBox="1"/>
          <p:nvPr/>
        </p:nvSpPr>
        <p:spPr>
          <a:xfrm>
            <a:off x="98298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18,9 s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2880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interval antar bangun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9520" y="402336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 txBox="1"/>
          <p:nvPr/>
        </p:nvSpPr>
        <p:spPr>
          <a:xfrm>
            <a:off x="7772400" y="4297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15,8 s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5074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lama board aktif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46920" y="402336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 txBox="1"/>
          <p:nvPr/>
        </p:nvSpPr>
        <p:spPr>
          <a:xfrm>
            <a:off x="9829800" y="4297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±2,5 s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829800" y="5074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port COM hilang tiap siklus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C  ·  MODE BATERAI  ·  UJI 4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Sesi baterai menolak lanjut tanpa sensor lalu mati dengan aman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Boot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GLD_POWER mode=battery, tegangan baterai terbaca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 txBox="1"/>
          <p:nvPr/>
        </p:nvSpPr>
        <p:spPr>
          <a:xfrm>
            <a:off x="44805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Sesi dimulai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SESSION_START: warmup 30 detik, 10 batch, batas 120 detik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 txBox="1"/>
          <p:nvPr/>
        </p:nvSpPr>
        <p:spPr>
          <a:xfrm>
            <a:off x="82296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Cek kesiapan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Profil nulling belum terpasang karena modul sensor tidak terdeteksi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 txBox="1"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Sesi ditunda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160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SESSION_WAIT 10 detik dengan alasan nulling_profile_not_applied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4480560" y="36118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 txBox="1"/>
          <p:nvPr/>
        </p:nvSpPr>
        <p:spPr>
          <a:xfrm>
            <a:off x="44805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Mati sendiri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160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Board memutus daya lewat latch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8229600" y="36118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 txBox="1"/>
          <p:nvPr/>
        </p:nvSpPr>
        <p:spPr>
          <a:xfrm>
            <a:off x="82296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Bangun lagi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160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TPL5010 menghidupkan board pada siklus berikutnya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12064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 txBox="1"/>
          <p:nvPr/>
        </p:nvSpPr>
        <p:spPr>
          <a:xfrm>
            <a:off x="777240" y="5120640"/>
            <a:ext cx="10652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Uji baterai dilakukan tanpa sensor terpasang, jadi yang diuji adalah mekanisme daya dan siklus TPL5010. Penolakan sesi adalah perilaku fail-safe yang diharapkan; 30 dari 30 siklus mengikuti urutan yang sama.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D  ·  PENUTUP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Empat hal masuk ke pengembangan berikutnya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6811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Binding model ke profil nulling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Setelah nulling, klik Use Latest Nulling Profile agar MODE_READY menjadi OK dan inference aktif.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46811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2174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tx1"/>
                </a:solidFill>
              </a:rPr>
              <a:t>Pengujian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b="1" dirty="0" err="1">
                <a:solidFill>
                  <a:schemeClr val="tx1"/>
                </a:solidFill>
              </a:rPr>
              <a:t>Baterai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b="1" dirty="0" err="1">
                <a:solidFill>
                  <a:schemeClr val="tx1"/>
                </a:solidFill>
              </a:rPr>
              <a:t>dengan</a:t>
            </a:r>
            <a:r>
              <a:rPr lang="en-US" sz="1400" b="1" dirty="0">
                <a:solidFill>
                  <a:schemeClr val="tx1"/>
                </a:solidFill>
              </a:rPr>
              <a:t> Mode Sensor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834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Ulangi uji baterai dengan delapan sensor terpasang: sampling 10 batch dan pengiriman LoRa.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6811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1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4119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tx1"/>
                </a:solidFill>
              </a:rPr>
              <a:t>Pengecekan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b="1" dirty="0" err="1">
                <a:solidFill>
                  <a:schemeClr val="tx1"/>
                </a:solidFill>
              </a:rPr>
              <a:t>tegangan</a:t>
            </a:r>
            <a:r>
              <a:rPr lang="en-US" sz="1400" b="1" dirty="0">
                <a:solidFill>
                  <a:schemeClr val="tx1"/>
                </a:solidFill>
              </a:rPr>
              <a:t> IC </a:t>
            </a:r>
            <a:r>
              <a:rPr lang="en-US" sz="1400" b="1" dirty="0" err="1">
                <a:solidFill>
                  <a:schemeClr val="tx1"/>
                </a:solidFill>
              </a:rPr>
              <a:t>saat</a:t>
            </a:r>
            <a:r>
              <a:rPr lang="en-US" sz="1400" b="1" dirty="0">
                <a:solidFill>
                  <a:schemeClr val="tx1"/>
                </a:solidFill>
              </a:rPr>
              <a:t> mode </a:t>
            </a:r>
            <a:r>
              <a:rPr lang="en-US" sz="1400" b="1" dirty="0" err="1">
                <a:solidFill>
                  <a:schemeClr val="tx1"/>
                </a:solidFill>
              </a:rPr>
              <a:t>baterai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5029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Uji </a:t>
            </a:r>
            <a:r>
              <a:rPr lang="en-US" sz="1300" dirty="0" err="1">
                <a:solidFill>
                  <a:schemeClr val="accent5"/>
                </a:solidFill>
              </a:rPr>
              <a:t>tegangan</a:t>
            </a:r>
            <a:r>
              <a:rPr lang="en-US" sz="1300" dirty="0">
                <a:solidFill>
                  <a:schemeClr val="accent5"/>
                </a:solidFill>
              </a:rPr>
              <a:t> pada IC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46811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5"/>
          <p:cNvSpPr/>
          <p:nvPr/>
        </p:nvSpPr>
        <p:spPr>
          <a:xfrm>
            <a:off x="6400800" y="4251960"/>
            <a:ext cx="640080" cy="64008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4411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Interval wake TPL5010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5029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Terukur 18,9 detik. Periksa jumper R37 sampai R39 dan resistor R92, R35, R36 bila interval lapangan harus lebih panjang.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bagian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D  ·  PENUTUP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Mode 24V lolos semua uji; mode baterai terbukti di sisi daya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Mode 24V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Koneksi, boot IC, wiring dan kipas, serta nulling 8 dari 8 kanal berhasil.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Mode baterai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Deteksi mode dan siklus TPL5010 berjalan 30 kali. Sesi penuh menunggu sensor lengkap dan binding model.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828800"/>
          <a:ext cx="6153912" cy="4206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Uji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4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4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Mode 24V: koneksi dan deploy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FD6A0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Mode 24V: boot IC test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FD6A0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Mode 24V: wiring dan kipas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FD6A0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Mode 24V: nulling 8/8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FD6A0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Baterai: deteksi mode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FD6A0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Baterai: siklus TPL5010 (30×)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FD6A0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Baterai: urutan sesi fail-safe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FD6A0"/>
                          </a:solidFill>
                        </a:rPr>
                        <a:t>Berhasil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Binding model dan inference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Tindak lanjut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Sesi baterai penuh dengan sensor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Tindak lanjut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2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 err="1">
                <a:solidFill>
                  <a:schemeClr val="tx1"/>
                </a:solidFill>
              </a:rPr>
              <a:t>Terima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kasih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Uji Fungsional GLD V4  ·  Pertamina Gas Leak Detector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D V4 Biru">
  <a:themeElements>
    <a:clrScheme name="GLD V4 Biru">
      <a:dk1>
        <a:srgbClr val="1B2433"/>
      </a:dk1>
      <a:lt1>
        <a:srgbClr val="FFFFFF"/>
      </a:lt1>
      <a:dk2>
        <a:srgbClr val="1E2F4A"/>
      </a:dk2>
      <a:lt2>
        <a:srgbClr val="EEF3FA"/>
      </a:lt2>
      <a:accent1>
        <a:srgbClr val="2F7DE1"/>
      </a:accent1>
      <a:accent2>
        <a:srgbClr val="5BA0F0"/>
      </a:accent2>
      <a:accent3>
        <a:srgbClr val="A9CBF5"/>
      </a:accent3>
      <a:accent4>
        <a:srgbClr val="2E9B57"/>
      </a:accent4>
      <a:accent5>
        <a:srgbClr val="5B677A"/>
      </a:accent5>
      <a:accent6>
        <a:srgbClr val="C9D3E0"/>
      </a:accent6>
      <a:hlink>
        <a:srgbClr val="2F7DE1"/>
      </a:hlink>
      <a:folHlink>
        <a:srgbClr val="5B677A"/>
      </a:folHlink>
    </a:clrScheme>
    <a:fontScheme name="GLD V4 Biru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1622</Words>
  <Application>Microsoft Office PowerPoint</Application>
  <PresentationFormat>Widescreen</PresentationFormat>
  <Paragraphs>312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Montserrat</vt:lpstr>
      <vt:lpstr>GLD V4 Biru</vt:lpstr>
      <vt:lpstr>PowerPoint Presentation</vt:lpstr>
      <vt:lpstr>GLD V4: motherboard, cover, dan delapan sensor gas</vt:lpstr>
      <vt:lpstr>Alur uji: mode 24V lebih dulu, lalu mode baterai</vt:lpstr>
      <vt:lpstr>Firmware gld_atex v0.8.30 terpasang dan Operator Hub terhubung ke COM4</vt:lpstr>
      <vt:lpstr>Seluruh IC lolos boot test; MODE_READY menunggu binding model</vt:lpstr>
      <vt:lpstr>Sumber 24V terdeteksi dan kipas menyala otomatis</vt:lpstr>
      <vt:lpstr>Nulling berjalan dalam empat tahap per kanal</vt:lpstr>
      <vt:lpstr>Nulling 8 dari 8 kanal berhasil dan profil #2 tersimpan</vt:lpstr>
      <vt:lpstr>Baterai Li-ion 18650 terhubung ke terminal BAT lewat konektor JST</vt:lpstr>
      <vt:lpstr>Firmware mengenali mode baterai dan membaca tegangan 3,87 sampai 3,89 V</vt:lpstr>
      <vt:lpstr>Board bangun dan tidur otomatis 30 kali dengan interval 18,9 detik</vt:lpstr>
      <vt:lpstr>Sesi baterai menolak lanjut tanpa sensor lalu mati dengan aman</vt:lpstr>
      <vt:lpstr>Empat hal masuk ke pengembangan berikutnya</vt:lpstr>
      <vt:lpstr>Mode 24V lolos semua uji; mode baterai terbukti di sisi daya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Uji Fungsional GLD V4</dc:title>
  <dc:subject>PptxGenJS Presentation</dc:subject>
  <dc:creator>Tim GLD</dc:creator>
  <cp:lastModifiedBy>Aldi Wahyu Permana</cp:lastModifiedBy>
  <cp:revision>2</cp:revision>
  <dcterms:created xsi:type="dcterms:W3CDTF">2026-10-07T16:48:47Z</dcterms:created>
  <dcterms:modified xsi:type="dcterms:W3CDTF">2026-10-08T02:02:43Z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2026-10-08T02:02:43Z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de787b8b-0b3d-4eaf-9a38-fbfd84207c42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
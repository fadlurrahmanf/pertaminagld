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5edc33fb134258" /><Relationship Type="http://schemas.openxmlformats.org/officeDocument/2006/relationships/extended-properties" Target="/docProps/app.xml" Id="R7d9d585a361f4cc8" /><Relationship Type="http://schemas.openxmlformats.org/officeDocument/2006/relationships/officeDocument" Target="/ppt/presentation.xml" Id="Rc380639ea92b4d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ba896742064e01"/>
  </p:sldMasterIdLst>
  <p:notesMasterIdLst>
    <p:notesMasterId xmlns:r="http://schemas.openxmlformats.org/officeDocument/2006/relationships" r:id="R412dd0d598e84061"/>
  </p:notesMasterIdLst>
  <p:sldIdLst>
    <p:sldId xmlns:r="http://schemas.openxmlformats.org/officeDocument/2006/relationships" id="256" r:id="Rf99661902b9c4ed2"/>
    <p:sldId xmlns:r="http://schemas.openxmlformats.org/officeDocument/2006/relationships" id="257" r:id="Re47f102117b4432b"/>
    <p:sldId xmlns:r="http://schemas.openxmlformats.org/officeDocument/2006/relationships" id="258" r:id="Re44e74861e2c4bbf"/>
    <p:sldId xmlns:r="http://schemas.openxmlformats.org/officeDocument/2006/relationships" id="259" r:id="R0c434c361d02457e"/>
    <p:sldId xmlns:r="http://schemas.openxmlformats.org/officeDocument/2006/relationships" id="260" r:id="Rf88cdb250f004fcb"/>
    <p:sldId xmlns:r="http://schemas.openxmlformats.org/officeDocument/2006/relationships" id="261" r:id="R3eccc9b8fb0a43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c163a0f77648cd" /><Relationship Type="http://schemas.openxmlformats.org/officeDocument/2006/relationships/slideMaster" Target="/ppt/slideMasters/slideMaster1.xml" Id="R28ba896742064e01" /><Relationship Type="http://schemas.openxmlformats.org/officeDocument/2006/relationships/notesMaster" Target="/ppt/notesMasters/notesMaster1.xml" Id="R412dd0d598e84061" /><Relationship Type="http://schemas.openxmlformats.org/officeDocument/2006/relationships/presProps" Target="/ppt/presProps.xml" Id="R9149b805d7da49d2" /><Relationship Type="http://schemas.openxmlformats.org/officeDocument/2006/relationships/tableStyles" Target="/ppt/tableStyles.xml" Id="R75d433bd6bab4dc3" /><Relationship Type="http://schemas.openxmlformats.org/officeDocument/2006/relationships/slide" Target="/ppt/slides/slide1.xml" Id="Rf99661902b9c4ed2" /><Relationship Type="http://schemas.openxmlformats.org/officeDocument/2006/relationships/slide" Target="/ppt/slides/slide2.xml" Id="Re47f102117b4432b" /><Relationship Type="http://schemas.openxmlformats.org/officeDocument/2006/relationships/slide" Target="/ppt/slides/slide3.xml" Id="Re44e74861e2c4bbf" /><Relationship Type="http://schemas.openxmlformats.org/officeDocument/2006/relationships/slide" Target="/ppt/slides/slide4.xml" Id="R0c434c361d02457e" /><Relationship Type="http://schemas.openxmlformats.org/officeDocument/2006/relationships/slide" Target="/ppt/slides/slide5.xml" Id="Rf88cdb250f004fcb" /><Relationship Type="http://schemas.openxmlformats.org/officeDocument/2006/relationships/slide" Target="/ppt/slides/slide6.xml" Id="R3eccc9b8fb0a43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675332bb7a4e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4cafb946aa40bb" /><Relationship Type="http://schemas.openxmlformats.org/officeDocument/2006/relationships/notesMaster" Target="/ppt/notesMasters/notesMaster1.xml" Id="R40f58c377ae645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1ae96f713c452a" /><Relationship Type="http://schemas.openxmlformats.org/officeDocument/2006/relationships/notesMaster" Target="/ppt/notesMasters/notesMaster1.xml" Id="R21c2ec4673b74c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435e51c319403b" /><Relationship Type="http://schemas.openxmlformats.org/officeDocument/2006/relationships/notesMaster" Target="/ppt/notesMasters/notesMaster1.xml" Id="Rba379528aef24a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7f4f1a79e74b69" /><Relationship Type="http://schemas.openxmlformats.org/officeDocument/2006/relationships/notesMaster" Target="/ppt/notesMasters/notesMaster1.xml" Id="Rb61336eef70842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916632e52c47b8" /><Relationship Type="http://schemas.openxmlformats.org/officeDocument/2006/relationships/notesMaster" Target="/ppt/notesMasters/notesMaster1.xml" Id="Ra826639d3e4441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dd54fc71e74dfd" /><Relationship Type="http://schemas.openxmlformats.org/officeDocument/2006/relationships/notesMaster" Target="/ppt/notesMasters/notesMaster1.xml" Id="R8ed2a4360ee94b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Bench conversation and serial observations supplied in this task on 2026-08-27.</a:t>
            </a:r>
          </a:p>
          <a:p xmlns:a="http://schemas.openxmlformats.org/drawingml/2006/main">
            <a:r>
              <a:t>Wiring source: docs/wiring/gld-project-ver2-2026-07-01/source-GLD2.zip.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Live bench observations in user-provided transcript: root I2C, 8 MCP, PCF ON/OFF, DAC readback, manual and AUTO alarm.</a:t>
            </a:r>
          </a:p>
          <a:p xmlns:a="http://schemas.openxmlformats.org/drawingml/2006/main">
            <a:r>
              <a:t>Firmware mapping: firmware/gld/include/BoardPinsGLD2.h.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firmware/gld/include/BoardPinsGLD2.h.</a:t>
            </a:r>
          </a:p>
          <a:p xmlns:a="http://schemas.openxmlformats.org/drawingml/2006/main">
            <a:r>
              <a:t>Evidence: live sequential MCP discovery and DAC write/readback described in bench transcript.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Bench transcript dated 2026-08-27: nulling v9/v11 observations.</a:t>
            </a:r>
          </a:p>
          <a:p xmlns:a="http://schemas.openxmlformats.org/drawingml/2006/main">
            <a:r>
              <a:t>No claim of a physical sensor defect is made; the current evidence is algorithm/measurement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Live bench observations: PCF/EN ON-OFF and downstream MCP response prove firmware control chain.</a:t>
            </a:r>
          </a:p>
          <a:p xmlns:a="http://schemas.openxmlformats.org/drawingml/2006/main">
            <a:r>
              <a:t>Source: BoardPinsGLD2.h: TPL DONE GPIO17, CLR GPIO16, RS-485 pins.</a:t>
            </a:r>
          </a:p>
          <a:p xmlns:a="http://schemas.openxmlformats.org/drawingml/2006/main">
            <a:r>
              <a:t>Physical rail voltage/end-to-end proof is not available in current bench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user-requested sequencing in current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c83cc9d9cd4e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2ea8822aff473c" /><Relationship Type="http://schemas.openxmlformats.org/officeDocument/2006/relationships/slideLayout" Target="/ppt/slideLayouts/slideLayout1.xml" Id="R58341429a75747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341429a75747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fd256a8824a4f" /><Relationship Type="http://schemas.openxmlformats.org/officeDocument/2006/relationships/notesSlide" Target="/ppt/notesSlides/notesSlide1.xml" Id="R9ee99f968e824f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4d5379df04517" /><Relationship Type="http://schemas.openxmlformats.org/officeDocument/2006/relationships/notesSlide" Target="/ppt/notesSlides/notesSlide2.xml" Id="R8cc0843e67d24e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227275c1c4880" /><Relationship Type="http://schemas.openxmlformats.org/officeDocument/2006/relationships/notesSlide" Target="/ppt/notesSlides/notesSlide3.xml" Id="Rfe05c28bba1b4c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2b226387242ec" /><Relationship Type="http://schemas.openxmlformats.org/officeDocument/2006/relationships/notesSlide" Target="/ppt/notesSlides/notesSlide4.xml" Id="R0db86dbc49be41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dd5f528494cfd" /><Relationship Type="http://schemas.openxmlformats.org/officeDocument/2006/relationships/notesSlide" Target="/ppt/notesSlides/notesSlide5.xml" Id="R878bc91dada544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e4c72ed9a4208" /><Relationship Type="http://schemas.openxmlformats.org/officeDocument/2006/relationships/notesSlide" Target="/ppt/notesSlides/notesSlide6.xml" Id="R69dab12c614443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6E22F-B9CA-4CDB-A9B7-CF2A8108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43"/>
                </a:solidFill>
              </a:defRPr>
            </a:pPr>
            <a:r>
              <a:rPr sz="3600" b="1">
                <a:solidFill>
                  <a:srgbClr val="102A43"/>
                </a:solidFill>
              </a:rPr>
              <a:t>Laporan Hasil Uji Fungsional GLD2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452BD-AF32-403C-A840-AD60EFF8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777"/>
                </a:solidFill>
              </a:defRPr>
            </a:pPr>
            <a:r>
              <a:rPr sz="1800" b="0">
                <a:solidFill>
                  <a:srgbClr val="526777"/>
                </a:solidFill>
              </a:rPr>
              <a:t>Ringkasan bukti firmware, temuan nulling, dan bukti fisik yang masih diperlukan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6FAA3-73CD-4CC4-88AF-441D2C78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5F99"/>
                </a:solidFill>
              </a:defRPr>
            </a:pPr>
            <a:r>
              <a:rPr sz="1425" b="0">
                <a:solidFill>
                  <a:srgbClr val="1F5F99"/>
                </a:solidFill>
              </a:rPr>
              <a:t>Konteks bench: 27 Agustus 2026 | Board GLD2 COM3 | Bukti harus dibaca sesuai kelasnya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C4C8B-0F08-4EF8-AFAA-3B6E6FD7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721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7"/>
                </a:solidFill>
              </a:defRPr>
            </a:pPr>
            <a:r>
              <a:rPr sz="1200" b="0">
                <a:solidFill>
                  <a:srgbClr val="526777"/>
                </a:solidFill>
              </a:rPr>
              <a:t>Status ini bukan sertifikasi produk; hanya merangkum hasil uji yang sudah 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1AB6E-3997-4C90-AB75-B3AA42D8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777"/>
                </a:solidFill>
              </a:defRPr>
            </a:pPr>
            <a:r>
              <a:rPr sz="825" b="0">
                <a:solidFill>
                  <a:srgbClr val="526777"/>
                </a:solidFill>
              </a:rPr>
              <a:t>GLD2 Functional Test Report | 1</a:t>
            </a:r>
          </a:p>
        </p:txBody>
      </p:sp>
    </p:spTree>
    <p:extLst>
      <p:ext uri="{BB962C8B-B14F-4D97-AF65-F5344CB8AC3E}">
        <p14:creationId xmlns:p14="http://schemas.microsoft.com/office/powerpoint/2010/main" val="13629169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7EFC1-D43F-43E5-AB1C-CB1F402B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Yang sudah terbukti OK dari uji bench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650F4-8A09-42C2-932F-F81BE613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7"/>
                </a:solidFill>
              </a:defRPr>
            </a:pPr>
            <a:r>
              <a:rPr sz="1200" b="0">
                <a:solidFill>
                  <a:srgbClr val="526777"/>
                </a:solidFill>
              </a:rPr>
              <a:t>Bukti berikut berasal dari boot report, scan, kontrol serial, dan readback pada board GLD2.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2CCC3-CC6B-4B16-B454-69CDEDE8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99"/>
          </a:solidFill>
          <a:ln xmlns:a="http://schemas.openxmlformats.org/drawingml/2006/main" w="0">
            <a:solidFill>
              <a:srgbClr val="1F5F99"/>
            </a:solidFill>
            <a:prstDash val="solid"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90550" y="1352550"/>
          <a:ext xmlns:a="http://schemas.openxmlformats.org/drawingml/2006/main" cx="11010900" cy="4362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1524000"/>
                <a:gridCol w="6724650"/>
              </a:tblGrid>
              <a:tr h="6232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Komponen/fungsi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Bukti serial/hasil nyata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6232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I2C root: PCF, TCA, SHT40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6B45"/>
                          </a:solidFill>
                        </a:rPr>
                        <a:t>OK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0x20, 0x44, 0x71 terdeteksi; pembacaan stabil saat konfigurasi sensor diuji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32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8 MCP4725 downstream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6B45"/>
                          </a:solidFill>
                        </a:rPr>
                        <a:t>OK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8/8 MCP 0x60 terdeteksi melalui TCA dengan pasangan EN yang benar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6232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PCF ON/OFF sensor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6B45"/>
                          </a:solidFill>
                        </a:rPr>
                        <a:t>OK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Mask output dan uji OFF→ON tiap kanal berhasil; kondisi akhir semua sensor 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32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Write/readback DAC MCP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6B45"/>
                          </a:solidFill>
                        </a:rPr>
                        <a:t>OK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Kode rendah/tinggi/restore berhasil dibaca kembali di 8 kanal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6232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Alarm manual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6B45"/>
                          </a:solidFill>
                        </a:rPr>
                        <a:t>OK (jalur firmware)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EN_BOOST lalu GPIO40 ALARM dapat dikendalikan ON/OFF; kondisi akhir aman 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32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Alarm AUTO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6B45"/>
                          </a:solidFill>
                        </a:rPr>
                        <a:t>OK (uji firmware)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Logika alarm dari inference valid berhasil diuji; jalur beban fisik dicatat terpisah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03EE7-A7CB-43C3-B845-C119614D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A3B12"/>
                </a:solidFill>
              </a:defRPr>
            </a:pPr>
            <a:r>
              <a:rPr sz="1275" b="1">
                <a:solidFill>
                  <a:srgbClr val="8A3B12"/>
                </a:solidFill>
              </a:rPr>
              <a:t>Batas bukti: ACK/readback membuktikan komunikasi dan perintah firmware; tegangan rail/beban fisik perlu bukti alat ukur tersendiri.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F7659-1D85-4037-ACFE-FE7C1FD0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777"/>
                </a:solidFill>
              </a:defRPr>
            </a:pPr>
            <a:r>
              <a:rPr sz="825" b="0">
                <a:solidFill>
                  <a:srgbClr val="526777"/>
                </a:solidFill>
              </a:rPr>
              <a:t>GLD2 Functional Test Report | 2</a:t>
            </a:r>
          </a:p>
        </p:txBody>
      </p:sp>
    </p:spTree>
    <p:extLst>
      <p:ext uri="{BB962C8B-B14F-4D97-AF65-F5344CB8AC3E}">
        <p14:creationId xmlns:p14="http://schemas.microsoft.com/office/powerpoint/2010/main" val="7721864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451DF-31EE-4535-B589-397F39AA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Mapping sensor telah terbukti konsisten pada uji I2C/DAC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63003-FE55-4A69-B07D-CF1BA5F3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7"/>
                </a:solidFill>
              </a:defRPr>
            </a:pPr>
            <a:r>
              <a:rPr sz="1200" b="0">
                <a:solidFill>
                  <a:srgbClr val="526777"/>
                </a:solidFill>
              </a:rPr>
              <a:t>Header–EN–TCA–AIN berikut menjadi acuan yang dipakai saat mendeteksi dan mengendalikan delapan MCP.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D8613-049A-45E6-B148-DE7D3272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99"/>
          </a:solidFill>
          <a:ln xmlns:a="http://schemas.openxmlformats.org/drawingml/2006/main" w="0">
            <a:solidFill>
              <a:srgbClr val="1F5F99"/>
            </a:solidFill>
            <a:prstDash val="solid"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428750" y="1428750"/>
          <a:ext xmlns:a="http://schemas.openxmlformats.org/drawingml/2006/main" cx="93345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190750"/>
                <a:gridCol w="2095500"/>
                <a:gridCol w="1524000"/>
                <a:gridCol w="2095500"/>
              </a:tblGrid>
              <a:tr h="4762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Header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Sensor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PCF EN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TCA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ADS AIN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H2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MQ8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EN0 / P0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AIN0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H1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MQ135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EN6 / P6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AIN1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H3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MQ3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EN7 / P7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AIN2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H4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MQ5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EN3 / P3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AIN3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H5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MQ4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EN4 / P4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AIN4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H6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MQ7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EN5 / P5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AIN5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H7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MQ6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EN2 / P2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AIN6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H8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MQ2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EN1 / P1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AIN7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9F4B3-25E2-4FBE-AE2E-2BC8590B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1101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7"/>
                </a:solidFill>
              </a:defRPr>
            </a:pPr>
            <a:r>
              <a:rPr sz="1200" b="0">
                <a:solidFill>
                  <a:srgbClr val="526777"/>
                </a:solidFill>
              </a:rPr>
              <a:t>Catatan: semua MCP memakai alamat 0x60; firmware harus mengaktifkan EN dan memilih channel TCA pasangan sebelum akses.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2DB8D-7DAE-40E0-B9F5-DA2ABDEA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777"/>
                </a:solidFill>
              </a:defRPr>
            </a:pPr>
            <a:r>
              <a:rPr sz="825" b="0">
                <a:solidFill>
                  <a:srgbClr val="526777"/>
                </a:solidFill>
              </a:rPr>
              <a:t>GLD2 Functional Test Report | 3</a:t>
            </a:r>
          </a:p>
        </p:txBody>
      </p:sp>
    </p:spTree>
    <p:extLst>
      <p:ext uri="{BB962C8B-B14F-4D97-AF65-F5344CB8AC3E}">
        <p14:creationId xmlns:p14="http://schemas.microsoft.com/office/powerpoint/2010/main" val="17117798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3512B-2C0A-4980-B914-AAE0928A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Temuan utama: nulling belum valid sebagai profil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15987-E9C9-43C5-8640-1DA621F1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7"/>
                </a:solidFill>
              </a:defRPr>
            </a:pPr>
            <a:r>
              <a:rPr sz="1200" b="0">
                <a:solidFill>
                  <a:srgbClr val="526777"/>
                </a:solidFill>
              </a:rPr>
              <a:t>Komunikasi hardware lulus, tetapi algoritme nulling belum menghasilkan profil 8/8 yang dapat diterima.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8BFC1-3802-44F7-B019-C318626F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99"/>
          </a:solidFill>
          <a:ln xmlns:a="http://schemas.openxmlformats.org/drawingml/2006/main" w="0">
            <a:solidFill>
              <a:srgbClr val="1F5F99"/>
            </a:solidFill>
            <a:prstDash val="solid"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90550" y="1409700"/>
          <a:ext xmlns:a="http://schemas.openxmlformats.org/drawingml/2006/main" cx="110109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095500"/>
                <a:gridCol w="6343650"/>
              </a:tblGrid>
              <a:tr h="674688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Bukti/implikasi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B3A"/>
                          </a:solidFill>
                        </a:rPr>
                        <a:t>Run algoritme awal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B42318"/>
                          </a:solidFill>
                        </a:rPr>
                        <a:t>GAGAL sebagian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B3A"/>
                          </a:solidFill>
                        </a:rPr>
                        <a:t>Konfirmasi beberapa kanal tidak konsisten; hasil belum boleh dianggap profil produksi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B3A"/>
                          </a:solidFill>
                        </a:rPr>
                        <a:t>Run stabilitas global 50 µV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B42318"/>
                          </a:solidFill>
                        </a:rPr>
                        <a:t>0/8 lulus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B3A"/>
                          </a:solidFill>
                        </a:rPr>
                        <a:t>Batas global terlalu ketat; menunjukkan metode tidak boleh memakai satu batas rata untuk seluruh kanal/board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B3A"/>
                          </a:solidFill>
                        </a:rPr>
                        <a:t>Run settle adaptif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8A3B12"/>
                          </a:solidFill>
                        </a:rPr>
                        <a:t>Belum selesai/ditahan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B3A"/>
                          </a:solidFill>
                        </a:rPr>
                        <a:t>MQ8 dapat lulus; MQ3 dan MQ5 gagal exponential saat respons DAC tinggi belum stabil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B3A"/>
                          </a:solidFill>
                        </a:rPr>
                        <a:t>Ramp/nulling lengkap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B42318"/>
                          </a:solidFill>
                        </a:rPr>
                        <a:t>DIHENTIKAN aman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B3A"/>
                          </a:solidFill>
                        </a:rPr>
                        <a:t>Dihentikan saat MQ3 karena respons besar/tidak stabil; tidak ada profil parsial yang disimpan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B3A"/>
                          </a:solidFill>
                        </a:rPr>
                        <a:t>Kesimpulan saat ini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B42318"/>
                          </a:solidFill>
                        </a:rPr>
                        <a:t>BELUM VALID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B3A"/>
                          </a:solidFill>
                        </a:rPr>
                        <a:t>Belum ada bukti sensor rusak; isu utama masih metode pencarian/settling dan kriteria stabilitas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A7536-2D35-4EE6-8393-552879EC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Gate: jangan mengaktifkan/mengikat profil nulling baru untuk inference sebelum satu run menghasilkan 8/8 dengan bukti confirm yang dapat ditinjau.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EC213-037E-4B0E-B178-E9F27ABA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777"/>
                </a:solidFill>
              </a:defRPr>
            </a:pPr>
            <a:r>
              <a:rPr sz="825" b="0">
                <a:solidFill>
                  <a:srgbClr val="526777"/>
                </a:solidFill>
              </a:rPr>
              <a:t>GLD2 Functional Test Report | 4</a:t>
            </a:r>
          </a:p>
        </p:txBody>
      </p:sp>
    </p:spTree>
    <p:extLst>
      <p:ext uri="{BB962C8B-B14F-4D97-AF65-F5344CB8AC3E}">
        <p14:creationId xmlns:p14="http://schemas.microsoft.com/office/powerpoint/2010/main" val="18872152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7DC7D-28FF-4B05-9175-6C1FB5D9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Bukti fisik atau end-to-end yang masih pending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3E4D44-4A11-4B36-B6C8-7F597AFF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7"/>
                </a:solidFill>
              </a:defRPr>
            </a:pPr>
            <a:r>
              <a:rPr sz="1200" b="0">
                <a:solidFill>
                  <a:srgbClr val="526777"/>
                </a:solidFill>
              </a:rPr>
              <a:t>TPS22919 terbukti dari rantai kontrol firmware; sisanya belum memiliki bukti penerimaan yang diperlukan.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709BA-4690-4D55-931B-9214FA79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99"/>
          </a:solidFill>
          <a:ln xmlns:a="http://schemas.openxmlformats.org/drawingml/2006/main" w="0">
            <a:solidFill>
              <a:srgbClr val="1F5F99"/>
            </a:solidFill>
            <a:prstDash val="solid"/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90550" y="1409700"/>
          <a:ext xmlns:a="http://schemas.openxmlformats.org/drawingml/2006/main" cx="110109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190750"/>
                <a:gridCol w="5962650"/>
              </a:tblGrid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Komponen/fungsi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Bukti yang tersedia / masih diperlukan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TPS22919 rail sensor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6B45"/>
                          </a:solidFill>
                        </a:rPr>
                        <a:t>BERHASIL (firmware)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PCF/EN mengaktifkan jalur dan MCP cabang merespons; tegangan rail fisik belum diukur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TPL5010 DONE GPIO17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3B12"/>
                          </a:solidFill>
                        </a:rPr>
                        <a:t>Belum diuji fisik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Logic analyzer/osiloskop: pulsa keepalive pada 24 V dan baterai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Power latch CLR GPIO16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3B12"/>
                          </a:solidFill>
                        </a:rPr>
                        <a:t>Belum diuji fisik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Buktikan guard service hold/CFG dan efek latch saat uji baterai terkontrol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Siklus baterai TPL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3B12"/>
                          </a:solidFill>
                        </a:rPr>
                        <a:t>Belum diuji fisik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Sesi selesai → DONE → CLR → board OFF → wake berikutnya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Alarm beban fisik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3B12"/>
                          </a:solidFill>
                        </a:rPr>
                        <a:t>Belum diinstrumentasi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Ukur/lihat beban alarm; log GPIO bukan bukti beban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LoRa RF end-to-end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3B12"/>
                          </a:solidFill>
                        </a:rPr>
                        <a:t>Belum ada bukti lawan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Frame diterima CH/Gateway dan ACK/downlink bila dipakai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RS-485 Modbus end-to-end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3B12"/>
                          </a:solidFill>
                        </a:rPr>
                        <a:t>Belum ada bukti master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Master membaca register dengan kabel/terminasi nyata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6BDFE-BB6D-4875-B77E-941FA81F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777"/>
                </a:solidFill>
              </a:defRPr>
            </a:pPr>
            <a:r>
              <a:rPr sz="825" b="0">
                <a:solidFill>
                  <a:srgbClr val="526777"/>
                </a:solidFill>
              </a:rPr>
              <a:t>GLD2 Functional Test Report | 5</a:t>
            </a:r>
          </a:p>
        </p:txBody>
      </p:sp>
    </p:spTree>
    <p:extLst>
      <p:ext uri="{BB962C8B-B14F-4D97-AF65-F5344CB8AC3E}">
        <p14:creationId xmlns:p14="http://schemas.microsoft.com/office/powerpoint/2010/main" val="18764098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D1143-2C65-4B38-BE53-9E6E7638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Rencana uji setelah nulling diselesaikan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1A71E-2BF0-406D-A6DF-1AAF9DD6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777"/>
                </a:solidFill>
              </a:defRPr>
            </a:pPr>
            <a:r>
              <a:rPr sz="1200" b="0">
                <a:solidFill>
                  <a:srgbClr val="526777"/>
                </a:solidFill>
              </a:rPr>
              <a:t>Satu slide rencana: fokus pertama menyelesaikan gate nulling, lalu uji non-destruktif, terakhir power-cycle.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31815-E9A7-4D76-883A-DDF37A6A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99"/>
          </a:solidFill>
          <a:ln xmlns:a="http://schemas.openxmlformats.org/drawingml/2006/main" w="0">
            <a:solidFill>
              <a:srgbClr val="1F5F99"/>
            </a:solidFill>
            <a:prstDash val="solid"/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90550" y="1600200"/>
          <a:ext xmlns:a="http://schemas.openxmlformats.org/drawingml/2006/main" cx="110109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5048250"/>
                <a:gridCol w="3771900"/>
              </a:tblGrid>
              <a:tr h="6000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Tahap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Tujuan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Kriteria lanjut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3A"/>
                          </a:solidFill>
                        </a:rPr>
                        <a:t>1. Perbaikan nulling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3A"/>
                          </a:solidFill>
                        </a:rPr>
                        <a:t>Pertahankan baseline → exponential → binary → confirm; perbaiki evaluasi respons langkah DAC besar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3A"/>
                          </a:solidFill>
                        </a:rPr>
                        <a:t>Run lengkap 8/8, confirm terukur, profil tersimpan dan diterapkan ulang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3A"/>
                          </a:solidFill>
                        </a:rPr>
                        <a:t>2. Uji non-destruktif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3A"/>
                          </a:solidFill>
                        </a:rPr>
                        <a:t>Boot, I2C, PCF/TPS, TCA/MCP, ADS, SHT40, alarm, LoRa/Modbus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3A"/>
                          </a:solidFill>
                        </a:rPr>
                        <a:t>Bukti firmware dan bukti fisik yang wajib tersedia per item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3A"/>
                          </a:solidFill>
                        </a:rPr>
                        <a:t>3. Uji TPL/power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3A"/>
                          </a:solidFill>
                        </a:rPr>
                        <a:t>DONE, CLR, service hold, serta siklus baterai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3A"/>
                          </a:solidFill>
                        </a:rPr>
                        <a:t>Operator siap power cut; semua bukti osiloskop/efek catu dicatat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3A"/>
                          </a:solidFill>
                        </a:rPr>
                        <a:t>4. Rekap penerimaan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3A"/>
                          </a:solidFill>
                        </a:rPr>
                        <a:t>Tabel PASS / FAIL / BLOCKED final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3A"/>
                          </a:solidFill>
                        </a:rPr>
                        <a:t>Tidak ada klaim lulus melampaui bukti yang tersedia</a:t>
                      </a:r>
                    </a:p>
                  </a:txBody>
                  <a:tcPr marL="91440" marR="91440" marT="45720" marB="45720"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55E61-4A92-4D5E-A95B-32F645E8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777"/>
                </a:solidFill>
              </a:defRPr>
            </a:pPr>
            <a:r>
              <a:rPr sz="825" b="0">
                <a:solidFill>
                  <a:srgbClr val="526777"/>
                </a:solidFill>
              </a:rPr>
              <a:t>GLD2 Functional Test Report | 6</a:t>
            </a:r>
          </a:p>
        </p:txBody>
      </p:sp>
    </p:spTree>
    <p:extLst>
      <p:ext uri="{BB962C8B-B14F-4D97-AF65-F5344CB8AC3E}">
        <p14:creationId xmlns:p14="http://schemas.microsoft.com/office/powerpoint/2010/main" val="2009567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2026-08-27T01:59:24.0890000Z</dcterms:created>
  <dcterms:modified xsi:type="dcterms:W3CDTF">2026-08-27T01:59:24.0890000Z</dcterms:modified>
</coreProperties>
</file>
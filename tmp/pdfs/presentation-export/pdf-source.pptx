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Laporan internal terverifikasi, 18 Agustus 2026.</a:t>
            </a:r>
          </a:p>
          <a:p>
            <a:r>
              <a:t>- Foto konsep perangkat yang disediakan pengguna; bukan bukti sertifikasi atau produk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Sintesis laporan internal dan agenda keputusan rapat.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Rekaman meeting 14 Agustus 2026, transkripsi offline dan cross-check.</a:t>
            </a:r>
          </a:p>
          <a:p>
            <a:r>
              <a:t>- Catatan lapangan yang disediakan pengguna; belum ditandatangani sebagai minutes resmi.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source terkini untuk GLD, CH, Gateway, dan flow server.</a:t>
            </a:r>
          </a:p>
          <a:p>
            <a:r>
              <a:t>- Konfigurasi/source diperlakukan sebagai bukti statis, bukan bukti RF atau deployment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Laporan internal: status GLD, CH, Gateway, server, mounting, serta hazardous-area.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schematic/PCB dan perhitungan power GLD.</a:t>
            </a:r>
          </a:p>
          <a:p>
            <a:r>
              <a:t>- Littelfuse miniSMD resettable PTC datasheet: https://m.littelfuse.com/~/media/electronics/datasheets/resettable_ptcs/littelfuse_ptc_minismdc_datasheet.pdf.pdf</a:t>
            </a:r>
          </a:p>
          <a:p>
            <a:r>
              <a:t>- Nilai heater memakai envelope datasheet kandidat karena manufacturer/MPN aktual belum terbukti.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Matriks FAT power dan acceptance evidence pada laporan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schematic/PCB dan current source CH.</a:t>
            </a:r>
          </a:p>
          <a:p>
            <a:r>
              <a:t>- TI BQ25185 datasheet: https://www.ti.com/lit/ds/symlink/bq25185.pdf</a:t>
            </a:r>
          </a:p>
          <a:p>
            <a:r>
              <a:t>- Foto konsep yang disediakan pengguna; tidak membuktikan material, ingress, corrosion, atau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current source Gateway dan catatan kebutuhan IT.</a:t>
            </a:r>
          </a:p>
          <a:p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current source Gateway dan generator server.</a:t>
            </a:r>
          </a:p>
          <a:p>
            <a:r>
              <a:t>- OASIS MQTT Version 5.0: https://docs.oasis-open.org/mqtt/mqtt/v5.0/mqtt-v5.0.html</a:t>
            </a:r>
          </a:p>
          <a:p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Audit read-only Node-RED, dataset flow, generator, dan snapshot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Rekaman meeting dan laporan internal: penolakan trial dekat tangki LPG sebelum acceptance.</a:t>
            </a:r>
          </a:p>
          <a:p>
            <a:r>
              <a:t>- ATEX Directive 2014/34/EU: https://eur-lex.europa.eu/eli/dir/2014/34</a:t>
            </a:r>
          </a:p>
          <a:p>
            <a:r>
              <a:t>- IECEx Certified Equipment Scheme: https://www.iecex.com/certified-equipment-scheme/overview/</a:t>
            </a:r>
          </a:p>
          <a:p>
            <a:r>
              <a:t>- IEC 60079-10-1: https://webstore.iec.ch/en/publication/63327</a:t>
            </a:r>
          </a:p>
          <a:p>
            <a:r>
              <a:t>- IEC 60079-14: https://webstore.iec.ch/en/publication/66049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Catatan meeting dan referensi survey historis yang disediakan pengguna.</a:t>
            </a:r>
          </a:p>
          <a:p>
            <a:r>
              <a:t>- Laporan internal: mounting, antenna, cable, grounding, dan site-interface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Rekaman meeting, catatan target, dan rencana kerja berbasis tanggal pada laporan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RACI organisasi pada laporan internal; owner personal belum disahkan.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Sintesis keputusan, RFI, roadmap, dan acceptance gates pada laporan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kicker">
            <a:extLst>
              <a:ext uri="{FF2B5EF4-FFF2-40B4-BE49-F238E27FC236}">
                <a16:creationId xmlns:a16="http://schemas.microsoft.com/office/drawing/2014/main" id="{EC560E21-3DED-43A1-A001-0ACE82F2C8F9}"/>
              </a:ext>
            </a:extLst>
          </p:cNvPr>
          <p:cNvSpPr>
            <a:spLocks noGrp="1"/>
          </p:cNvSpPr>
          <p:nvPr/>
        </p:nvSpPr>
        <p:spPr>
          <a:xfrm>
            <a:off x="495300" y="400050"/>
            <a:ext cx="4572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PERTAMINA • LGU | INTERNAL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3B80C2C2-21FD-4FFD-AF97-150ABC4AC70D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5381625" cy="1809750"/>
          </a:xfrm>
          <a:prstGeom prst="rect">
            <a:avLst/>
          </a:prstGeom>
        </p:spPr>
        <p:txBody>
          <a:bodyPr wrap="square" lIns="0" tIns="0" rIns="0" bIns="0" anchor="t">
            <a:normAutofit fontScale="75397"/>
          </a:bodyPr>
          <a:lstStyle/>
          <a:p>
            <a:pPr algn="l">
              <a:defRPr sz="5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Kesiapan Sistem
dan Rencana Tindak Lanjut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F1443D44-B74F-40F9-8692-413E3033AE40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5095875" cy="1047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Ringkasan keputusan meeting, readiness teknis, safety hold, kebutuhan site, dan rencana menuju target September 2027.</a:t>
            </a:r>
          </a:p>
        </p:txBody>
      </p:sp>
      <p:sp>
        <p:nvSpPr>
          <p:cNvPr id="4" name="cover-accent">
            <a:extLst>
              <a:ext uri="{FF2B5EF4-FFF2-40B4-BE49-F238E27FC236}">
                <a16:creationId xmlns:a16="http://schemas.microsoft.com/office/drawing/2014/main" id="{CC4469E0-9083-4F49-90B3-01819DBE7135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34290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2B7FDA03-4C34-43CF-82C8-8DB293F4D6BD}"/>
              </a:ext>
            </a:extLst>
          </p:cNvPr>
          <p:cNvSpPr>
            <a:spLocks noGrp="1"/>
          </p:cNvSpPr>
          <p:nvPr/>
        </p:nvSpPr>
        <p:spPr>
          <a:xfrm>
            <a:off x="495300" y="5505450"/>
            <a:ext cx="2857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18 AGUSTUS 2026</a:t>
            </a:r>
          </a:p>
        </p:txBody>
      </p:sp>
      <p:sp>
        <p:nvSpPr>
          <p:cNvPr id="6" name="cover-image-backing">
            <a:extLst>
              <a:ext uri="{FF2B5EF4-FFF2-40B4-BE49-F238E27FC236}">
                <a16:creationId xmlns:a16="http://schemas.microsoft.com/office/drawing/2014/main" id="{C7D385CA-BEC0-494D-94D2-47B5B77C5837}"/>
              </a:ext>
            </a:extLst>
          </p:cNvPr>
          <p:cNvSpPr>
            <a:spLocks noGrp="1"/>
          </p:cNvSpPr>
          <p:nvPr/>
        </p:nvSpPr>
        <p:spPr>
          <a:xfrm>
            <a:off x="6267450" y="400050"/>
            <a:ext cx="5429250" cy="56007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cover-footer-rule">
            <a:extLst>
              <a:ext uri="{FF2B5EF4-FFF2-40B4-BE49-F238E27FC236}">
                <a16:creationId xmlns:a16="http://schemas.microsoft.com/office/drawing/2014/main" id="{BD1CF5A0-4102-4DA4-B562-E830E1C509F8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8" name="cover-footer">
            <a:extLst>
              <a:ext uri="{FF2B5EF4-FFF2-40B4-BE49-F238E27FC236}">
                <a16:creationId xmlns:a16="http://schemas.microsoft.com/office/drawing/2014/main" id="{0F51237B-5CA4-47F2-A0F7-4FF8E2D83304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EVIDENCE-BOUNDED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16607" b="16607"/>
          <a:stretch>
            <a:fillRect/>
          </a:stretch>
        </p:blipFill>
        <p:spPr>
          <a:xfrm>
            <a:off x="6267450" y="400050"/>
            <a:ext cx="54292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34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-2">
            <a:extLst>
              <a:ext uri="{FF2B5EF4-FFF2-40B4-BE49-F238E27FC236}">
                <a16:creationId xmlns:a16="http://schemas.microsoft.com/office/drawing/2014/main" id="{C467FF58-7561-47D7-9FC9-47B0B35B676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OUTLINE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EF31C73D-EEC3-41B2-AE03-C17C27CF86E5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Outline pembahasan</a:t>
            </a:r>
          </a:p>
        </p:txBody>
      </p:sp>
      <p:sp>
        <p:nvSpPr>
          <p:cNvPr id="3" name="footer-rule-2">
            <a:extLst>
              <a:ext uri="{FF2B5EF4-FFF2-40B4-BE49-F238E27FC236}">
                <a16:creationId xmlns:a16="http://schemas.microsoft.com/office/drawing/2014/main" id="{B6190B4B-5955-4059-936A-31174061E0CE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2">
            <a:extLst>
              <a:ext uri="{FF2B5EF4-FFF2-40B4-BE49-F238E27FC236}">
                <a16:creationId xmlns:a16="http://schemas.microsoft.com/office/drawing/2014/main" id="{C13A977E-5F6B-47C7-A5C9-1B9D955037B9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2">
            <a:extLst>
              <a:ext uri="{FF2B5EF4-FFF2-40B4-BE49-F238E27FC236}">
                <a16:creationId xmlns:a16="http://schemas.microsoft.com/office/drawing/2014/main" id="{2A023EB1-5156-45B9-AE55-39C218540060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outline-intro">
            <a:extLst>
              <a:ext uri="{FF2B5EF4-FFF2-40B4-BE49-F238E27FC236}">
                <a16:creationId xmlns:a16="http://schemas.microsoft.com/office/drawing/2014/main" id="{E29B3DAB-183E-4FD3-A38F-A03C22643F70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9048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Lima bagian berikut membentuk alur keputusan—bukan inventaris teknis.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95300" y="1866900"/>
          <a:ext cx="11201400" cy="3857625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Keputusan meeting dan koreksi jadwal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Arsitektur sistem dan status readiness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GLD, CH, Gateway, jaringan, dan server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Hazardous-area, mounting, dan kebutuhan site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Roadmap, ownership, dan keputusan yang diminta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30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3">
            <a:extLst>
              <a:ext uri="{FF2B5EF4-FFF2-40B4-BE49-F238E27FC236}">
                <a16:creationId xmlns:a16="http://schemas.microsoft.com/office/drawing/2014/main" id="{6A981FC2-8902-4E26-BF50-3A6A0C084C8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MEETING OUTCOME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E900DC03-F941-42E1-A28F-00A8BDB85938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rapat jelas; tanggal sertifikat belum</a:t>
            </a:r>
          </a:p>
        </p:txBody>
      </p:sp>
      <p:sp>
        <p:nvSpPr>
          <p:cNvPr id="3" name="footer-rule-3">
            <a:extLst>
              <a:ext uri="{FF2B5EF4-FFF2-40B4-BE49-F238E27FC236}">
                <a16:creationId xmlns:a16="http://schemas.microsoft.com/office/drawing/2014/main" id="{46397AE5-A569-4B23-9B69-958B11D7B13C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>
              <a:ext uri="{FF2B5EF4-FFF2-40B4-BE49-F238E27FC236}">
                <a16:creationId xmlns:a16="http://schemas.microsoft.com/office/drawing/2014/main" id="{77B320DC-0FE8-4B75-B8D1-99100AD79719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3">
            <a:extLst>
              <a:ext uri="{FF2B5EF4-FFF2-40B4-BE49-F238E27FC236}">
                <a16:creationId xmlns:a16="http://schemas.microsoft.com/office/drawing/2014/main" id="{203F7BDB-373D-4733-9C7B-DC1AE2307C20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meeting-intro">
            <a:extLst>
              <a:ext uri="{FF2B5EF4-FFF2-40B4-BE49-F238E27FC236}">
                <a16:creationId xmlns:a16="http://schemas.microsoft.com/office/drawing/2014/main" id="{C418F58B-B90B-4B7F-9060-75C3EF1DF774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5334000" cy="304800"/>
          </a:xfrm>
          <a:prstGeom prst="rect">
            <a:avLst/>
          </a:prstGeom>
        </p:spPr>
        <p:txBody>
          <a:bodyPr wrap="square" lIns="0" tIns="0" rIns="0" bIns="0" anchor="t">
            <a:normAutofit fontScale="89570"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Rekaman dan catatan lapangan mendukung empat arah utama:</a:t>
            </a:r>
          </a:p>
        </p:txBody>
      </p:sp>
      <p:sp>
        <p:nvSpPr>
          <p:cNvPr id="7" name="meeting-metric-1">
            <a:extLst>
              <a:ext uri="{FF2B5EF4-FFF2-40B4-BE49-F238E27FC236}">
                <a16:creationId xmlns:a16="http://schemas.microsoft.com/office/drawing/2014/main" id="{CC4F00E6-96C1-424E-9350-5E0D134BE3D8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333625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 2027</a:t>
            </a:r>
          </a:p>
        </p:txBody>
      </p:sp>
      <p:sp>
        <p:nvSpPr>
          <p:cNvPr id="8" name="meeting-metric-1-label">
            <a:extLst>
              <a:ext uri="{FF2B5EF4-FFF2-40B4-BE49-F238E27FC236}">
                <a16:creationId xmlns:a16="http://schemas.microsoft.com/office/drawing/2014/main" id="{CCE162E6-FA0E-4C03-883B-40C56349A28E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2333625" cy="876300"/>
          </a:xfrm>
          <a:prstGeom prst="rect">
            <a:avLst/>
          </a:prstGeom>
        </p:spPr>
        <p:txBody>
          <a:bodyPr wrap="square" lIns="0" tIns="0" rIns="0" bIns="0" anchor="t">
            <a:normAutofit fontScale="96582"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fase awal terpasang/diterima—definisi milestone perlu dikonfirmasi.</a:t>
            </a:r>
          </a:p>
        </p:txBody>
      </p:sp>
      <p:sp>
        <p:nvSpPr>
          <p:cNvPr id="9" name="meeting-metric-2">
            <a:extLst>
              <a:ext uri="{FF2B5EF4-FFF2-40B4-BE49-F238E27FC236}">
                <a16:creationId xmlns:a16="http://schemas.microsoft.com/office/drawing/2014/main" id="{B7FC4F1D-9B21-4071-A9C6-0A4D02A205F7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2667000" cy="5238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AKHIR SEP 2026</a:t>
            </a:r>
          </a:p>
        </p:txBody>
      </p:sp>
      <p:sp>
        <p:nvSpPr>
          <p:cNvPr id="10" name="meeting-metric-2-label">
            <a:extLst>
              <a:ext uri="{FF2B5EF4-FFF2-40B4-BE49-F238E27FC236}">
                <a16:creationId xmlns:a16="http://schemas.microsoft.com/office/drawing/2014/main" id="{8B4A40B2-709F-4AC5-8A1B-9C10A731ED3B}"/>
              </a:ext>
            </a:extLst>
          </p:cNvPr>
          <p:cNvSpPr>
            <a:spLocks noGrp="1"/>
          </p:cNvSpPr>
          <p:nvPr/>
        </p:nvSpPr>
        <p:spPr>
          <a:xfrm>
            <a:off x="3143250" y="2381250"/>
            <a:ext cx="2667000" cy="876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Support, tiang, kabel, material/BOM, drawing, dan kebutuhan IT harus masuk.</a:t>
            </a:r>
          </a:p>
        </p:txBody>
      </p:sp>
      <p:sp>
        <p:nvSpPr>
          <p:cNvPr id="11" name="meeting-correction">
            <a:extLst>
              <a:ext uri="{FF2B5EF4-FFF2-40B4-BE49-F238E27FC236}">
                <a16:creationId xmlns:a16="http://schemas.microsoft.com/office/drawing/2014/main" id="{DC898E73-654C-43D6-B7E3-4130CB422231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5314950" cy="1390650"/>
          </a:xfrm>
          <a:prstGeom prst="rect">
            <a:avLst/>
          </a:prstGeom>
          <a:solidFill>
            <a:srgbClr val="FBE7E5"/>
          </a:solidFill>
          <a:ln w="0">
            <a:noFill/>
            <a:prstDash val="solid"/>
          </a:ln>
        </p:spPr>
      </p:sp>
      <p:sp>
        <p:nvSpPr>
          <p:cNvPr id="12" name="meeting-correction-title">
            <a:extLst>
              <a:ext uri="{FF2B5EF4-FFF2-40B4-BE49-F238E27FC236}">
                <a16:creationId xmlns:a16="http://schemas.microsoft.com/office/drawing/2014/main" id="{7620336E-5260-4036-8B7A-489D941AB2F5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4857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“3 minggu” bukan tanggal sertifikat</a:t>
            </a:r>
          </a:p>
        </p:txBody>
      </p:sp>
      <p:sp>
        <p:nvSpPr>
          <p:cNvPr id="13" name="meeting-correction-body">
            <a:extLst>
              <a:ext uri="{FF2B5EF4-FFF2-40B4-BE49-F238E27FC236}">
                <a16:creationId xmlns:a16="http://schemas.microsoft.com/office/drawing/2014/main" id="{08C9E143-82B3-4FED-821D-877F9196128A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4857750" cy="552450"/>
          </a:xfrm>
          <a:prstGeom prst="rect">
            <a:avLst/>
          </a:prstGeom>
        </p:spPr>
        <p:txBody>
          <a:bodyPr wrap="square" lIns="0" tIns="0" rIns="0" bIns="0" anchor="t">
            <a:normAutofit fontScale="99322"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Tanggal rilis disebut belum diketahui. Angka tersebut lebih konsisten dengan perjalanan/pengajuan ke manufaktur.</a:t>
            </a:r>
          </a:p>
        </p:txBody>
      </p:sp>
      <p:sp>
        <p:nvSpPr>
          <p:cNvPr id="14" name="meeting-contract">
            <a:extLst>
              <a:ext uri="{FF2B5EF4-FFF2-40B4-BE49-F238E27FC236}">
                <a16:creationId xmlns:a16="http://schemas.microsoft.com/office/drawing/2014/main" id="{C18951EC-6CEF-4EE8-97E5-9C174D6BC5E4}"/>
              </a:ext>
            </a:extLst>
          </p:cNvPr>
          <p:cNvSpPr>
            <a:spLocks noGrp="1"/>
          </p:cNvSpPr>
          <p:nvPr/>
        </p:nvSpPr>
        <p:spPr>
          <a:xfrm>
            <a:off x="495300" y="5314950"/>
            <a:ext cx="531495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Lead time kontrak disebut sekitar 3–4 bulan; scope pendukung harus dibekukan lebih awal.</a:t>
            </a:r>
          </a:p>
        </p:txBody>
      </p:sp>
      <p:sp>
        <p:nvSpPr>
          <p:cNvPr id="15" name="meeting-image-backing">
            <a:extLst>
              <a:ext uri="{FF2B5EF4-FFF2-40B4-BE49-F238E27FC236}">
                <a16:creationId xmlns:a16="http://schemas.microsoft.com/office/drawing/2014/main" id="{52691CF5-13C2-4644-AEEE-1238AB08B43D}"/>
              </a:ext>
            </a:extLst>
          </p:cNvPr>
          <p:cNvSpPr>
            <a:spLocks noGrp="1"/>
          </p:cNvSpPr>
          <p:nvPr/>
        </p:nvSpPr>
        <p:spPr>
          <a:xfrm>
            <a:off x="6267450" y="1257300"/>
            <a:ext cx="5429250" cy="45529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meeting-image-caption">
            <a:extLst>
              <a:ext uri="{FF2B5EF4-FFF2-40B4-BE49-F238E27FC236}">
                <a16:creationId xmlns:a16="http://schemas.microsoft.com/office/drawing/2014/main" id="{86FC7A80-88A6-4FCA-995E-E0BA9208DDEE}"/>
              </a:ext>
            </a:extLst>
          </p:cNvPr>
          <p:cNvSpPr>
            <a:spLocks noGrp="1"/>
          </p:cNvSpPr>
          <p:nvPr/>
        </p:nvSpPr>
        <p:spPr>
          <a:xfrm>
            <a:off x="6267450" y="5905500"/>
            <a:ext cx="5429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Catatan kontemporer—belum merupakan minutes yang disahkan.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rcRect t="26414" b="26414"/>
          <a:stretch>
            <a:fillRect/>
          </a:stretch>
        </p:blipFill>
        <p:spPr>
          <a:xfrm>
            <a:off x="6267450" y="1257300"/>
            <a:ext cx="54292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4">
            <a:extLst>
              <a:ext uri="{FF2B5EF4-FFF2-40B4-BE49-F238E27FC236}">
                <a16:creationId xmlns:a16="http://schemas.microsoft.com/office/drawing/2014/main" id="{B7F99ED3-A826-4E5D-9A7A-86480543802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END-TO-END SYSTEM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A225A82E-9F88-44E4-90CE-9FAF990F65B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sistem jelas; bukti lapangan belum</a:t>
            </a:r>
          </a:p>
        </p:txBody>
      </p:sp>
      <p:sp>
        <p:nvSpPr>
          <p:cNvPr id="3" name="footer-rule-4">
            <a:extLst>
              <a:ext uri="{FF2B5EF4-FFF2-40B4-BE49-F238E27FC236}">
                <a16:creationId xmlns:a16="http://schemas.microsoft.com/office/drawing/2014/main" id="{371723E9-40B6-49F6-ACF8-C671DA5B8A17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>
              <a:ext uri="{FF2B5EF4-FFF2-40B4-BE49-F238E27FC236}">
                <a16:creationId xmlns:a16="http://schemas.microsoft.com/office/drawing/2014/main" id="{3FFF5864-E76B-414D-9658-9A811955CB7C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4">
            <a:extLst>
              <a:ext uri="{FF2B5EF4-FFF2-40B4-BE49-F238E27FC236}">
                <a16:creationId xmlns:a16="http://schemas.microsoft.com/office/drawing/2014/main" id="{41542AD5-BC42-497F-BC90-10D8C8F19B99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architecture-sub">
            <a:extLst>
              <a:ext uri="{FF2B5EF4-FFF2-40B4-BE49-F238E27FC236}">
                <a16:creationId xmlns:a16="http://schemas.microsoft.com/office/drawing/2014/main" id="{692F0435-6510-4B68-ADB6-2E4035D0D1D8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1201400" cy="495300"/>
          </a:xfrm>
          <a:prstGeom prst="rect">
            <a:avLst/>
          </a:prstGeom>
        </p:spPr>
        <p:txBody>
          <a:bodyPr wrap="square" lIns="0" tIns="0" rIns="0" bIns="0" anchor="t">
            <a:normAutofit fontScale="98485"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 mendukung alur data dan command; RF, broker, deployment, serta site network masih memerlukan bukti live.</a:t>
            </a:r>
          </a:p>
        </p:txBody>
      </p:sp>
      <p:sp>
        <p:nvSpPr>
          <p:cNvPr id="7" name="arrow-gld-ch">
            <a:extLst>
              <a:ext uri="{FF2B5EF4-FFF2-40B4-BE49-F238E27FC236}">
                <a16:creationId xmlns:a16="http://schemas.microsoft.com/office/drawing/2014/main" id="{59083C6C-D7FE-4D6C-A985-DD0F5210D6FE}"/>
              </a:ext>
            </a:extLst>
          </p:cNvPr>
          <p:cNvSpPr>
            <a:spLocks noGrp="1"/>
          </p:cNvSpPr>
          <p:nvPr/>
        </p:nvSpPr>
        <p:spPr>
          <a:xfrm>
            <a:off x="2647950" y="2781300"/>
            <a:ext cx="876300" cy="3238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8" name="arrow-ch-gw">
            <a:extLst>
              <a:ext uri="{FF2B5EF4-FFF2-40B4-BE49-F238E27FC236}">
                <a16:creationId xmlns:a16="http://schemas.microsoft.com/office/drawing/2014/main" id="{B904A510-A5F6-4C24-8071-8CD798035343}"/>
              </a:ext>
            </a:extLst>
          </p:cNvPr>
          <p:cNvSpPr>
            <a:spLocks noGrp="1"/>
          </p:cNvSpPr>
          <p:nvPr/>
        </p:nvSpPr>
        <p:spPr>
          <a:xfrm>
            <a:off x="5467350" y="2781300"/>
            <a:ext cx="876300" cy="3238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9" name="arrow-gw-server">
            <a:extLst>
              <a:ext uri="{FF2B5EF4-FFF2-40B4-BE49-F238E27FC236}">
                <a16:creationId xmlns:a16="http://schemas.microsoft.com/office/drawing/2014/main" id="{9B3407F5-1A16-4DB8-B213-5AF24FB27EF6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876300" cy="3238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0" name="node-gld">
            <a:extLst>
              <a:ext uri="{FF2B5EF4-FFF2-40B4-BE49-F238E27FC236}">
                <a16:creationId xmlns:a16="http://schemas.microsoft.com/office/drawing/2014/main" id="{FF8E4389-982A-4D83-8A8B-8168AD1A212C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981200" cy="1524000"/>
          </a:xfrm>
          <a:prstGeom prst="rect">
            <a:avLst/>
          </a:prstGeom>
          <a:solidFill>
            <a:srgbClr val="EAF5FB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1" name="node-ch">
            <a:extLst>
              <a:ext uri="{FF2B5EF4-FFF2-40B4-BE49-F238E27FC236}">
                <a16:creationId xmlns:a16="http://schemas.microsoft.com/office/drawing/2014/main" id="{69AA4027-F235-46C1-8252-D33B377774D2}"/>
              </a:ext>
            </a:extLst>
          </p:cNvPr>
          <p:cNvSpPr>
            <a:spLocks noGrp="1"/>
          </p:cNvSpPr>
          <p:nvPr/>
        </p:nvSpPr>
        <p:spPr>
          <a:xfrm>
            <a:off x="3486150" y="2190750"/>
            <a:ext cx="1981200" cy="1524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node-gw">
            <a:extLst>
              <a:ext uri="{FF2B5EF4-FFF2-40B4-BE49-F238E27FC236}">
                <a16:creationId xmlns:a16="http://schemas.microsoft.com/office/drawing/2014/main" id="{F4574A61-CA78-4B45-A3C2-024D75F36EA0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1981200" cy="1524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node-server">
            <a:extLst>
              <a:ext uri="{FF2B5EF4-FFF2-40B4-BE49-F238E27FC236}">
                <a16:creationId xmlns:a16="http://schemas.microsoft.com/office/drawing/2014/main" id="{10F94C5B-B3B4-4539-AEE3-4C6AA47F63AE}"/>
              </a:ext>
            </a:extLst>
          </p:cNvPr>
          <p:cNvSpPr>
            <a:spLocks noGrp="1"/>
          </p:cNvSpPr>
          <p:nvPr/>
        </p:nvSpPr>
        <p:spPr>
          <a:xfrm>
            <a:off x="9124950" y="2190750"/>
            <a:ext cx="2400300" cy="1524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node-gld-title">
            <a:extLst>
              <a:ext uri="{FF2B5EF4-FFF2-40B4-BE49-F238E27FC236}">
                <a16:creationId xmlns:a16="http://schemas.microsoft.com/office/drawing/2014/main" id="{D284D0F3-59A3-4DE1-AF86-4A5FC6D59049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</a:t>
            </a:r>
          </a:p>
        </p:txBody>
      </p:sp>
      <p:sp>
        <p:nvSpPr>
          <p:cNvPr id="15" name="node-gld-body">
            <a:extLst>
              <a:ext uri="{FF2B5EF4-FFF2-40B4-BE49-F238E27FC236}">
                <a16:creationId xmlns:a16="http://schemas.microsoft.com/office/drawing/2014/main" id="{C584A280-D306-484E-8F23-34320DE8135B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1524000" cy="552450"/>
          </a:xfrm>
          <a:prstGeom prst="rect">
            <a:avLst/>
          </a:prstGeom>
        </p:spPr>
        <p:txBody>
          <a:bodyPr wrap="square" lIns="0" tIns="0" rIns="0" bIns="0" anchor="t">
            <a:normAutofit fontScale="96582"/>
          </a:bodyPr>
          <a:lstStyle/>
          <a:p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Sensing • inferensi
STAR uplink</a:t>
            </a:r>
          </a:p>
        </p:txBody>
      </p:sp>
      <p:sp>
        <p:nvSpPr>
          <p:cNvPr id="16" name="node-ch-title">
            <a:extLst>
              <a:ext uri="{FF2B5EF4-FFF2-40B4-BE49-F238E27FC236}">
                <a16:creationId xmlns:a16="http://schemas.microsoft.com/office/drawing/2014/main" id="{5758FEC4-2060-489B-9C9D-88640F9D22D9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</a:t>
            </a:r>
          </a:p>
        </p:txBody>
      </p:sp>
      <p:sp>
        <p:nvSpPr>
          <p:cNvPr id="17" name="node-ch-body">
            <a:extLst>
              <a:ext uri="{FF2B5EF4-FFF2-40B4-BE49-F238E27FC236}">
                <a16:creationId xmlns:a16="http://schemas.microsoft.com/office/drawing/2014/main" id="{65AC8A14-D907-4953-AEC8-A848C0F0A8AB}"/>
              </a:ext>
            </a:extLst>
          </p:cNvPr>
          <p:cNvSpPr>
            <a:spLocks noGrp="1"/>
          </p:cNvSpPr>
          <p:nvPr/>
        </p:nvSpPr>
        <p:spPr>
          <a:xfrm>
            <a:off x="3714750" y="2971800"/>
            <a:ext cx="1524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receiver
MESH relay</a:t>
            </a:r>
          </a:p>
        </p:txBody>
      </p:sp>
      <p:sp>
        <p:nvSpPr>
          <p:cNvPr id="18" name="node-gw-title">
            <a:extLst>
              <a:ext uri="{FF2B5EF4-FFF2-40B4-BE49-F238E27FC236}">
                <a16:creationId xmlns:a16="http://schemas.microsoft.com/office/drawing/2014/main" id="{CE0D9F8F-77E0-42B4-A71F-50BBB9AF7AAB}"/>
              </a:ext>
            </a:extLst>
          </p:cNvPr>
          <p:cNvSpPr>
            <a:spLocks noGrp="1"/>
          </p:cNvSpPr>
          <p:nvPr/>
        </p:nvSpPr>
        <p:spPr>
          <a:xfrm>
            <a:off x="6534150" y="2476500"/>
            <a:ext cx="1524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GATEWAY</a:t>
            </a:r>
          </a:p>
        </p:txBody>
      </p:sp>
      <p:sp>
        <p:nvSpPr>
          <p:cNvPr id="19" name="node-gw-body">
            <a:extLst>
              <a:ext uri="{FF2B5EF4-FFF2-40B4-BE49-F238E27FC236}">
                <a16:creationId xmlns:a16="http://schemas.microsoft.com/office/drawing/2014/main" id="{B83353B7-E01E-468C-A4C2-F128F490E011}"/>
              </a:ext>
            </a:extLst>
          </p:cNvPr>
          <p:cNvSpPr>
            <a:spLocks noGrp="1"/>
          </p:cNvSpPr>
          <p:nvPr/>
        </p:nvSpPr>
        <p:spPr>
          <a:xfrm>
            <a:off x="6534150" y="2971800"/>
            <a:ext cx="1524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root
MQTT bridge</a:t>
            </a:r>
          </a:p>
        </p:txBody>
      </p:sp>
      <p:sp>
        <p:nvSpPr>
          <p:cNvPr id="20" name="node-server-title">
            <a:extLst>
              <a:ext uri="{FF2B5EF4-FFF2-40B4-BE49-F238E27FC236}">
                <a16:creationId xmlns:a16="http://schemas.microsoft.com/office/drawing/2014/main" id="{35836F16-5256-4B78-9B60-F7C9EFC7F1CC}"/>
              </a:ext>
            </a:extLst>
          </p:cNvPr>
          <p:cNvSpPr>
            <a:spLocks noGrp="1"/>
          </p:cNvSpPr>
          <p:nvPr/>
        </p:nvSpPr>
        <p:spPr>
          <a:xfrm>
            <a:off x="9353550" y="2476500"/>
            <a:ext cx="19431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</a:t>
            </a:r>
          </a:p>
        </p:txBody>
      </p:sp>
      <p:sp>
        <p:nvSpPr>
          <p:cNvPr id="21" name="node-server-body">
            <a:extLst>
              <a:ext uri="{FF2B5EF4-FFF2-40B4-BE49-F238E27FC236}">
                <a16:creationId xmlns:a16="http://schemas.microsoft.com/office/drawing/2014/main" id="{53F8142A-DE16-4585-910D-578E64C1DB1E}"/>
              </a:ext>
            </a:extLst>
          </p:cNvPr>
          <p:cNvSpPr>
            <a:spLocks noGrp="1"/>
          </p:cNvSpPr>
          <p:nvPr/>
        </p:nvSpPr>
        <p:spPr>
          <a:xfrm>
            <a:off x="9353550" y="2971800"/>
            <a:ext cx="19431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Broker • Node-RED
Dashboard • dataset</a:t>
            </a:r>
          </a:p>
        </p:txBody>
      </p:sp>
      <p:sp>
        <p:nvSpPr>
          <p:cNvPr id="22" name="link-star">
            <a:extLst>
              <a:ext uri="{FF2B5EF4-FFF2-40B4-BE49-F238E27FC236}">
                <a16:creationId xmlns:a16="http://schemas.microsoft.com/office/drawing/2014/main" id="{6A020C3C-D2BF-4801-86B6-E0D277180745}"/>
              </a:ext>
            </a:extLst>
          </p:cNvPr>
          <p:cNvSpPr>
            <a:spLocks noGrp="1"/>
          </p:cNvSpPr>
          <p:nvPr/>
        </p:nvSpPr>
        <p:spPr>
          <a:xfrm>
            <a:off x="2571750" y="3257550"/>
            <a:ext cx="1047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920 MHz</a:t>
            </a:r>
          </a:p>
        </p:txBody>
      </p:sp>
      <p:sp>
        <p:nvSpPr>
          <p:cNvPr id="23" name="link-mesh">
            <a:extLst>
              <a:ext uri="{FF2B5EF4-FFF2-40B4-BE49-F238E27FC236}">
                <a16:creationId xmlns:a16="http://schemas.microsoft.com/office/drawing/2014/main" id="{ED57434B-8727-453D-B03B-7C53B20E7CDF}"/>
              </a:ext>
            </a:extLst>
          </p:cNvPr>
          <p:cNvSpPr>
            <a:spLocks noGrp="1"/>
          </p:cNvSpPr>
          <p:nvPr/>
        </p:nvSpPr>
        <p:spPr>
          <a:xfrm>
            <a:off x="5391150" y="3257550"/>
            <a:ext cx="1047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921 MHz</a:t>
            </a:r>
          </a:p>
        </p:txBody>
      </p:sp>
      <p:sp>
        <p:nvSpPr>
          <p:cNvPr id="24" name="link-mqtt">
            <a:extLst>
              <a:ext uri="{FF2B5EF4-FFF2-40B4-BE49-F238E27FC236}">
                <a16:creationId xmlns:a16="http://schemas.microsoft.com/office/drawing/2014/main" id="{56974D98-0651-415B-ABF5-BF5999779B03}"/>
              </a:ext>
            </a:extLst>
          </p:cNvPr>
          <p:cNvSpPr>
            <a:spLocks noGrp="1"/>
          </p:cNvSpPr>
          <p:nvPr/>
        </p:nvSpPr>
        <p:spPr>
          <a:xfrm>
            <a:off x="8210550" y="3257550"/>
            <a:ext cx="1047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Wi-Fi / MQTT</a:t>
            </a:r>
          </a:p>
        </p:txBody>
      </p:sp>
      <p:sp>
        <p:nvSpPr>
          <p:cNvPr id="25" name="architecture-note">
            <a:extLst>
              <a:ext uri="{FF2B5EF4-FFF2-40B4-BE49-F238E27FC236}">
                <a16:creationId xmlns:a16="http://schemas.microsoft.com/office/drawing/2014/main" id="{A652674A-A2C1-4FC0-B47A-829A1CC4C0A7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858500" cy="11239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6" name="architecture-note-title">
            <a:extLst>
              <a:ext uri="{FF2B5EF4-FFF2-40B4-BE49-F238E27FC236}">
                <a16:creationId xmlns:a16="http://schemas.microsoft.com/office/drawing/2014/main" id="{956933EB-A2C9-480C-86A0-BBC4CC29EE86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2476500" cy="304800"/>
          </a:xfrm>
          <a:prstGeom prst="rect">
            <a:avLst/>
          </a:prstGeom>
        </p:spPr>
        <p:txBody>
          <a:bodyPr wrap="square" lIns="0" tIns="0" rIns="0" bIns="0" anchor="t">
            <a:normAutofit fontScale="91421"/>
          </a:bodyPr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Interpretasi yang aman</a:t>
            </a:r>
          </a:p>
        </p:txBody>
      </p:sp>
      <p:sp>
        <p:nvSpPr>
          <p:cNvPr id="27" name="architecture-note-body">
            <a:extLst>
              <a:ext uri="{FF2B5EF4-FFF2-40B4-BE49-F238E27FC236}">
                <a16:creationId xmlns:a16="http://schemas.microsoft.com/office/drawing/2014/main" id="{1C8E831E-695C-4157-A31F-85B8393CD26D}"/>
              </a:ext>
            </a:extLst>
          </p:cNvPr>
          <p:cNvSpPr>
            <a:spLocks noGrp="1"/>
          </p:cNvSpPr>
          <p:nvPr/>
        </p:nvSpPr>
        <p:spPr>
          <a:xfrm>
            <a:off x="3476625" y="4514850"/>
            <a:ext cx="7762875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Diagram ini menjelaskan boundary dan ownership aliran. Ia bukan bukti range RF, konektivitas broker, TLS, deployment revision, atau keberhasilan lapangan.</a:t>
            </a:r>
          </a:p>
        </p:txBody>
      </p:sp>
    </p:spTree>
    <p:extLst>
      <p:ext uri="{BB962C8B-B14F-4D97-AF65-F5344CB8AC3E}">
        <p14:creationId xmlns:p14="http://schemas.microsoft.com/office/powerpoint/2010/main" val="148000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-5">
            <a:extLst>
              <a:ext uri="{FF2B5EF4-FFF2-40B4-BE49-F238E27FC236}">
                <a16:creationId xmlns:a16="http://schemas.microsoft.com/office/drawing/2014/main" id="{3912E4C1-2F48-4F34-B9A7-8956548317F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READINESS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3BEC0E7D-A19E-4457-8559-D8A9569FA3E3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Source tersedia; bukti live masih terbatas</a:t>
            </a:r>
          </a:p>
        </p:txBody>
      </p:sp>
      <p:sp>
        <p:nvSpPr>
          <p:cNvPr id="3" name="footer-rule-5">
            <a:extLst>
              <a:ext uri="{FF2B5EF4-FFF2-40B4-BE49-F238E27FC236}">
                <a16:creationId xmlns:a16="http://schemas.microsoft.com/office/drawing/2014/main" id="{E07B013E-F3DC-4B59-8306-840BA9C5F638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>
              <a:ext uri="{FF2B5EF4-FFF2-40B4-BE49-F238E27FC236}">
                <a16:creationId xmlns:a16="http://schemas.microsoft.com/office/drawing/2014/main" id="{3DC86ACD-5118-4251-9D5C-3FC4D8EF9426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5">
            <a:extLst>
              <a:ext uri="{FF2B5EF4-FFF2-40B4-BE49-F238E27FC236}">
                <a16:creationId xmlns:a16="http://schemas.microsoft.com/office/drawing/2014/main" id="{447F8B1E-DF2B-4DF1-B953-C1D1C047FD60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readiness-sub">
            <a:extLst>
              <a:ext uri="{FF2B5EF4-FFF2-40B4-BE49-F238E27FC236}">
                <a16:creationId xmlns:a16="http://schemas.microsoft.com/office/drawing/2014/main" id="{67A10E36-5526-4EF0-9AC3-947E1E0AA6E5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2014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Status dibedakan agar rapat tidak mengubah source evidence menjadi klaim lapangan.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95300" y="1866900"/>
          <a:ext cx="11201400" cy="3905250"/>
        </p:xfrm>
        <a:graphic>
          <a:graphicData uri="http://schemas.openxmlformats.org/drawingml/2006/table">
            <a:tbl>
              <a:tblPr first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Terbukti dari desain/source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Masih harus dibuktikan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Power tree, 8 socket MQ, firmware/radio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MPN sensor, cold-start, thermal, F1 24 V, sensing accuracy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Dual radio, charger/power path, cadence source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Cell/panel, autonomy, enclosure, RF site test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Gateway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Wi-Fi STA, radio–MQTT bridge, queue/status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Unit MAC, onboarding IT, TLS, antenna/PSU field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Node-RED/dataset components dan generator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Flow sync, production package, backup/restore, live revision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Site / Ex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Arah meeting dan daftar hold point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 classification, certificate, permit, installation acceptance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5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6">
            <a:extLst>
              <a:ext uri="{FF2B5EF4-FFF2-40B4-BE49-F238E27FC236}">
                <a16:creationId xmlns:a16="http://schemas.microsoft.com/office/drawing/2014/main" id="{8238CEF5-30A9-4038-B2A3-D20C29E4219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POWER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CB617C25-138A-4AF3-BF40-E407BD0075F1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 memakai 24 VDC/2 A secara provisional</a:t>
            </a:r>
          </a:p>
        </p:txBody>
      </p:sp>
      <p:sp>
        <p:nvSpPr>
          <p:cNvPr id="3" name="footer-rule-6">
            <a:extLst>
              <a:ext uri="{FF2B5EF4-FFF2-40B4-BE49-F238E27FC236}">
                <a16:creationId xmlns:a16="http://schemas.microsoft.com/office/drawing/2014/main" id="{C5B950C6-F275-4F27-88FC-02B71306EFED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6">
            <a:extLst>
              <a:ext uri="{FF2B5EF4-FFF2-40B4-BE49-F238E27FC236}">
                <a16:creationId xmlns:a16="http://schemas.microsoft.com/office/drawing/2014/main" id="{2A5854CA-DD94-48CD-AFBA-8D70A6FCD3A8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6">
            <a:extLst>
              <a:ext uri="{FF2B5EF4-FFF2-40B4-BE49-F238E27FC236}">
                <a16:creationId xmlns:a16="http://schemas.microsoft.com/office/drawing/2014/main" id="{BBC08B8E-326E-4A3B-9F1E-C1861B38F0C2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power-left">
            <a:extLst>
              <a:ext uri="{FF2B5EF4-FFF2-40B4-BE49-F238E27FC236}">
                <a16:creationId xmlns:a16="http://schemas.microsoft.com/office/drawing/2014/main" id="{7C99C113-097E-4BE2-A88B-F79CBBDBC198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4000500" cy="40005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power-rating">
            <a:extLst>
              <a:ext uri="{FF2B5EF4-FFF2-40B4-BE49-F238E27FC236}">
                <a16:creationId xmlns:a16="http://schemas.microsoft.com/office/drawing/2014/main" id="{81B66CEB-ACDE-4C1C-B2AA-5453C1834C83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3429000" cy="704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24 VDC / 2 A</a:t>
            </a:r>
          </a:p>
        </p:txBody>
      </p:sp>
      <p:sp>
        <p:nvSpPr>
          <p:cNvPr id="8" name="power-rating-label">
            <a:extLst>
              <a:ext uri="{FF2B5EF4-FFF2-40B4-BE49-F238E27FC236}">
                <a16:creationId xmlns:a16="http://schemas.microsoft.com/office/drawing/2014/main" id="{4F66B820-279E-4CA4-959A-169461A032ED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3429000" cy="647700"/>
          </a:xfrm>
          <a:prstGeom prst="rect">
            <a:avLst/>
          </a:prstGeom>
        </p:spPr>
        <p:txBody>
          <a:bodyPr wrap="square" lIns="0" tIns="0" rIns="0" bIns="0" anchor="t">
            <a:normAutofit fontScale="97076"/>
          </a:bodyPr>
          <a:lstStyle/>
          <a:p>
            <a:pPr algn="ctr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Kapasitas nameplate PSU lapangan
—bukan arus kontinu GLD</a:t>
            </a:r>
          </a:p>
        </p:txBody>
      </p:sp>
      <p:sp>
        <p:nvSpPr>
          <p:cNvPr id="9" name="power-mid-rule">
            <a:extLst>
              <a:ext uri="{FF2B5EF4-FFF2-40B4-BE49-F238E27FC236}">
                <a16:creationId xmlns:a16="http://schemas.microsoft.com/office/drawing/2014/main" id="{3AB937AE-171A-4366-9AC7-8444A59B2A4F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30480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0" name="power-consumption">
            <a:extLst>
              <a:ext uri="{FF2B5EF4-FFF2-40B4-BE49-F238E27FC236}">
                <a16:creationId xmlns:a16="http://schemas.microsoft.com/office/drawing/2014/main" id="{CAEF235B-4EBB-48C0-9106-C12715C28EF5}"/>
              </a:ext>
            </a:extLst>
          </p:cNvPr>
          <p:cNvSpPr>
            <a:spLocks noGrp="1"/>
          </p:cNvSpPr>
          <p:nvPr/>
        </p:nvSpPr>
        <p:spPr>
          <a:xfrm>
            <a:off x="781050" y="3771900"/>
            <a:ext cx="34290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≈ 0,4–0,8 A</a:t>
            </a:r>
          </a:p>
        </p:txBody>
      </p:sp>
      <p:sp>
        <p:nvSpPr>
          <p:cNvPr id="11" name="power-consumption-label">
            <a:extLst>
              <a:ext uri="{FF2B5EF4-FFF2-40B4-BE49-F238E27FC236}">
                <a16:creationId xmlns:a16="http://schemas.microsoft.com/office/drawing/2014/main" id="{E98B4530-2A3A-4AB9-A486-BA924FD94D04}"/>
              </a:ext>
            </a:extLst>
          </p:cNvPr>
          <p:cNvSpPr>
            <a:spLocks noGrp="1"/>
          </p:cNvSpPr>
          <p:nvPr/>
        </p:nvSpPr>
        <p:spPr>
          <a:xfrm>
            <a:off x="971550" y="4419600"/>
            <a:ext cx="3048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Envelope worst-design setelah margin; final harus diukur.</a:t>
            </a:r>
          </a:p>
        </p:txBody>
      </p:sp>
      <p:sp>
        <p:nvSpPr>
          <p:cNvPr id="12" name="power-blocker">
            <a:extLst>
              <a:ext uri="{FF2B5EF4-FFF2-40B4-BE49-F238E27FC236}">
                <a16:creationId xmlns:a16="http://schemas.microsoft.com/office/drawing/2014/main" id="{43CF26DE-FE69-478E-BAEA-20F561817CF8}"/>
              </a:ext>
            </a:extLst>
          </p:cNvPr>
          <p:cNvSpPr>
            <a:spLocks noGrp="1"/>
          </p:cNvSpPr>
          <p:nvPr/>
        </p:nvSpPr>
        <p:spPr>
          <a:xfrm>
            <a:off x="4876800" y="1428750"/>
            <a:ext cx="6819900" cy="1428750"/>
          </a:xfrm>
          <a:prstGeom prst="rect">
            <a:avLst/>
          </a:prstGeom>
          <a:solidFill>
            <a:srgbClr val="FBE7E5"/>
          </a:solidFill>
          <a:ln w="0">
            <a:noFill/>
            <a:prstDash val="solid"/>
          </a:ln>
        </p:spPr>
      </p:sp>
      <p:sp>
        <p:nvSpPr>
          <p:cNvPr id="13" name="power-blocker-title">
            <a:extLst>
              <a:ext uri="{FF2B5EF4-FFF2-40B4-BE49-F238E27FC236}">
                <a16:creationId xmlns:a16="http://schemas.microsoft.com/office/drawing/2014/main" id="{36DEF3DE-EECA-4212-9A09-CD90D4D2880A}"/>
              </a:ext>
            </a:extLst>
          </p:cNvPr>
          <p:cNvSpPr>
            <a:spLocks noGrp="1"/>
          </p:cNvSpPr>
          <p:nvPr/>
        </p:nvSpPr>
        <p:spPr>
          <a:xfrm>
            <a:off x="5143500" y="1695450"/>
            <a:ext cx="62865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BLOCKER: proteksi 16 V berada pada jalur 24 V</a:t>
            </a:r>
          </a:p>
        </p:txBody>
      </p:sp>
      <p:sp>
        <p:nvSpPr>
          <p:cNvPr id="14" name="power-blocker-body">
            <a:extLst>
              <a:ext uri="{FF2B5EF4-FFF2-40B4-BE49-F238E27FC236}">
                <a16:creationId xmlns:a16="http://schemas.microsoft.com/office/drawing/2014/main" id="{E9351075-57E9-4AD1-9B0D-429915DE2DED}"/>
              </a:ext>
            </a:extLst>
          </p:cNvPr>
          <p:cNvSpPr>
            <a:spLocks noGrp="1"/>
          </p:cNvSpPr>
          <p:nvPr/>
        </p:nvSpPr>
        <p:spPr>
          <a:xfrm>
            <a:off x="5143500" y="2171700"/>
            <a:ext cx="62865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Komponen input bertanda 16 V harus diganti atau divalidasi dengan part berating 24 V beserta transient lapangan sebelum field acceptance.</a:t>
            </a:r>
          </a:p>
        </p:txBody>
      </p:sp>
      <p:sp>
        <p:nvSpPr>
          <p:cNvPr id="15" name="power-assumption-title">
            <a:extLst>
              <a:ext uri="{FF2B5EF4-FFF2-40B4-BE49-F238E27FC236}">
                <a16:creationId xmlns:a16="http://schemas.microsoft.com/office/drawing/2014/main" id="{99571B5B-4C19-42FD-B497-218ACD07A091}"/>
              </a:ext>
            </a:extLst>
          </p:cNvPr>
          <p:cNvSpPr>
            <a:spLocks noGrp="1"/>
          </p:cNvSpPr>
          <p:nvPr/>
        </p:nvSpPr>
        <p:spPr>
          <a:xfrm>
            <a:off x="4876800" y="3219450"/>
            <a:ext cx="3619500" cy="323850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00"/>
              <a:t>Mengapa 2 A tetap rasional</a:t>
            </a:r>
          </a:p>
        </p:txBody>
      </p:sp>
      <p:sp>
        <p:nvSpPr>
          <p:cNvPr id="16" name="power-assumptions">
            <a:extLst>
              <a:ext uri="{FF2B5EF4-FFF2-40B4-BE49-F238E27FC236}">
                <a16:creationId xmlns:a16="http://schemas.microsoft.com/office/drawing/2014/main" id="{4B8A032E-B445-4D8E-A887-864BA8E981FD}"/>
              </a:ext>
            </a:extLst>
          </p:cNvPr>
          <p:cNvSpPr>
            <a:spLocks noGrp="1"/>
          </p:cNvSpPr>
          <p:nvPr/>
        </p:nvSpPr>
        <p:spPr>
          <a:xfrm>
            <a:off x="5105400" y="3695700"/>
            <a:ext cx="3143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Cold heater / inrush
• Ambient dan thermal derating
• Cable dan connector drop
• Fan/alarm belum terukur</a:t>
            </a:r>
          </a:p>
        </p:txBody>
      </p:sp>
      <p:sp>
        <p:nvSpPr>
          <p:cNvPr id="17" name="power-1a-title">
            <a:extLst>
              <a:ext uri="{FF2B5EF4-FFF2-40B4-BE49-F238E27FC236}">
                <a16:creationId xmlns:a16="http://schemas.microsoft.com/office/drawing/2014/main" id="{4449BCAF-D5D7-4DD1-B4C0-7BC5EA9113B7}"/>
              </a:ext>
            </a:extLst>
          </p:cNvPr>
          <p:cNvSpPr>
            <a:spLocks noGrp="1"/>
          </p:cNvSpPr>
          <p:nvPr/>
        </p:nvSpPr>
        <p:spPr>
          <a:xfrm>
            <a:off x="8515350" y="3219450"/>
            <a:ext cx="2952750" cy="323850"/>
          </a:xfrm>
          <a:prstGeom prst="rect">
            <a:avLst/>
          </a:prstGeom>
        </p:spPr>
        <p:txBody>
          <a:bodyPr wrap="square" lIns="0" tIns="0" rIns="0" bIns="0" anchor="t">
            <a:normAutofit fontScale="99905"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Kapan 1 A boleh dipilih</a:t>
            </a:r>
          </a:p>
        </p:txBody>
      </p:sp>
      <p:sp>
        <p:nvSpPr>
          <p:cNvPr id="18" name="power-1a">
            <a:extLst>
              <a:ext uri="{FF2B5EF4-FFF2-40B4-BE49-F238E27FC236}">
                <a16:creationId xmlns:a16="http://schemas.microsoft.com/office/drawing/2014/main" id="{F9F809E7-D7E7-451D-9088-EAD4F9EB98AF}"/>
              </a:ext>
            </a:extLst>
          </p:cNvPr>
          <p:cNvSpPr>
            <a:spLocks noGrp="1"/>
          </p:cNvSpPr>
          <p:nvPr/>
        </p:nvSpPr>
        <p:spPr>
          <a:xfrm>
            <a:off x="8515350" y="3695700"/>
            <a:ext cx="29527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Setelah FAT membuktikan peak/steady, cable-drop, beban tambahan, dan closed-enclosure thermal tetap lulus dengan ≥20% headroom.</a:t>
            </a:r>
          </a:p>
        </p:txBody>
      </p:sp>
    </p:spTree>
    <p:extLst>
      <p:ext uri="{BB962C8B-B14F-4D97-AF65-F5344CB8AC3E}">
        <p14:creationId xmlns:p14="http://schemas.microsoft.com/office/powerpoint/2010/main" val="119264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7">
            <a:extLst>
              <a:ext uri="{FF2B5EF4-FFF2-40B4-BE49-F238E27FC236}">
                <a16:creationId xmlns:a16="http://schemas.microsoft.com/office/drawing/2014/main" id="{B73DAC2B-1C5E-41FF-8CF8-777975605EA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FAT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D53996FF-1CB2-47EA-916C-E1E804F559E7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FAT menentukan kebutuhan daya final GLD</a:t>
            </a:r>
          </a:p>
        </p:txBody>
      </p:sp>
      <p:sp>
        <p:nvSpPr>
          <p:cNvPr id="3" name="footer-rule-7">
            <a:extLst>
              <a:ext uri="{FF2B5EF4-FFF2-40B4-BE49-F238E27FC236}">
                <a16:creationId xmlns:a16="http://schemas.microsoft.com/office/drawing/2014/main" id="{21A09DC3-6294-4CA8-9999-135E0C320214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>
              <a:ext uri="{FF2B5EF4-FFF2-40B4-BE49-F238E27FC236}">
                <a16:creationId xmlns:a16="http://schemas.microsoft.com/office/drawing/2014/main" id="{B90026D7-A808-48EA-B9B4-DE7C487B6A96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7">
            <a:extLst>
              <a:ext uri="{FF2B5EF4-FFF2-40B4-BE49-F238E27FC236}">
                <a16:creationId xmlns:a16="http://schemas.microsoft.com/office/drawing/2014/main" id="{1ED379B2-CED1-4756-8D3C-6CF2363196ED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fat-track">
            <a:extLst>
              <a:ext uri="{FF2B5EF4-FFF2-40B4-BE49-F238E27FC236}">
                <a16:creationId xmlns:a16="http://schemas.microsoft.com/office/drawing/2014/main" id="{E14360A1-5A5A-47E3-BF67-FC84BCE3608E}"/>
              </a:ext>
            </a:extLst>
          </p:cNvPr>
          <p:cNvSpPr>
            <a:spLocks noGrp="1"/>
          </p:cNvSpPr>
          <p:nvPr/>
        </p:nvSpPr>
        <p:spPr>
          <a:xfrm>
            <a:off x="819150" y="5524500"/>
            <a:ext cx="10477500" cy="9525"/>
          </a:xfrm>
          <a:prstGeom prst="line">
            <a:avLst/>
          </a:prstGeom>
          <a:noFill/>
          <a:ln w="9525">
            <a:solidFill>
              <a:srgbClr val="111827"/>
            </a:solidFill>
            <a:prstDash val="solid"/>
          </a:ln>
        </p:spPr>
      </p:sp>
      <p:sp>
        <p:nvSpPr>
          <p:cNvPr id="7" name="fat-dot-1">
            <a:extLst>
              <a:ext uri="{FF2B5EF4-FFF2-40B4-BE49-F238E27FC236}">
                <a16:creationId xmlns:a16="http://schemas.microsoft.com/office/drawing/2014/main" id="{B60717FF-4482-47C9-860F-ADDB6C896173}"/>
              </a:ext>
            </a:extLst>
          </p:cNvPr>
          <p:cNvSpPr>
            <a:spLocks noGrp="1"/>
          </p:cNvSpPr>
          <p:nvPr/>
        </p:nvSpPr>
        <p:spPr>
          <a:xfrm>
            <a:off x="819150" y="546735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8" name="fat-dot-2">
            <a:extLst>
              <a:ext uri="{FF2B5EF4-FFF2-40B4-BE49-F238E27FC236}">
                <a16:creationId xmlns:a16="http://schemas.microsoft.com/office/drawing/2014/main" id="{DF2F4665-B53A-465C-B18D-CE42786F389A}"/>
              </a:ext>
            </a:extLst>
          </p:cNvPr>
          <p:cNvSpPr>
            <a:spLocks noGrp="1"/>
          </p:cNvSpPr>
          <p:nvPr/>
        </p:nvSpPr>
        <p:spPr>
          <a:xfrm>
            <a:off x="4362450" y="546735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9" name="fat-dot-3">
            <a:extLst>
              <a:ext uri="{FF2B5EF4-FFF2-40B4-BE49-F238E27FC236}">
                <a16:creationId xmlns:a16="http://schemas.microsoft.com/office/drawing/2014/main" id="{9241C689-9F97-482A-9F3A-59742D8DAD6D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10" name="fat-card-1">
            <a:extLst>
              <a:ext uri="{FF2B5EF4-FFF2-40B4-BE49-F238E27FC236}">
                <a16:creationId xmlns:a16="http://schemas.microsoft.com/office/drawing/2014/main" id="{03FA4FD0-04DB-4E2B-904D-D2059720C821}"/>
              </a:ext>
            </a:extLst>
          </p:cNvPr>
          <p:cNvSpPr>
            <a:spLocks noGrp="1"/>
          </p:cNvSpPr>
          <p:nvPr/>
        </p:nvSpPr>
        <p:spPr>
          <a:xfrm>
            <a:off x="819150" y="1466850"/>
            <a:ext cx="3143250" cy="3429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1" name="fat-card-2">
            <a:extLst>
              <a:ext uri="{FF2B5EF4-FFF2-40B4-BE49-F238E27FC236}">
                <a16:creationId xmlns:a16="http://schemas.microsoft.com/office/drawing/2014/main" id="{F3EC8566-67AE-4240-A645-03ECC92570AD}"/>
              </a:ext>
            </a:extLst>
          </p:cNvPr>
          <p:cNvSpPr>
            <a:spLocks noGrp="1"/>
          </p:cNvSpPr>
          <p:nvPr/>
        </p:nvSpPr>
        <p:spPr>
          <a:xfrm>
            <a:off x="4362450" y="1466850"/>
            <a:ext cx="3143250" cy="3429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2" name="fat-card-3">
            <a:extLst>
              <a:ext uri="{FF2B5EF4-FFF2-40B4-BE49-F238E27FC236}">
                <a16:creationId xmlns:a16="http://schemas.microsoft.com/office/drawing/2014/main" id="{E7E7D0EF-3A6D-4CB5-B7C8-3475A9D78AD1}"/>
              </a:ext>
            </a:extLst>
          </p:cNvPr>
          <p:cNvSpPr>
            <a:spLocks noGrp="1"/>
          </p:cNvSpPr>
          <p:nvPr/>
        </p:nvSpPr>
        <p:spPr>
          <a:xfrm>
            <a:off x="7905750" y="1466850"/>
            <a:ext cx="3390900" cy="3429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3" name="fat-1-title">
            <a:extLst>
              <a:ext uri="{FF2B5EF4-FFF2-40B4-BE49-F238E27FC236}">
                <a16:creationId xmlns:a16="http://schemas.microsoft.com/office/drawing/2014/main" id="{34045961-069D-4518-AD1B-0FFB2067EBB1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2571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1. IDENTIFIKASI</a:t>
            </a:r>
          </a:p>
        </p:txBody>
      </p:sp>
      <p:sp>
        <p:nvSpPr>
          <p:cNvPr id="14" name="fat-1-body">
            <a:extLst>
              <a:ext uri="{FF2B5EF4-FFF2-40B4-BE49-F238E27FC236}">
                <a16:creationId xmlns:a16="http://schemas.microsoft.com/office/drawing/2014/main" id="{9502A2F6-E4F6-4E7A-8599-1E2972C4EB17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57175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Manufacturer / MPN / lot delapan MQ
• Resistance heater saat dingin
• Fan/alarm dan power source aktual
• Cable length dan gauge desain</a:t>
            </a:r>
          </a:p>
        </p:txBody>
      </p:sp>
      <p:sp>
        <p:nvSpPr>
          <p:cNvPr id="15" name="fat-2-title">
            <a:extLst>
              <a:ext uri="{FF2B5EF4-FFF2-40B4-BE49-F238E27FC236}">
                <a16:creationId xmlns:a16="http://schemas.microsoft.com/office/drawing/2014/main" id="{AFD368E8-4ECE-45EB-B728-5401835E68FC}"/>
              </a:ext>
            </a:extLst>
          </p:cNvPr>
          <p:cNvSpPr>
            <a:spLocks noGrp="1"/>
          </p:cNvSpPr>
          <p:nvPr/>
        </p:nvSpPr>
        <p:spPr>
          <a:xfrm>
            <a:off x="4648200" y="1771650"/>
            <a:ext cx="2571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2. PENGUKURAN</a:t>
            </a:r>
          </a:p>
        </p:txBody>
      </p:sp>
      <p:sp>
        <p:nvSpPr>
          <p:cNvPr id="16" name="fat-2-body">
            <a:extLst>
              <a:ext uri="{FF2B5EF4-FFF2-40B4-BE49-F238E27FC236}">
                <a16:creationId xmlns:a16="http://schemas.microsoft.com/office/drawing/2014/main" id="{7EE61990-7256-4C1C-B348-A9906A4DF042}"/>
              </a:ext>
            </a:extLst>
          </p:cNvPr>
          <p:cNvSpPr>
            <a:spLocks noGrp="1"/>
          </p:cNvSpPr>
          <p:nvPr/>
        </p:nvSpPr>
        <p:spPr>
          <a:xfrm>
            <a:off x="4648200" y="2305050"/>
            <a:ext cx="257175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≥20 cold-start setelah OFF ≥30 menit
• Profil arus sampai 120 menit
• Log input 24 V, rail 5 V/3,3 V, heater
• Capture peak dengan instrument memadai</a:t>
            </a:r>
          </a:p>
        </p:txBody>
      </p:sp>
      <p:sp>
        <p:nvSpPr>
          <p:cNvPr id="17" name="fat-3-title">
            <a:extLst>
              <a:ext uri="{FF2B5EF4-FFF2-40B4-BE49-F238E27FC236}">
                <a16:creationId xmlns:a16="http://schemas.microsoft.com/office/drawing/2014/main" id="{FFAD8F79-2CAC-4437-8603-D572BE4C96D6}"/>
              </a:ext>
            </a:extLst>
          </p:cNvPr>
          <p:cNvSpPr>
            <a:spLocks noGrp="1"/>
          </p:cNvSpPr>
          <p:nvPr/>
        </p:nvSpPr>
        <p:spPr>
          <a:xfrm>
            <a:off x="8191500" y="1771650"/>
            <a:ext cx="2819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 STRESS &amp; ACCEPT</a:t>
            </a:r>
          </a:p>
        </p:txBody>
      </p:sp>
      <p:sp>
        <p:nvSpPr>
          <p:cNvPr id="18" name="fat-3-body">
            <a:extLst>
              <a:ext uri="{FF2B5EF4-FFF2-40B4-BE49-F238E27FC236}">
                <a16:creationId xmlns:a16="http://schemas.microsoft.com/office/drawing/2014/main" id="{47164940-CF30-4A1B-A687-EA97EA9237B1}"/>
              </a:ext>
            </a:extLst>
          </p:cNvPr>
          <p:cNvSpPr>
            <a:spLocks noGrp="1"/>
          </p:cNvSpPr>
          <p:nvPr/>
        </p:nvSpPr>
        <p:spPr>
          <a:xfrm>
            <a:off x="8191500" y="2305050"/>
            <a:ext cx="2819400" cy="2095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All-heater + LoRa + RS485 + LED
• Alarm/fan terpisah dan bersamaan
• Kabel terpanjang + closed enclosure
• Tanpa current-limit/reset; steady ≤80% rating</a:t>
            </a:r>
          </a:p>
        </p:txBody>
      </p:sp>
      <p:sp>
        <p:nvSpPr>
          <p:cNvPr id="19" name="fat-label-1">
            <a:extLst>
              <a:ext uri="{FF2B5EF4-FFF2-40B4-BE49-F238E27FC236}">
                <a16:creationId xmlns:a16="http://schemas.microsoft.com/office/drawing/2014/main" id="{688F0679-69B9-409C-9C5F-9E501E89C2A4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 TERVERIFIKASI</a:t>
            </a:r>
          </a:p>
        </p:txBody>
      </p:sp>
      <p:sp>
        <p:nvSpPr>
          <p:cNvPr id="20" name="fat-label-2">
            <a:extLst>
              <a:ext uri="{FF2B5EF4-FFF2-40B4-BE49-F238E27FC236}">
                <a16:creationId xmlns:a16="http://schemas.microsoft.com/office/drawing/2014/main" id="{504D4957-A382-4674-9942-3365C8985064}"/>
              </a:ext>
            </a:extLst>
          </p:cNvPr>
          <p:cNvSpPr>
            <a:spLocks noGrp="1"/>
          </p:cNvSpPr>
          <p:nvPr/>
        </p:nvSpPr>
        <p:spPr>
          <a:xfrm>
            <a:off x="4362450" y="5810250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WAVEFORM &amp; THERMAL</a:t>
            </a:r>
          </a:p>
        </p:txBody>
      </p:sp>
      <p:sp>
        <p:nvSpPr>
          <p:cNvPr id="21" name="fat-label-3">
            <a:extLst>
              <a:ext uri="{FF2B5EF4-FFF2-40B4-BE49-F238E27FC236}">
                <a16:creationId xmlns:a16="http://schemas.microsoft.com/office/drawing/2014/main" id="{18D06EF1-664D-47E0-B6AE-BF96E68B2CFF}"/>
              </a:ext>
            </a:extLst>
          </p:cNvPr>
          <p:cNvSpPr>
            <a:spLocks noGrp="1"/>
          </p:cNvSpPr>
          <p:nvPr/>
        </p:nvSpPr>
        <p:spPr>
          <a:xfrm>
            <a:off x="7905750" y="5810250"/>
            <a:ext cx="33909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1 A / 2 A</a:t>
            </a:r>
          </a:p>
        </p:txBody>
      </p:sp>
    </p:spTree>
    <p:extLst>
      <p:ext uri="{BB962C8B-B14F-4D97-AF65-F5344CB8AC3E}">
        <p14:creationId xmlns:p14="http://schemas.microsoft.com/office/powerpoint/2010/main" val="5876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-8">
            <a:extLst>
              <a:ext uri="{FF2B5EF4-FFF2-40B4-BE49-F238E27FC236}">
                <a16:creationId xmlns:a16="http://schemas.microsoft.com/office/drawing/2014/main" id="{B61E0129-E355-4836-87C5-827422CF942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CH READINESS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9F27CF5B-E840-4A40-A729-36605CDF10FA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CH: radio siap di source; energi belum final</a:t>
            </a:r>
          </a:p>
        </p:txBody>
      </p:sp>
      <p:sp>
        <p:nvSpPr>
          <p:cNvPr id="3" name="footer-rule-8">
            <a:extLst>
              <a:ext uri="{FF2B5EF4-FFF2-40B4-BE49-F238E27FC236}">
                <a16:creationId xmlns:a16="http://schemas.microsoft.com/office/drawing/2014/main" id="{5B8D50B2-C693-4A3B-BF37-B15120FD8EDB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>
              <a:ext uri="{FF2B5EF4-FFF2-40B4-BE49-F238E27FC236}">
                <a16:creationId xmlns:a16="http://schemas.microsoft.com/office/drawing/2014/main" id="{7947ED14-6F6A-401C-83BE-D9F862764313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8">
            <a:extLst>
              <a:ext uri="{FF2B5EF4-FFF2-40B4-BE49-F238E27FC236}">
                <a16:creationId xmlns:a16="http://schemas.microsoft.com/office/drawing/2014/main" id="{DF824C35-4151-4388-8467-2CF25E24B75A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ch-image-backing">
            <a:extLst>
              <a:ext uri="{FF2B5EF4-FFF2-40B4-BE49-F238E27FC236}">
                <a16:creationId xmlns:a16="http://schemas.microsoft.com/office/drawing/2014/main" id="{D8FAE332-2C0C-4546-9C98-EEFCE99E3845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4095750" cy="447675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ch-image-caption">
            <a:extLst>
              <a:ext uri="{FF2B5EF4-FFF2-40B4-BE49-F238E27FC236}">
                <a16:creationId xmlns:a16="http://schemas.microsoft.com/office/drawing/2014/main" id="{BCD9652C-1D35-4AE4-B2A9-8C3B7FB73B67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40957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Konsep enclosure—bukan bukti IP/IK/Ex atau dimensi final.</a:t>
            </a:r>
          </a:p>
        </p:txBody>
      </p:sp>
      <p:sp>
        <p:nvSpPr>
          <p:cNvPr id="8" name="ch-source-title">
            <a:extLst>
              <a:ext uri="{FF2B5EF4-FFF2-40B4-BE49-F238E27FC236}">
                <a16:creationId xmlns:a16="http://schemas.microsoft.com/office/drawing/2014/main" id="{6C615A56-E401-4D0B-90ED-2DE0B652431B}"/>
              </a:ext>
            </a:extLst>
          </p:cNvPr>
          <p:cNvSpPr>
            <a:spLocks noGrp="1"/>
          </p:cNvSpPr>
          <p:nvPr/>
        </p:nvSpPr>
        <p:spPr>
          <a:xfrm>
            <a:off x="5048250" y="1466850"/>
            <a:ext cx="29527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Yang sudah terdefinisi</a:t>
            </a:r>
          </a:p>
        </p:txBody>
      </p:sp>
      <p:sp>
        <p:nvSpPr>
          <p:cNvPr id="9" name="ch-source-body">
            <a:extLst>
              <a:ext uri="{FF2B5EF4-FFF2-40B4-BE49-F238E27FC236}">
                <a16:creationId xmlns:a16="http://schemas.microsoft.com/office/drawing/2014/main" id="{9DF27F62-640B-4DD0-BABF-2579A7FB3595}"/>
              </a:ext>
            </a:extLst>
          </p:cNvPr>
          <p:cNvSpPr>
            <a:spLocks noGrp="1"/>
          </p:cNvSpPr>
          <p:nvPr/>
        </p:nvSpPr>
        <p:spPr>
          <a:xfrm>
            <a:off x="5048250" y="1981200"/>
            <a:ext cx="3048000" cy="1676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Dua radio: STAR 920 MHz dan MESH 921 MHz
• Charger/power path single-cell
• Watchdog dan cadence firmware
• Default Hello production 300 s</a:t>
            </a:r>
          </a:p>
        </p:txBody>
      </p:sp>
      <p:sp>
        <p:nvSpPr>
          <p:cNvPr id="10" name="ch-gap-title">
            <a:extLst>
              <a:ext uri="{FF2B5EF4-FFF2-40B4-BE49-F238E27FC236}">
                <a16:creationId xmlns:a16="http://schemas.microsoft.com/office/drawing/2014/main" id="{A0B83BCD-FA63-4C22-8CA9-6B4DB8D17F84}"/>
              </a:ext>
            </a:extLst>
          </p:cNvPr>
          <p:cNvSpPr>
            <a:spLocks noGrp="1"/>
          </p:cNvSpPr>
          <p:nvPr/>
        </p:nvSpPr>
        <p:spPr>
          <a:xfrm>
            <a:off x="8382000" y="1466850"/>
            <a:ext cx="3048000" cy="323850"/>
          </a:xfrm>
          <a:prstGeom prst="rect">
            <a:avLst/>
          </a:prstGeom>
        </p:spPr>
        <p:txBody>
          <a:bodyPr wrap="square" lIns="0" tIns="0" rIns="0" bIns="0" anchor="t">
            <a:normAutofit fontScale="82920"/>
          </a:bodyPr>
          <a:lstStyle/>
          <a:p>
            <a:pPr algn="l">
              <a:defRPr sz="210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Yang belum boleh dibekukan</a:t>
            </a:r>
          </a:p>
        </p:txBody>
      </p:sp>
      <p:sp>
        <p:nvSpPr>
          <p:cNvPr id="11" name="ch-gap-body">
            <a:extLst>
              <a:ext uri="{FF2B5EF4-FFF2-40B4-BE49-F238E27FC236}">
                <a16:creationId xmlns:a16="http://schemas.microsoft.com/office/drawing/2014/main" id="{1E9CEDBA-BC8E-48FE-85F5-E765905D5B10}"/>
              </a:ext>
            </a:extLst>
          </p:cNvPr>
          <p:cNvSpPr>
            <a:spLocks noGrp="1"/>
          </p:cNvSpPr>
          <p:nvPr/>
        </p:nvSpPr>
        <p:spPr>
          <a:xfrm>
            <a:off x="8382000" y="1981200"/>
            <a:ext cx="3048000" cy="1809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Cell/pack dan panel aktual
• Autonomy, recharge, night/bad-weather budget
• Thermal, corrosion, enclosure qualification
• Dua feedthrough/antenna route dan RF site proof</a:t>
            </a:r>
          </a:p>
        </p:txBody>
      </p:sp>
      <p:sp>
        <p:nvSpPr>
          <p:cNvPr id="12" name="ch-note">
            <a:extLst>
              <a:ext uri="{FF2B5EF4-FFF2-40B4-BE49-F238E27FC236}">
                <a16:creationId xmlns:a16="http://schemas.microsoft.com/office/drawing/2014/main" id="{0342CCEC-A59B-4B39-AA75-63F32CC7A5B7}"/>
              </a:ext>
            </a:extLst>
          </p:cNvPr>
          <p:cNvSpPr>
            <a:spLocks noGrp="1"/>
          </p:cNvSpPr>
          <p:nvPr/>
        </p:nvSpPr>
        <p:spPr>
          <a:xfrm>
            <a:off x="5048250" y="4171950"/>
            <a:ext cx="6381750" cy="1352550"/>
          </a:xfrm>
          <a:prstGeom prst="rect">
            <a:avLst/>
          </a:prstGeom>
          <a:solidFill>
            <a:srgbClr val="FFF2CC"/>
          </a:solidFill>
          <a:ln w="0">
            <a:noFill/>
            <a:prstDash val="solid"/>
          </a:ln>
        </p:spPr>
      </p:sp>
      <p:sp>
        <p:nvSpPr>
          <p:cNvPr id="13" name="ch-note-title">
            <a:extLst>
              <a:ext uri="{FF2B5EF4-FFF2-40B4-BE49-F238E27FC236}">
                <a16:creationId xmlns:a16="http://schemas.microsoft.com/office/drawing/2014/main" id="{A414EE1B-E7EC-409A-A04F-89D8C168F976}"/>
              </a:ext>
            </a:extLst>
          </p:cNvPr>
          <p:cNvSpPr>
            <a:spLocks noGrp="1"/>
          </p:cNvSpPr>
          <p:nvPr/>
        </p:nvSpPr>
        <p:spPr>
          <a:xfrm>
            <a:off x="5314950" y="4419600"/>
            <a:ext cx="17145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Catatan daya</a:t>
            </a:r>
          </a:p>
        </p:txBody>
      </p:sp>
      <p:sp>
        <p:nvSpPr>
          <p:cNvPr id="14" name="ch-note-body">
            <a:extLst>
              <a:ext uri="{FF2B5EF4-FFF2-40B4-BE49-F238E27FC236}">
                <a16:creationId xmlns:a16="http://schemas.microsoft.com/office/drawing/2014/main" id="{0586FD36-7349-40B4-AF13-4F7A4ABFD639}"/>
              </a:ext>
            </a:extLst>
          </p:cNvPr>
          <p:cNvSpPr>
            <a:spLocks noGrp="1"/>
          </p:cNvSpPr>
          <p:nvPr/>
        </p:nvSpPr>
        <p:spPr>
          <a:xfrm>
            <a:off x="7124700" y="4381500"/>
            <a:ext cx="4000500" cy="628650"/>
          </a:xfrm>
          <a:prstGeom prst="rect">
            <a:avLst/>
          </a:prstGeom>
        </p:spPr>
        <p:txBody>
          <a:bodyPr wrap="square" lIns="0" tIns="0" rIns="0" bIns="0" anchor="t">
            <a:normAutofit fontScale="87302"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Charger bukan MPPT. Interval 30 s + jitter adalah profil uji sementara, bukan kemampuan autonomy production.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4315" y="1428750"/>
            <a:ext cx="2817719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9">
            <a:extLst>
              <a:ext uri="{FF2B5EF4-FFF2-40B4-BE49-F238E27FC236}">
                <a16:creationId xmlns:a16="http://schemas.microsoft.com/office/drawing/2014/main" id="{CFD91B40-3B82-4F07-A869-5A2B1CB41B2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&amp; INTRANET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79DAAD2C-DB5C-4954-94AD-DE28808165D6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Onboarding IT butuh data unit aktual</a:t>
            </a:r>
          </a:p>
        </p:txBody>
      </p:sp>
      <p:sp>
        <p:nvSpPr>
          <p:cNvPr id="3" name="footer-rule-9">
            <a:extLst>
              <a:ext uri="{FF2B5EF4-FFF2-40B4-BE49-F238E27FC236}">
                <a16:creationId xmlns:a16="http://schemas.microsoft.com/office/drawing/2014/main" id="{5ED47AE5-F160-48B8-AC75-E9584D77622E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9">
            <a:extLst>
              <a:ext uri="{FF2B5EF4-FFF2-40B4-BE49-F238E27FC236}">
                <a16:creationId xmlns:a16="http://schemas.microsoft.com/office/drawing/2014/main" id="{6C232E07-4357-4C4D-B9E8-C947BA5A386E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9">
            <a:extLst>
              <a:ext uri="{FF2B5EF4-FFF2-40B4-BE49-F238E27FC236}">
                <a16:creationId xmlns:a16="http://schemas.microsoft.com/office/drawing/2014/main" id="{8320F8FD-9D61-405F-A348-67E2F793A114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gw-intro">
            <a:extLst>
              <a:ext uri="{FF2B5EF4-FFF2-40B4-BE49-F238E27FC236}">
                <a16:creationId xmlns:a16="http://schemas.microsoft.com/office/drawing/2014/main" id="{E5AA778E-A426-484D-AD11-0CC17D6BDB14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12014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memulai koneksi outbound. Tidak harus satu SSID/subnet dengan server selama routed reachability disetujui.</a:t>
            </a:r>
          </a:p>
        </p:txBody>
      </p:sp>
      <p:sp>
        <p:nvSpPr>
          <p:cNvPr id="7" name="gw-physical">
            <a:extLst>
              <a:ext uri="{FF2B5EF4-FFF2-40B4-BE49-F238E27FC236}">
                <a16:creationId xmlns:a16="http://schemas.microsoft.com/office/drawing/2014/main" id="{0DE65C2D-7FFC-447D-AC18-AB2F22A6D892}"/>
              </a:ext>
            </a:extLst>
          </p:cNvPr>
          <p:cNvSpPr>
            <a:spLocks noGrp="1"/>
          </p:cNvSpPr>
          <p:nvPr/>
        </p:nvSpPr>
        <p:spPr>
          <a:xfrm>
            <a:off x="495300" y="2057400"/>
            <a:ext cx="5143500" cy="33337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8" name="gw-physical-title">
            <a:extLst>
              <a:ext uri="{FF2B5EF4-FFF2-40B4-BE49-F238E27FC236}">
                <a16:creationId xmlns:a16="http://schemas.microsoft.com/office/drawing/2014/main" id="{18B82D68-71C2-4AED-9295-750DF4056184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4572000" cy="323850"/>
          </a:xfrm>
          <a:prstGeom prst="rect">
            <a:avLst/>
          </a:prstGeom>
        </p:spPr>
        <p:txBody>
          <a:bodyPr wrap="square" lIns="0" tIns="0" rIns="0" bIns="0" anchor="t">
            <a:normAutofit fontScale="97701"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Penempatan &amp; perangkat</a:t>
            </a:r>
          </a:p>
        </p:txBody>
      </p:sp>
      <p:sp>
        <p:nvSpPr>
          <p:cNvPr id="9" name="gw-physical-body">
            <a:extLst>
              <a:ext uri="{FF2B5EF4-FFF2-40B4-BE49-F238E27FC236}">
                <a16:creationId xmlns:a16="http://schemas.microsoft.com/office/drawing/2014/main" id="{9A09C8B5-67B9-4B75-AF29-F224FB6F63E9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4572000" cy="190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Indoor / safe area yang tertulis
• Antena menuju rooftop
• PSU 5 V industrial dan grounding TBD
• Current source: Wi-Fi STA
• Ethernet dan WPA-Enterprise belum terbukti</a:t>
            </a:r>
          </a:p>
        </p:txBody>
      </p:sp>
      <p:sp>
        <p:nvSpPr>
          <p:cNvPr id="10" name="gw-ticket">
            <a:extLst>
              <a:ext uri="{FF2B5EF4-FFF2-40B4-BE49-F238E27FC236}">
                <a16:creationId xmlns:a16="http://schemas.microsoft.com/office/drawing/2014/main" id="{60A4FF52-0824-4A90-89C3-D2DCCBD4D0A2}"/>
              </a:ext>
            </a:extLst>
          </p:cNvPr>
          <p:cNvSpPr>
            <a:spLocks noGrp="1"/>
          </p:cNvSpPr>
          <p:nvPr/>
        </p:nvSpPr>
        <p:spPr>
          <a:xfrm>
            <a:off x="6057900" y="2057400"/>
            <a:ext cx="5638800" cy="3333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gw-ticket-title">
            <a:extLst>
              <a:ext uri="{FF2B5EF4-FFF2-40B4-BE49-F238E27FC236}">
                <a16:creationId xmlns:a16="http://schemas.microsoft.com/office/drawing/2014/main" id="{C9D9BD1F-6036-439D-9785-EB3E8C0734FE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5067300" cy="323850"/>
          </a:xfrm>
          <a:prstGeom prst="rect">
            <a:avLst/>
          </a:prstGeom>
        </p:spPr>
        <p:txBody>
          <a:bodyPr wrap="square" lIns="0" tIns="0" rIns="0" bIns="0" anchor="t">
            <a:normAutofit fontScale="97701"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 wajib pada tiket IT</a:t>
            </a:r>
          </a:p>
        </p:txBody>
      </p:sp>
      <p:sp>
        <p:nvSpPr>
          <p:cNvPr id="12" name="gw-ticket-body">
            <a:extLst>
              <a:ext uri="{FF2B5EF4-FFF2-40B4-BE49-F238E27FC236}">
                <a16:creationId xmlns:a16="http://schemas.microsoft.com/office/drawing/2014/main" id="{132CD171-3D99-4FED-92E9-024E2C8C5B42}"/>
              </a:ext>
            </a:extLst>
          </p:cNvPr>
          <p:cNvSpPr>
            <a:spLocks noGrp="1"/>
          </p:cNvSpPr>
          <p:nvPr/>
        </p:nvSpPr>
        <p:spPr>
          <a:xfrm>
            <a:off x="6343650" y="2952750"/>
            <a:ext cx="5067300" cy="2076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Wi-Fi STA MAC unit aktual
2  Broker/server FQDN atau IP
3  Destination TCP port final
4  SSID, VLAN, DHCP/NAC, DNS, NTP
5  TLS/identity/topic ACL dan owner</a:t>
            </a:r>
          </a:p>
        </p:txBody>
      </p:sp>
      <p:sp>
        <p:nvSpPr>
          <p:cNvPr id="13" name="gw-footnote">
            <a:extLst>
              <a:ext uri="{FF2B5EF4-FFF2-40B4-BE49-F238E27FC236}">
                <a16:creationId xmlns:a16="http://schemas.microsoft.com/office/drawing/2014/main" id="{D3EF822D-981D-473D-82F9-560F302A0CBD}"/>
              </a:ext>
            </a:extLst>
          </p:cNvPr>
          <p:cNvSpPr>
            <a:spLocks noGrp="1"/>
          </p:cNvSpPr>
          <p:nvPr/>
        </p:nvSpPr>
        <p:spPr>
          <a:xfrm>
            <a:off x="495300" y="5657850"/>
            <a:ext cx="112014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Port 1884 dan placeholder host saat ini adalah bench/configuration evidence—bukan nilai production yang disetujui IT.</a:t>
            </a:r>
          </a:p>
        </p:txBody>
      </p:sp>
    </p:spTree>
    <p:extLst>
      <p:ext uri="{BB962C8B-B14F-4D97-AF65-F5344CB8AC3E}">
        <p14:creationId xmlns:p14="http://schemas.microsoft.com/office/powerpoint/2010/main" val="123525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10">
            <a:extLst>
              <a:ext uri="{FF2B5EF4-FFF2-40B4-BE49-F238E27FC236}">
                <a16:creationId xmlns:a16="http://schemas.microsoft.com/office/drawing/2014/main" id="{948564C7-CE46-4C09-884F-783A09A3E46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NETWORK SECURITY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53C91F2A-D6B9-4995-BF45-2D371F8C81FB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end-to-end belum siap</a:t>
            </a:r>
          </a:p>
        </p:txBody>
      </p:sp>
      <p:sp>
        <p:nvSpPr>
          <p:cNvPr id="3" name="footer-rule-10">
            <a:extLst>
              <a:ext uri="{FF2B5EF4-FFF2-40B4-BE49-F238E27FC236}">
                <a16:creationId xmlns:a16="http://schemas.microsoft.com/office/drawing/2014/main" id="{E416E850-3AF0-45C2-9406-1A4E62F41D49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0">
            <a:extLst>
              <a:ext uri="{FF2B5EF4-FFF2-40B4-BE49-F238E27FC236}">
                <a16:creationId xmlns:a16="http://schemas.microsoft.com/office/drawing/2014/main" id="{1453C9A7-AE98-48EA-AF03-71A8949A11A1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0">
            <a:extLst>
              <a:ext uri="{FF2B5EF4-FFF2-40B4-BE49-F238E27FC236}">
                <a16:creationId xmlns:a16="http://schemas.microsoft.com/office/drawing/2014/main" id="{4957DEC9-75EF-4DCA-B6CC-DA0B02CE68E6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ls-intro">
            <a:extLst>
              <a:ext uri="{FF2B5EF4-FFF2-40B4-BE49-F238E27FC236}">
                <a16:creationId xmlns:a16="http://schemas.microsoft.com/office/drawing/2014/main" id="{B55528F2-C206-4A8F-A547-4041F5322FD4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2014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Current source dan policy generator belum konsisten untuk broker non-loopback.</a:t>
            </a:r>
          </a:p>
        </p:txBody>
      </p:sp>
      <p:sp>
        <p:nvSpPr>
          <p:cNvPr id="7" name="tls-current">
            <a:extLst>
              <a:ext uri="{FF2B5EF4-FFF2-40B4-BE49-F238E27FC236}">
                <a16:creationId xmlns:a16="http://schemas.microsoft.com/office/drawing/2014/main" id="{A804665D-C7A7-4621-AD5E-715559524162}"/>
              </a:ext>
            </a:extLst>
          </p:cNvPr>
          <p:cNvSpPr>
            <a:spLocks noGrp="1"/>
          </p:cNvSpPr>
          <p:nvPr/>
        </p:nvSpPr>
        <p:spPr>
          <a:xfrm>
            <a:off x="495300" y="1962150"/>
            <a:ext cx="4953000" cy="2857500"/>
          </a:xfrm>
          <a:prstGeom prst="rect">
            <a:avLst/>
          </a:prstGeom>
          <a:solidFill>
            <a:srgbClr val="FBE7E5"/>
          </a:solidFill>
          <a:ln w="0">
            <a:noFill/>
            <a:prstDash val="solid"/>
          </a:ln>
        </p:spPr>
      </p:sp>
      <p:sp>
        <p:nvSpPr>
          <p:cNvPr id="8" name="tls-current-label">
            <a:extLst>
              <a:ext uri="{FF2B5EF4-FFF2-40B4-BE49-F238E27FC236}">
                <a16:creationId xmlns:a16="http://schemas.microsoft.com/office/drawing/2014/main" id="{B42338B3-9D54-472B-9602-E4DE1AEA8466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438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CURRENT SOURCE</a:t>
            </a:r>
          </a:p>
        </p:txBody>
      </p:sp>
      <p:sp>
        <p:nvSpPr>
          <p:cNvPr id="9" name="tls-current-title">
            <a:extLst>
              <a:ext uri="{FF2B5EF4-FFF2-40B4-BE49-F238E27FC236}">
                <a16:creationId xmlns:a16="http://schemas.microsoft.com/office/drawing/2014/main" id="{77EC947F-5F4E-4F33-B525-87260B84906B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438150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MQTT plaintext</a:t>
            </a:r>
          </a:p>
        </p:txBody>
      </p:sp>
      <p:sp>
        <p:nvSpPr>
          <p:cNvPr id="10" name="tls-current-body">
            <a:extLst>
              <a:ext uri="{FF2B5EF4-FFF2-40B4-BE49-F238E27FC236}">
                <a16:creationId xmlns:a16="http://schemas.microsoft.com/office/drawing/2014/main" id="{406E3A38-655D-4601-BFD7-E122BA3D2C56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4381500" cy="1219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WiFiClient tanpa TLS
• Queue RAM 8 × 1024 B, volatile
• Bench endpoint/port belum production
• TCP reachability belum membuktikan MQTT</a:t>
            </a:r>
          </a:p>
        </p:txBody>
      </p:sp>
      <p:sp>
        <p:nvSpPr>
          <p:cNvPr id="11" name="tls-arrow">
            <a:extLst>
              <a:ext uri="{FF2B5EF4-FFF2-40B4-BE49-F238E27FC236}">
                <a16:creationId xmlns:a16="http://schemas.microsoft.com/office/drawing/2014/main" id="{60E821A9-C85A-4333-8564-BC3C3353B657}"/>
              </a:ext>
            </a:extLst>
          </p:cNvPr>
          <p:cNvSpPr>
            <a:spLocks noGrp="1"/>
          </p:cNvSpPr>
          <p:nvPr/>
        </p:nvSpPr>
        <p:spPr>
          <a:xfrm>
            <a:off x="5619750" y="3086100"/>
            <a:ext cx="952500" cy="4381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2" name="tls-required">
            <a:extLst>
              <a:ext uri="{FF2B5EF4-FFF2-40B4-BE49-F238E27FC236}">
                <a16:creationId xmlns:a16="http://schemas.microsoft.com/office/drawing/2014/main" id="{B353BE1F-15B3-456F-8AE3-8D78B92C5DB9}"/>
              </a:ext>
            </a:extLst>
          </p:cNvPr>
          <p:cNvSpPr>
            <a:spLocks noGrp="1"/>
          </p:cNvSpPr>
          <p:nvPr/>
        </p:nvSpPr>
        <p:spPr>
          <a:xfrm>
            <a:off x="6743700" y="1962150"/>
            <a:ext cx="4953000" cy="2857500"/>
          </a:xfrm>
          <a:prstGeom prst="rect">
            <a:avLst/>
          </a:prstGeom>
          <a:solidFill>
            <a:srgbClr val="E8F3E8"/>
          </a:solidFill>
          <a:ln w="0">
            <a:noFill/>
            <a:prstDash val="solid"/>
          </a:ln>
        </p:spPr>
      </p:sp>
      <p:sp>
        <p:nvSpPr>
          <p:cNvPr id="13" name="tls-required-label">
            <a:extLst>
              <a:ext uri="{FF2B5EF4-FFF2-40B4-BE49-F238E27FC236}">
                <a16:creationId xmlns:a16="http://schemas.microsoft.com/office/drawing/2014/main" id="{8B5757D0-5369-4168-B73A-99445E1EE92F}"/>
              </a:ext>
            </a:extLst>
          </p:cNvPr>
          <p:cNvSpPr>
            <a:spLocks noGrp="1"/>
          </p:cNvSpPr>
          <p:nvPr/>
        </p:nvSpPr>
        <p:spPr>
          <a:xfrm>
            <a:off x="7029450" y="2247900"/>
            <a:ext cx="4381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B7D4E"/>
                </a:solidFill>
                <a:latin typeface="Arial"/>
                <a:ea typeface="Arial"/>
                <a:cs typeface="Arial"/>
              </a:defRPr>
            </a:pPr>
            <a:r>
              <a:t>PRODUCTION DIRECTION</a:t>
            </a:r>
          </a:p>
        </p:txBody>
      </p:sp>
      <p:sp>
        <p:nvSpPr>
          <p:cNvPr id="14" name="tls-required-title">
            <a:extLst>
              <a:ext uri="{FF2B5EF4-FFF2-40B4-BE49-F238E27FC236}">
                <a16:creationId xmlns:a16="http://schemas.microsoft.com/office/drawing/2014/main" id="{C25F9CBB-B381-4739-BF5C-41A4D70CC4D5}"/>
              </a:ext>
            </a:extLst>
          </p:cNvPr>
          <p:cNvSpPr>
            <a:spLocks noGrp="1"/>
          </p:cNvSpPr>
          <p:nvPr/>
        </p:nvSpPr>
        <p:spPr>
          <a:xfrm>
            <a:off x="7029450" y="2686050"/>
            <a:ext cx="4381500" cy="476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+ identity + ACL</a:t>
            </a:r>
          </a:p>
        </p:txBody>
      </p:sp>
      <p:sp>
        <p:nvSpPr>
          <p:cNvPr id="15" name="tls-required-body">
            <a:extLst>
              <a:ext uri="{FF2B5EF4-FFF2-40B4-BE49-F238E27FC236}">
                <a16:creationId xmlns:a16="http://schemas.microsoft.com/office/drawing/2014/main" id="{7974C5BA-3B8E-41AE-B599-6E633A820B41}"/>
              </a:ext>
            </a:extLst>
          </p:cNvPr>
          <p:cNvSpPr>
            <a:spLocks noGrp="1"/>
          </p:cNvSpPr>
          <p:nvPr/>
        </p:nvSpPr>
        <p:spPr>
          <a:xfrm>
            <a:off x="7029450" y="3352800"/>
            <a:ext cx="4381500" cy="1219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Trust/certificate lifecycle
• Per-device identity dan topic ACL
• Broker logs / CONNACK success
• Negative, reconnect, restart, dan expiry tests</a:t>
            </a:r>
          </a:p>
        </p:txBody>
      </p:sp>
      <p:sp>
        <p:nvSpPr>
          <p:cNvPr id="16" name="tls-note">
            <a:extLst>
              <a:ext uri="{FF2B5EF4-FFF2-40B4-BE49-F238E27FC236}">
                <a16:creationId xmlns:a16="http://schemas.microsoft.com/office/drawing/2014/main" id="{D5BF3E8D-891F-4AC5-819F-3E609A3E59C0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1201400" cy="7239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7" name="tls-note-text">
            <a:extLst>
              <a:ext uri="{FF2B5EF4-FFF2-40B4-BE49-F238E27FC236}">
                <a16:creationId xmlns:a16="http://schemas.microsoft.com/office/drawing/2014/main" id="{06FBB0CE-75AF-4659-97FC-F15A70EFDC28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106299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MAC allowlist membantu asset control, tetapi tidak menggantikan authentication dan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71936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11">
            <a:extLst>
              <a:ext uri="{FF2B5EF4-FFF2-40B4-BE49-F238E27FC236}">
                <a16:creationId xmlns:a16="http://schemas.microsoft.com/office/drawing/2014/main" id="{B66B28E3-3120-4C61-8222-5EA40552B1E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SERVER &amp; DASHBOARD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3A0E889B-6105-4703-AB24-922C301EEE74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 pilot menunggu penutupan dua gap</a:t>
            </a:r>
          </a:p>
        </p:txBody>
      </p:sp>
      <p:sp>
        <p:nvSpPr>
          <p:cNvPr id="3" name="footer-rule-11">
            <a:extLst>
              <a:ext uri="{FF2B5EF4-FFF2-40B4-BE49-F238E27FC236}">
                <a16:creationId xmlns:a16="http://schemas.microsoft.com/office/drawing/2014/main" id="{01BF1A5C-86CC-43A0-A483-037E2754F528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>
              <a:ext uri="{FF2B5EF4-FFF2-40B4-BE49-F238E27FC236}">
                <a16:creationId xmlns:a16="http://schemas.microsoft.com/office/drawing/2014/main" id="{083FE9B2-227B-4A95-8353-98DB5B003A49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1">
            <a:extLst>
              <a:ext uri="{FF2B5EF4-FFF2-40B4-BE49-F238E27FC236}">
                <a16:creationId xmlns:a16="http://schemas.microsoft.com/office/drawing/2014/main" id="{C6CB2499-24E5-439A-B87C-887BA5CCAF4E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server-intro">
            <a:extLst>
              <a:ext uri="{FF2B5EF4-FFF2-40B4-BE49-F238E27FC236}">
                <a16:creationId xmlns:a16="http://schemas.microsoft.com/office/drawing/2014/main" id="{2B760500-ED78-4928-B631-9EECF6D5B727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12014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Baseline sizing bersifat proposal pilot; production platform dan acceptance tetap milik Pertamina IT.</a:t>
            </a:r>
          </a:p>
        </p:txBody>
      </p:sp>
      <p:sp>
        <p:nvSpPr>
          <p:cNvPr id="7" name="server-source">
            <a:extLst>
              <a:ext uri="{FF2B5EF4-FFF2-40B4-BE49-F238E27FC236}">
                <a16:creationId xmlns:a16="http://schemas.microsoft.com/office/drawing/2014/main" id="{4EF56EEC-B97D-4882-82DD-7650C1E32A39}"/>
              </a:ext>
            </a:extLst>
          </p:cNvPr>
          <p:cNvSpPr>
            <a:spLocks noGrp="1"/>
          </p:cNvSpPr>
          <p:nvPr/>
        </p:nvSpPr>
        <p:spPr>
          <a:xfrm>
            <a:off x="495300" y="1981200"/>
            <a:ext cx="3333750" cy="33147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8" name="server-pilot">
            <a:extLst>
              <a:ext uri="{FF2B5EF4-FFF2-40B4-BE49-F238E27FC236}">
                <a16:creationId xmlns:a16="http://schemas.microsoft.com/office/drawing/2014/main" id="{27646CD9-5AEC-4B91-B622-5294E990A040}"/>
              </a:ext>
            </a:extLst>
          </p:cNvPr>
          <p:cNvSpPr>
            <a:spLocks noGrp="1"/>
          </p:cNvSpPr>
          <p:nvPr/>
        </p:nvSpPr>
        <p:spPr>
          <a:xfrm>
            <a:off x="4429125" y="1981200"/>
            <a:ext cx="3333750" cy="33147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9" name="server-prod">
            <a:extLst>
              <a:ext uri="{FF2B5EF4-FFF2-40B4-BE49-F238E27FC236}">
                <a16:creationId xmlns:a16="http://schemas.microsoft.com/office/drawing/2014/main" id="{F93CC3E7-E765-4808-A114-A50FD89236E8}"/>
              </a:ext>
            </a:extLst>
          </p:cNvPr>
          <p:cNvSpPr>
            <a:spLocks noGrp="1"/>
          </p:cNvSpPr>
          <p:nvPr/>
        </p:nvSpPr>
        <p:spPr>
          <a:xfrm>
            <a:off x="8362950" y="1981200"/>
            <a:ext cx="3333750" cy="33147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0" name="server-source-title">
            <a:extLst>
              <a:ext uri="{FF2B5EF4-FFF2-40B4-BE49-F238E27FC236}">
                <a16:creationId xmlns:a16="http://schemas.microsoft.com/office/drawing/2014/main" id="{1185B781-7043-4118-9D9A-40D2E2C25E1F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762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</a:t>
            </a:r>
          </a:p>
        </p:txBody>
      </p:sp>
      <p:sp>
        <p:nvSpPr>
          <p:cNvPr id="11" name="server-source-big">
            <a:extLst>
              <a:ext uri="{FF2B5EF4-FFF2-40B4-BE49-F238E27FC236}">
                <a16:creationId xmlns:a16="http://schemas.microsoft.com/office/drawing/2014/main" id="{349CA21B-EC67-4CEC-8845-4705881F674D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2762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Flow drift</a:t>
            </a:r>
          </a:p>
        </p:txBody>
      </p:sp>
      <p:sp>
        <p:nvSpPr>
          <p:cNvPr id="12" name="server-source-body">
            <a:extLst>
              <a:ext uri="{FF2B5EF4-FFF2-40B4-BE49-F238E27FC236}">
                <a16:creationId xmlns:a16="http://schemas.microsoft.com/office/drawing/2014/main" id="{A7AB0BAA-97CF-482F-A74E-B56AF808E730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762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Snapshot utama tertinggal
• Status Gateway belum masuk snapshot
• Dataset flow konsisten
• Live deployment tidak diaudit</a:t>
            </a:r>
          </a:p>
        </p:txBody>
      </p:sp>
      <p:sp>
        <p:nvSpPr>
          <p:cNvPr id="13" name="server-pilot-title">
            <a:extLst>
              <a:ext uri="{FF2B5EF4-FFF2-40B4-BE49-F238E27FC236}">
                <a16:creationId xmlns:a16="http://schemas.microsoft.com/office/drawing/2014/main" id="{966B08A8-C1CA-48D2-898D-459ADCD95BAA}"/>
              </a:ext>
            </a:extLst>
          </p:cNvPr>
          <p:cNvSpPr>
            <a:spLocks noGrp="1"/>
          </p:cNvSpPr>
          <p:nvPr/>
        </p:nvSpPr>
        <p:spPr>
          <a:xfrm>
            <a:off x="4714875" y="2286000"/>
            <a:ext cx="2762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BASELINE PILOT</a:t>
            </a:r>
          </a:p>
        </p:txBody>
      </p:sp>
      <p:sp>
        <p:nvSpPr>
          <p:cNvPr id="14" name="server-pilot-big">
            <a:extLst>
              <a:ext uri="{FF2B5EF4-FFF2-40B4-BE49-F238E27FC236}">
                <a16:creationId xmlns:a16="http://schemas.microsoft.com/office/drawing/2014/main" id="{66A697AC-E938-4431-BEEE-40ADA1B1A3DA}"/>
              </a:ext>
            </a:extLst>
          </p:cNvPr>
          <p:cNvSpPr>
            <a:spLocks noGrp="1"/>
          </p:cNvSpPr>
          <p:nvPr/>
        </p:nvSpPr>
        <p:spPr>
          <a:xfrm>
            <a:off x="4714875" y="2724150"/>
            <a:ext cx="2762250" cy="742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vCPU • 8 GB
100 GB SSD</a:t>
            </a:r>
          </a:p>
        </p:txBody>
      </p:sp>
      <p:sp>
        <p:nvSpPr>
          <p:cNvPr id="15" name="server-pilot-body">
            <a:extLst>
              <a:ext uri="{FF2B5EF4-FFF2-40B4-BE49-F238E27FC236}">
                <a16:creationId xmlns:a16="http://schemas.microsoft.com/office/drawing/2014/main" id="{88D58F85-1903-4491-BED8-6C9A8B381D57}"/>
              </a:ext>
            </a:extLst>
          </p:cNvPr>
          <p:cNvSpPr>
            <a:spLocks noGrp="1"/>
          </p:cNvSpPr>
          <p:nvPr/>
        </p:nvSpPr>
        <p:spPr>
          <a:xfrm>
            <a:off x="4714875" y="3733800"/>
            <a:ext cx="2762250" cy="990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OS LTS/server yang disetujui IT; service auto-start, health check, backup, monitoring.</a:t>
            </a:r>
          </a:p>
        </p:txBody>
      </p:sp>
      <p:sp>
        <p:nvSpPr>
          <p:cNvPr id="16" name="server-prod-title">
            <a:extLst>
              <a:ext uri="{FF2B5EF4-FFF2-40B4-BE49-F238E27FC236}">
                <a16:creationId xmlns:a16="http://schemas.microsoft.com/office/drawing/2014/main" id="{D0E6EB74-C17E-4BD7-A41B-CE03F1531760}"/>
              </a:ext>
            </a:extLst>
          </p:cNvPr>
          <p:cNvSpPr>
            <a:spLocks noGrp="1"/>
          </p:cNvSpPr>
          <p:nvPr/>
        </p:nvSpPr>
        <p:spPr>
          <a:xfrm>
            <a:off x="8648700" y="2286000"/>
            <a:ext cx="27622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PRODUCTION CLOSURE</a:t>
            </a:r>
          </a:p>
        </p:txBody>
      </p:sp>
      <p:sp>
        <p:nvSpPr>
          <p:cNvPr id="17" name="server-prod-big">
            <a:extLst>
              <a:ext uri="{FF2B5EF4-FFF2-40B4-BE49-F238E27FC236}">
                <a16:creationId xmlns:a16="http://schemas.microsoft.com/office/drawing/2014/main" id="{66A7B3B1-B98D-4EF8-A759-F42B988F957A}"/>
              </a:ext>
            </a:extLst>
          </p:cNvPr>
          <p:cNvSpPr>
            <a:spLocks noGrp="1"/>
          </p:cNvSpPr>
          <p:nvPr/>
        </p:nvSpPr>
        <p:spPr>
          <a:xfrm>
            <a:off x="8648700" y="2724150"/>
            <a:ext cx="2762250" cy="400050"/>
          </a:xfrm>
          <a:prstGeom prst="rect">
            <a:avLst/>
          </a:prstGeom>
        </p:spPr>
        <p:txBody>
          <a:bodyPr wrap="square" lIns="0" tIns="0" rIns="0" bIns="0" anchor="t">
            <a:normAutofit fontScale="96898"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Package &amp; runbook</a:t>
            </a:r>
          </a:p>
        </p:txBody>
      </p:sp>
      <p:sp>
        <p:nvSpPr>
          <p:cNvPr id="18" name="server-prod-body">
            <a:extLst>
              <a:ext uri="{FF2B5EF4-FFF2-40B4-BE49-F238E27FC236}">
                <a16:creationId xmlns:a16="http://schemas.microsoft.com/office/drawing/2014/main" id="{10948BBE-060E-42DA-8605-DB9E3B27F22C}"/>
              </a:ext>
            </a:extLst>
          </p:cNvPr>
          <p:cNvSpPr>
            <a:spLocks noGrp="1"/>
          </p:cNvSpPr>
          <p:nvPr/>
        </p:nvSpPr>
        <p:spPr>
          <a:xfrm>
            <a:off x="8648700" y="3333750"/>
            <a:ext cx="2762250" cy="1428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Version/checksum manifest
• Broker/TLS/ACL config
• HTTPS/RBAC dan retention
• Restore, RPO/RTO, patching, rollback</a:t>
            </a:r>
          </a:p>
        </p:txBody>
      </p:sp>
      <p:sp>
        <p:nvSpPr>
          <p:cNvPr id="19" name="server-two-gaps">
            <a:extLst>
              <a:ext uri="{FF2B5EF4-FFF2-40B4-BE49-F238E27FC236}">
                <a16:creationId xmlns:a16="http://schemas.microsoft.com/office/drawing/2014/main" id="{7DDE1C87-02EF-4DB7-8085-37BCA36951FC}"/>
              </a:ext>
            </a:extLst>
          </p:cNvPr>
          <p:cNvSpPr>
            <a:spLocks noGrp="1"/>
          </p:cNvSpPr>
          <p:nvPr/>
        </p:nvSpPr>
        <p:spPr>
          <a:xfrm>
            <a:off x="495300" y="5619750"/>
            <a:ext cx="112014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Dua gap awal: sinkronkan flow snapshot dan sepakati arah TLS sebelum packaging/deployment.</a:t>
            </a:r>
          </a:p>
        </p:txBody>
      </p:sp>
    </p:spTree>
    <p:extLst>
      <p:ext uri="{BB962C8B-B14F-4D97-AF65-F5344CB8AC3E}">
        <p14:creationId xmlns:p14="http://schemas.microsoft.com/office/powerpoint/2010/main" val="15909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ction-12">
            <a:extLst>
              <a:ext uri="{FF2B5EF4-FFF2-40B4-BE49-F238E27FC236}">
                <a16:creationId xmlns:a16="http://schemas.microsoft.com/office/drawing/2014/main" id="{614FD8DF-83C4-42D9-94FB-233D904E3C7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HAZARDOUS AREA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BF3EB7F9-9223-4E3F-898C-A980AC4EF14D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Trial classified-area tetap ditahan</a:t>
            </a:r>
          </a:p>
        </p:txBody>
      </p:sp>
      <p:sp>
        <p:nvSpPr>
          <p:cNvPr id="3" name="footer-rule-12">
            <a:extLst>
              <a:ext uri="{FF2B5EF4-FFF2-40B4-BE49-F238E27FC236}">
                <a16:creationId xmlns:a16="http://schemas.microsoft.com/office/drawing/2014/main" id="{C90EB95A-E6DD-4AF2-BB9D-1A589F7902D1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2">
            <a:extLst>
              <a:ext uri="{FF2B5EF4-FFF2-40B4-BE49-F238E27FC236}">
                <a16:creationId xmlns:a16="http://schemas.microsoft.com/office/drawing/2014/main" id="{0B3D092A-A6D1-4463-9798-4C765E8EFE57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2">
            <a:extLst>
              <a:ext uri="{FF2B5EF4-FFF2-40B4-BE49-F238E27FC236}">
                <a16:creationId xmlns:a16="http://schemas.microsoft.com/office/drawing/2014/main" id="{DB11297F-4038-46C4-962C-3E038F4BC785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safety-banner">
            <a:extLst>
              <a:ext uri="{FF2B5EF4-FFF2-40B4-BE49-F238E27FC236}">
                <a16:creationId xmlns:a16="http://schemas.microsoft.com/office/drawing/2014/main" id="{1043D4BC-317A-4ED3-8A24-B7646366F1BD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990600"/>
          </a:xfrm>
          <a:prstGeom prst="rect">
            <a:avLst/>
          </a:prstGeom>
          <a:solidFill>
            <a:srgbClr val="FBE7E5"/>
          </a:solidFill>
          <a:ln w="0">
            <a:noFill/>
            <a:prstDash val="solid"/>
          </a:ln>
        </p:spPr>
      </p:sp>
      <p:sp>
        <p:nvSpPr>
          <p:cNvPr id="7" name="safety-banner-label">
            <a:extLst>
              <a:ext uri="{FF2B5EF4-FFF2-40B4-BE49-F238E27FC236}">
                <a16:creationId xmlns:a16="http://schemas.microsoft.com/office/drawing/2014/main" id="{D54E57C7-3CB3-42FD-8664-78B138A1D8EE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2095500" cy="323850"/>
          </a:xfrm>
          <a:prstGeom prst="rect">
            <a:avLst/>
          </a:prstGeom>
        </p:spPr>
        <p:txBody>
          <a:bodyPr wrap="square" lIns="0" tIns="0" rIns="0" bIns="0" anchor="t">
            <a:normAutofit fontScale="94444"/>
          </a:bodyPr>
          <a:lstStyle/>
          <a:p>
            <a:pPr algn="l">
              <a:defRPr sz="22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SAFETY HOLD</a:t>
            </a:r>
          </a:p>
        </p:txBody>
      </p:sp>
      <p:sp>
        <p:nvSpPr>
          <p:cNvPr id="8" name="safety-banner-text">
            <a:extLst>
              <a:ext uri="{FF2B5EF4-FFF2-40B4-BE49-F238E27FC236}">
                <a16:creationId xmlns:a16="http://schemas.microsoft.com/office/drawing/2014/main" id="{3A0B5DA7-06D4-4164-AA6F-B594D480C873}"/>
              </a:ext>
            </a:extLst>
          </p:cNvPr>
          <p:cNvSpPr>
            <a:spLocks noGrp="1"/>
          </p:cNvSpPr>
          <p:nvPr/>
        </p:nvSpPr>
        <p:spPr>
          <a:xfrm>
            <a:off x="2876550" y="1619250"/>
            <a:ext cx="8636000" cy="381000"/>
          </a:xfrm>
          <a:prstGeom prst="rect">
            <a:avLst/>
          </a:prstGeom>
        </p:spPr>
        <p:txBody>
          <a:bodyPr wrap="square" lIns="0" tIns="0" rIns="0" bIns="0" anchor="t">
            <a:normAutofit fontScale="87417"/>
          </a:bodyPr>
          <a:lstStyle/>
          <a:p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/>
              <a:t>Belum ada bukti certificate/marking untuk complete assembly GLD maupun CH.</a:t>
            </a:r>
          </a:p>
        </p:txBody>
      </p:sp>
      <p:sp>
        <p:nvSpPr>
          <p:cNvPr id="9" name="safety-rule-title">
            <a:extLst>
              <a:ext uri="{FF2B5EF4-FFF2-40B4-BE49-F238E27FC236}">
                <a16:creationId xmlns:a16="http://schemas.microsoft.com/office/drawing/2014/main" id="{F8FC559E-878D-484F-9263-F443DC4FCDBB}"/>
              </a:ext>
            </a:extLst>
          </p:cNvPr>
          <p:cNvSpPr>
            <a:spLocks noGrp="1"/>
          </p:cNvSpPr>
          <p:nvPr/>
        </p:nvSpPr>
        <p:spPr>
          <a:xfrm>
            <a:off x="495300" y="2781300"/>
            <a:ext cx="3429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yang berlaku</a:t>
            </a:r>
          </a:p>
        </p:txBody>
      </p:sp>
      <p:sp>
        <p:nvSpPr>
          <p:cNvPr id="10" name="safety-rules">
            <a:extLst>
              <a:ext uri="{FF2B5EF4-FFF2-40B4-BE49-F238E27FC236}">
                <a16:creationId xmlns:a16="http://schemas.microsoft.com/office/drawing/2014/main" id="{F75DFF28-2103-4930-9490-38B378B55E38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5334000" cy="1866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Tidak ada trial dekat/bawah tangki LPG
• SRU/Sampit tetap kandidat—bukan otomatis safe area
• Metal enclosure, IP/IK, atau partisi biasa bukan Ex certificate
• Klaim jadwal sertifikat harus disertai application/test schedule</a:t>
            </a:r>
          </a:p>
        </p:txBody>
      </p:sp>
      <p:sp>
        <p:nvSpPr>
          <p:cNvPr id="11" name="safety-gates-title">
            <a:extLst>
              <a:ext uri="{FF2B5EF4-FFF2-40B4-BE49-F238E27FC236}">
                <a16:creationId xmlns:a16="http://schemas.microsoft.com/office/drawing/2014/main" id="{EC681A99-B076-4B67-B2AB-F02C81E4375E}"/>
              </a:ext>
            </a:extLst>
          </p:cNvPr>
          <p:cNvSpPr>
            <a:spLocks noGrp="1"/>
          </p:cNvSpPr>
          <p:nvPr/>
        </p:nvSpPr>
        <p:spPr>
          <a:xfrm>
            <a:off x="6553200" y="278130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 fontScale="88837"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gate sebelum classified installation</a:t>
            </a:r>
          </a:p>
        </p:txBody>
      </p:sp>
      <p:sp>
        <p:nvSpPr>
          <p:cNvPr id="12" name="safety-gates">
            <a:extLst>
              <a:ext uri="{FF2B5EF4-FFF2-40B4-BE49-F238E27FC236}">
                <a16:creationId xmlns:a16="http://schemas.microsoft.com/office/drawing/2014/main" id="{C0D76DCB-81D2-4760-9454-340189561FEE}"/>
              </a:ext>
            </a:extLst>
          </p:cNvPr>
          <p:cNvSpPr>
            <a:spLocks noGrp="1"/>
          </p:cNvSpPr>
          <p:nvPr/>
        </p:nvSpPr>
        <p:spPr>
          <a:xfrm>
            <a:off x="6781800" y="3276600"/>
            <a:ext cx="4762500" cy="1866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50"/>
              <a:t>1  Area classification per titik
2  Accepted complete-assembly certification scope
3  Approved installation design + permit/JSA
4  Competent initial inspection + HSE/site sign-off</a:t>
            </a:r>
          </a:p>
        </p:txBody>
      </p:sp>
      <p:sp>
        <p:nvSpPr>
          <p:cNvPr id="13" name="safety-bottom">
            <a:extLst>
              <a:ext uri="{FF2B5EF4-FFF2-40B4-BE49-F238E27FC236}">
                <a16:creationId xmlns:a16="http://schemas.microsoft.com/office/drawing/2014/main" id="{560DEDD1-16D2-4AF9-8AF9-2EEF2E41BAF1}"/>
              </a:ext>
            </a:extLst>
          </p:cNvPr>
          <p:cNvSpPr>
            <a:spLocks noGrp="1"/>
          </p:cNvSpPr>
          <p:nvPr/>
        </p:nvSpPr>
        <p:spPr>
          <a:xfrm>
            <a:off x="495300" y="5467350"/>
            <a:ext cx="11201400" cy="609600"/>
          </a:xfrm>
          <a:prstGeom prst="rect">
            <a:avLst/>
          </a:prstGeom>
          <a:solidFill>
            <a:srgbClr val="FFF2CC"/>
          </a:solidFill>
          <a:ln w="0">
            <a:noFill/>
            <a:prstDash val="solid"/>
          </a:ln>
        </p:spPr>
      </p:sp>
      <p:sp>
        <p:nvSpPr>
          <p:cNvPr id="14" name="safety-bottom-text">
            <a:extLst>
              <a:ext uri="{FF2B5EF4-FFF2-40B4-BE49-F238E27FC236}">
                <a16:creationId xmlns:a16="http://schemas.microsoft.com/office/drawing/2014/main" id="{3D0F342A-A3C4-4D26-8903-38329374F028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442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Sebelum gate ditutup, trial hanya pada lokasi non-hazardous yang ditetapkan Pertamina secara tertulis.</a:t>
            </a:r>
          </a:p>
        </p:txBody>
      </p:sp>
    </p:spTree>
    <p:extLst>
      <p:ext uri="{BB962C8B-B14F-4D97-AF65-F5344CB8AC3E}">
        <p14:creationId xmlns:p14="http://schemas.microsoft.com/office/powerpoint/2010/main" val="1066008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13">
            <a:extLst>
              <a:ext uri="{FF2B5EF4-FFF2-40B4-BE49-F238E27FC236}">
                <a16:creationId xmlns:a16="http://schemas.microsoft.com/office/drawing/2014/main" id="{AEDB4B23-0627-41D1-ADA5-11F3CE9C7E3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SITE INTERFACE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71EA0929-3944-4EE0-936D-B315C056C122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Mounting final menunggu survey</a:t>
            </a:r>
          </a:p>
        </p:txBody>
      </p:sp>
      <p:sp>
        <p:nvSpPr>
          <p:cNvPr id="3" name="footer-rule-13">
            <a:extLst>
              <a:ext uri="{FF2B5EF4-FFF2-40B4-BE49-F238E27FC236}">
                <a16:creationId xmlns:a16="http://schemas.microsoft.com/office/drawing/2014/main" id="{F79567B6-5987-4DBF-9120-50987A9B7E80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3">
            <a:extLst>
              <a:ext uri="{FF2B5EF4-FFF2-40B4-BE49-F238E27FC236}">
                <a16:creationId xmlns:a16="http://schemas.microsoft.com/office/drawing/2014/main" id="{4D8A1F2C-5F68-43CE-8A38-C4DF6B1796A5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3">
            <a:extLst>
              <a:ext uri="{FF2B5EF4-FFF2-40B4-BE49-F238E27FC236}">
                <a16:creationId xmlns:a16="http://schemas.microsoft.com/office/drawing/2014/main" id="{C8D26622-351D-4277-BF9C-227D801ABD0E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mounting-intro">
            <a:extLst>
              <a:ext uri="{FF2B5EF4-FFF2-40B4-BE49-F238E27FC236}">
                <a16:creationId xmlns:a16="http://schemas.microsoft.com/office/drawing/2014/main" id="{07D85E0A-1070-4F33-9598-3815CE7F0F1A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514350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Angka meeting adalah proposal awal; drawing fabrikasi harus mengikuti data site dan approval struktur.</a:t>
            </a:r>
          </a:p>
        </p:txBody>
      </p:sp>
      <p:sp>
        <p:nvSpPr>
          <p:cNvPr id="7" name="mounting-survey-title">
            <a:extLst>
              <a:ext uri="{FF2B5EF4-FFF2-40B4-BE49-F238E27FC236}">
                <a16:creationId xmlns:a16="http://schemas.microsoft.com/office/drawing/2014/main" id="{901C6AD2-8E70-4AB8-A161-45B29BCC638E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4762500" cy="323850"/>
          </a:xfrm>
          <a:prstGeom prst="rect">
            <a:avLst/>
          </a:prstGeom>
        </p:spPr>
        <p:txBody>
          <a:bodyPr wrap="square" lIns="0" tIns="0" rIns="0" bIns="0" anchor="t">
            <a:normAutofit fontScale="97701"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 survey yang wajib</a:t>
            </a:r>
          </a:p>
        </p:txBody>
      </p:sp>
      <p:sp>
        <p:nvSpPr>
          <p:cNvPr id="8" name="mounting-survey-body">
            <a:extLst>
              <a:ext uri="{FF2B5EF4-FFF2-40B4-BE49-F238E27FC236}">
                <a16:creationId xmlns:a16="http://schemas.microsoft.com/office/drawing/2014/main" id="{DD09FE65-06B0-4944-8DBC-B69E88007370}"/>
              </a:ext>
            </a:extLst>
          </p:cNvPr>
          <p:cNvSpPr>
            <a:spLocks noGrp="1"/>
          </p:cNvSpPr>
          <p:nvPr/>
        </p:nvSpPr>
        <p:spPr>
          <a:xfrm>
            <a:off x="723900" y="2609850"/>
            <a:ext cx="4762500" cy="2114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Pole/handrail OD, material, thickness, existing load
• Wind/seismic/vibration/corrosion dan anchor policy
• Power source, cable route, gland, allowable drop
• Antenna height/LOS/coax/lightning/grounding
• Access, maintenance envelope, work-at-height</a:t>
            </a:r>
          </a:p>
        </p:txBody>
      </p:sp>
      <p:sp>
        <p:nvSpPr>
          <p:cNvPr id="9" name="mounting-proposal">
            <a:extLst>
              <a:ext uri="{FF2B5EF4-FFF2-40B4-BE49-F238E27FC236}">
                <a16:creationId xmlns:a16="http://schemas.microsoft.com/office/drawing/2014/main" id="{BA465161-7BB6-4908-B895-42A7141F07BA}"/>
              </a:ext>
            </a:extLst>
          </p:cNvPr>
          <p:cNvSpPr>
            <a:spLocks noGrp="1"/>
          </p:cNvSpPr>
          <p:nvPr/>
        </p:nvSpPr>
        <p:spPr>
          <a:xfrm>
            <a:off x="495300" y="4991100"/>
            <a:ext cx="5143500" cy="971550"/>
          </a:xfrm>
          <a:prstGeom prst="rect">
            <a:avLst/>
          </a:prstGeom>
          <a:solidFill>
            <a:srgbClr val="FFF2CC"/>
          </a:solidFill>
          <a:ln w="0">
            <a:noFill/>
            <a:prstDash val="solid"/>
          </a:ln>
        </p:spPr>
      </p:sp>
      <p:sp>
        <p:nvSpPr>
          <p:cNvPr id="10" name="mounting-proposal-text">
            <a:extLst>
              <a:ext uri="{FF2B5EF4-FFF2-40B4-BE49-F238E27FC236}">
                <a16:creationId xmlns:a16="http://schemas.microsoft.com/office/drawing/2014/main" id="{DB5F1BB5-F727-4C13-AF12-5AB80ECD26A7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468630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±1,5 m extension dan ±2–2,5 m pole adalah proposal meeting—bukan dimensi final.</a:t>
            </a:r>
          </a:p>
        </p:txBody>
      </p:sp>
      <p:sp>
        <p:nvSpPr>
          <p:cNvPr id="11" name="mounting-image-backing">
            <a:extLst>
              <a:ext uri="{FF2B5EF4-FFF2-40B4-BE49-F238E27FC236}">
                <a16:creationId xmlns:a16="http://schemas.microsoft.com/office/drawing/2014/main" id="{064104D9-6C38-44B9-A542-D4DC3FA253C0}"/>
              </a:ext>
            </a:extLst>
          </p:cNvPr>
          <p:cNvSpPr>
            <a:spLocks noGrp="1"/>
          </p:cNvSpPr>
          <p:nvPr/>
        </p:nvSpPr>
        <p:spPr>
          <a:xfrm>
            <a:off x="6057900" y="1390650"/>
            <a:ext cx="5638800" cy="42291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mounting-caption">
            <a:extLst>
              <a:ext uri="{FF2B5EF4-FFF2-40B4-BE49-F238E27FC236}">
                <a16:creationId xmlns:a16="http://schemas.microsoft.com/office/drawing/2014/main" id="{C56555BB-11FD-4407-8209-07C6751EFF6F}"/>
              </a:ext>
            </a:extLst>
          </p:cNvPr>
          <p:cNvSpPr>
            <a:spLocks noGrp="1"/>
          </p:cNvSpPr>
          <p:nvPr/>
        </p:nvSpPr>
        <p:spPr>
          <a:xfrm>
            <a:off x="6057900" y="5753100"/>
            <a:ext cx="56388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Referensi survey historis—bukan layout aktif atau approved plot plan.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5875" r="5875"/>
          <a:stretch>
            <a:fillRect/>
          </a:stretch>
        </p:blipFill>
        <p:spPr>
          <a:xfrm>
            <a:off x="6057900" y="1390650"/>
            <a:ext cx="56388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14">
            <a:extLst>
              <a:ext uri="{FF2B5EF4-FFF2-40B4-BE49-F238E27FC236}">
                <a16:creationId xmlns:a16="http://schemas.microsoft.com/office/drawing/2014/main" id="{2754D91E-D8F1-41B2-B600-15EA1D854FA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CFFC6002-AD58-402F-8EFD-7282808C35DC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2027 dimulai dari support pack 2026</a:t>
            </a:r>
          </a:p>
        </p:txBody>
      </p:sp>
      <p:sp>
        <p:nvSpPr>
          <p:cNvPr id="3" name="footer-rule-14">
            <a:extLst>
              <a:ext uri="{FF2B5EF4-FFF2-40B4-BE49-F238E27FC236}">
                <a16:creationId xmlns:a16="http://schemas.microsoft.com/office/drawing/2014/main" id="{D3E4A6ED-01C4-4404-838B-074CF900329D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4">
            <a:extLst>
              <a:ext uri="{FF2B5EF4-FFF2-40B4-BE49-F238E27FC236}">
                <a16:creationId xmlns:a16="http://schemas.microsoft.com/office/drawing/2014/main" id="{69C59B1A-EC9E-40DE-B6A6-1A3E8014843C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4">
            <a:extLst>
              <a:ext uri="{FF2B5EF4-FFF2-40B4-BE49-F238E27FC236}">
                <a16:creationId xmlns:a16="http://schemas.microsoft.com/office/drawing/2014/main" id="{3873A195-977B-49F1-940D-1A72A9F8646F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6" name="roadmap-track">
            <a:extLst>
              <a:ext uri="{FF2B5EF4-FFF2-40B4-BE49-F238E27FC236}">
                <a16:creationId xmlns:a16="http://schemas.microsoft.com/office/drawing/2014/main" id="{4EF0EC5D-AF80-46F0-9969-0E407DE70C1A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810875" cy="9525"/>
          </a:xfrm>
          <a:prstGeom prst="line">
            <a:avLst/>
          </a:prstGeom>
          <a:noFill/>
          <a:ln w="9525">
            <a:solidFill>
              <a:srgbClr val="111827"/>
            </a:solidFill>
            <a:prstDash val="solid"/>
          </a:ln>
        </p:spPr>
      </p:sp>
      <p:sp>
        <p:nvSpPr>
          <p:cNvPr id="7" name="roadmap-dot-1">
            <a:extLst>
              <a:ext uri="{FF2B5EF4-FFF2-40B4-BE49-F238E27FC236}">
                <a16:creationId xmlns:a16="http://schemas.microsoft.com/office/drawing/2014/main" id="{2DDE0A0C-EBAF-4FA7-AF5B-F2187B7D4BEE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8" name="roadmap-dot-2">
            <a:extLst>
              <a:ext uri="{FF2B5EF4-FFF2-40B4-BE49-F238E27FC236}">
                <a16:creationId xmlns:a16="http://schemas.microsoft.com/office/drawing/2014/main" id="{171D41AA-465A-49E7-9CDC-816D5381114A}"/>
              </a:ext>
            </a:extLst>
          </p:cNvPr>
          <p:cNvSpPr>
            <a:spLocks noGrp="1"/>
          </p:cNvSpPr>
          <p:nvPr/>
        </p:nvSpPr>
        <p:spPr>
          <a:xfrm>
            <a:off x="4305300" y="548640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9" name="roadmap-dot-3">
            <a:extLst>
              <a:ext uri="{FF2B5EF4-FFF2-40B4-BE49-F238E27FC236}">
                <a16:creationId xmlns:a16="http://schemas.microsoft.com/office/drawing/2014/main" id="{0A86CD33-FFBA-4E93-8728-EF6350AC968F}"/>
              </a:ext>
            </a:extLst>
          </p:cNvPr>
          <p:cNvSpPr>
            <a:spLocks noGrp="1"/>
          </p:cNvSpPr>
          <p:nvPr/>
        </p:nvSpPr>
        <p:spPr>
          <a:xfrm>
            <a:off x="7924800" y="5486400"/>
            <a:ext cx="114300" cy="114300"/>
          </a:xfrm>
          <a:prstGeom prst="ellipse">
            <a:avLst/>
          </a:prstGeom>
          <a:solidFill>
            <a:srgbClr val="111827"/>
          </a:solidFill>
        </p:spPr>
      </p:sp>
      <p:sp>
        <p:nvSpPr>
          <p:cNvPr id="10" name="roadmap-card-1">
            <a:extLst>
              <a:ext uri="{FF2B5EF4-FFF2-40B4-BE49-F238E27FC236}">
                <a16:creationId xmlns:a16="http://schemas.microsoft.com/office/drawing/2014/main" id="{D180879C-9F06-475B-9EBD-81E7EFD28DAD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3200400" cy="3429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1" name="roadmap-card-2">
            <a:extLst>
              <a:ext uri="{FF2B5EF4-FFF2-40B4-BE49-F238E27FC236}">
                <a16:creationId xmlns:a16="http://schemas.microsoft.com/office/drawing/2014/main" id="{4C663CFE-4204-4F7D-924A-58A56E82D5A2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3200400" cy="3429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2" name="roadmap-card-3">
            <a:extLst>
              <a:ext uri="{FF2B5EF4-FFF2-40B4-BE49-F238E27FC236}">
                <a16:creationId xmlns:a16="http://schemas.microsoft.com/office/drawing/2014/main" id="{E87A756F-6E71-46A0-87AA-FD23B4480724}"/>
              </a:ext>
            </a:extLst>
          </p:cNvPr>
          <p:cNvSpPr>
            <a:spLocks noGrp="1"/>
          </p:cNvSpPr>
          <p:nvPr/>
        </p:nvSpPr>
        <p:spPr>
          <a:xfrm>
            <a:off x="7924800" y="1466850"/>
            <a:ext cx="3581400" cy="34290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3" name="roadmap-1-title">
            <a:extLst>
              <a:ext uri="{FF2B5EF4-FFF2-40B4-BE49-F238E27FC236}">
                <a16:creationId xmlns:a16="http://schemas.microsoft.com/office/drawing/2014/main" id="{4758857D-CC70-499E-974B-F7304E6D4E64}"/>
              </a:ext>
            </a:extLst>
          </p:cNvPr>
          <p:cNvSpPr>
            <a:spLocks noGrp="1"/>
          </p:cNvSpPr>
          <p:nvPr/>
        </p:nvSpPr>
        <p:spPr>
          <a:xfrm>
            <a:off x="971550" y="1771650"/>
            <a:ext cx="26289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AGUSTUS 2026</a:t>
            </a:r>
          </a:p>
        </p:txBody>
      </p:sp>
      <p:sp>
        <p:nvSpPr>
          <p:cNvPr id="14" name="roadmap-1-body">
            <a:extLst>
              <a:ext uri="{FF2B5EF4-FFF2-40B4-BE49-F238E27FC236}">
                <a16:creationId xmlns:a16="http://schemas.microsoft.com/office/drawing/2014/main" id="{8C5121C7-990D-4642-8C66-BB347629D208}"/>
              </a:ext>
            </a:extLst>
          </p:cNvPr>
          <p:cNvSpPr>
            <a:spLocks noGrp="1"/>
          </p:cNvSpPr>
          <p:nvPr/>
        </p:nvSpPr>
        <p:spPr>
          <a:xfrm>
            <a:off x="971550" y="2343150"/>
            <a:ext cx="2628900" cy="1847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Enam keputusan internal
• RFI terkonsolidasi
• Datasheet + measurement plan
• Pre-survey pack dan permit request</a:t>
            </a:r>
          </a:p>
        </p:txBody>
      </p:sp>
      <p:sp>
        <p:nvSpPr>
          <p:cNvPr id="15" name="roadmap-2-title">
            <a:extLst>
              <a:ext uri="{FF2B5EF4-FFF2-40B4-BE49-F238E27FC236}">
                <a16:creationId xmlns:a16="http://schemas.microsoft.com/office/drawing/2014/main" id="{43549032-7A7F-452F-84C1-F6A3875FBFA0}"/>
              </a:ext>
            </a:extLst>
          </p:cNvPr>
          <p:cNvSpPr>
            <a:spLocks noGrp="1"/>
          </p:cNvSpPr>
          <p:nvPr/>
        </p:nvSpPr>
        <p:spPr>
          <a:xfrm>
            <a:off x="4591050" y="1771650"/>
            <a:ext cx="26289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SEPTEMBER 2026</a:t>
            </a:r>
          </a:p>
        </p:txBody>
      </p:sp>
      <p:sp>
        <p:nvSpPr>
          <p:cNvPr id="16" name="roadmap-2-body">
            <a:extLst>
              <a:ext uri="{FF2B5EF4-FFF2-40B4-BE49-F238E27FC236}">
                <a16:creationId xmlns:a16="http://schemas.microsoft.com/office/drawing/2014/main" id="{F5BBF9F5-D8C3-4938-8E66-44F162F0B3CE}"/>
              </a:ext>
            </a:extLst>
          </p:cNvPr>
          <p:cNvSpPr>
            <a:spLocks noGrp="1"/>
          </p:cNvSpPr>
          <p:nvPr/>
        </p:nvSpPr>
        <p:spPr>
          <a:xfrm>
            <a:off x="4591050" y="2343150"/>
            <a:ext cx="2628900" cy="1847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Survey dimensi/HSE/RF/jaringan
• Freeze phase-1 interface
• Support, cable, pole, drawing/BOM
• Submit sebelum akhir bulan</a:t>
            </a:r>
          </a:p>
        </p:txBody>
      </p:sp>
      <p:sp>
        <p:nvSpPr>
          <p:cNvPr id="17" name="roadmap-3-title">
            <a:extLst>
              <a:ext uri="{FF2B5EF4-FFF2-40B4-BE49-F238E27FC236}">
                <a16:creationId xmlns:a16="http://schemas.microsoft.com/office/drawing/2014/main" id="{1F6AEACE-AAA3-4AD4-8D0F-90D326D1D430}"/>
              </a:ext>
            </a:extLst>
          </p:cNvPr>
          <p:cNvSpPr>
            <a:spLocks noGrp="1"/>
          </p:cNvSpPr>
          <p:nvPr/>
        </p:nvSpPr>
        <p:spPr>
          <a:xfrm>
            <a:off x="8210550" y="1771650"/>
            <a:ext cx="30099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OKT 2026 → SEP 2027</a:t>
            </a:r>
          </a:p>
        </p:txBody>
      </p:sp>
      <p:sp>
        <p:nvSpPr>
          <p:cNvPr id="18" name="roadmap-3-body">
            <a:extLst>
              <a:ext uri="{FF2B5EF4-FFF2-40B4-BE49-F238E27FC236}">
                <a16:creationId xmlns:a16="http://schemas.microsoft.com/office/drawing/2014/main" id="{6E42E576-CBD0-4962-9B44-605AD608E808}"/>
              </a:ext>
            </a:extLst>
          </p:cNvPr>
          <p:cNvSpPr>
            <a:spLocks noGrp="1"/>
          </p:cNvSpPr>
          <p:nvPr/>
        </p:nvSpPr>
        <p:spPr>
          <a:xfrm>
            <a:off x="8210550" y="2343150"/>
            <a:ext cx="3009900" cy="2133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Design closure + FAT
• Certification workstream
• Contract, installation, IT onboarding
• SAT, soak, training, handover
• Field acceptance target</a:t>
            </a:r>
          </a:p>
        </p:txBody>
      </p:sp>
      <p:sp>
        <p:nvSpPr>
          <p:cNvPr id="19" name="roadmap-label-1">
            <a:extLst>
              <a:ext uri="{FF2B5EF4-FFF2-40B4-BE49-F238E27FC236}">
                <a16:creationId xmlns:a16="http://schemas.microsoft.com/office/drawing/2014/main" id="{3CC64D30-8391-4462-A7AB-2F0789EF7DAD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PACK</a:t>
            </a:r>
          </a:p>
        </p:txBody>
      </p:sp>
      <p:sp>
        <p:nvSpPr>
          <p:cNvPr id="20" name="roadmap-label-2">
            <a:extLst>
              <a:ext uri="{FF2B5EF4-FFF2-40B4-BE49-F238E27FC236}">
                <a16:creationId xmlns:a16="http://schemas.microsoft.com/office/drawing/2014/main" id="{E66DD53D-9493-46B7-BB9A-7BA6E29C5AE7}"/>
              </a:ext>
            </a:extLst>
          </p:cNvPr>
          <p:cNvSpPr>
            <a:spLocks noGrp="1"/>
          </p:cNvSpPr>
          <p:nvPr/>
        </p:nvSpPr>
        <p:spPr>
          <a:xfrm>
            <a:off x="4305300" y="5829300"/>
            <a:ext cx="2857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 PACKAGE</a:t>
            </a:r>
          </a:p>
        </p:txBody>
      </p:sp>
      <p:sp>
        <p:nvSpPr>
          <p:cNvPr id="21" name="roadmap-label-3">
            <a:extLst>
              <a:ext uri="{FF2B5EF4-FFF2-40B4-BE49-F238E27FC236}">
                <a16:creationId xmlns:a16="http://schemas.microsoft.com/office/drawing/2014/main" id="{47F20287-BC89-464D-8392-A2AE3AF2580F}"/>
              </a:ext>
            </a:extLst>
          </p:cNvPr>
          <p:cNvSpPr>
            <a:spLocks noGrp="1"/>
          </p:cNvSpPr>
          <p:nvPr/>
        </p:nvSpPr>
        <p:spPr>
          <a:xfrm>
            <a:off x="7924800" y="5829300"/>
            <a:ext cx="35814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READY → ACCEPTED</a:t>
            </a:r>
          </a:p>
        </p:txBody>
      </p:sp>
    </p:spTree>
    <p:extLst>
      <p:ext uri="{BB962C8B-B14F-4D97-AF65-F5344CB8AC3E}">
        <p14:creationId xmlns:p14="http://schemas.microsoft.com/office/powerpoint/2010/main" val="26858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15">
            <a:extLst>
              <a:ext uri="{FF2B5EF4-FFF2-40B4-BE49-F238E27FC236}">
                <a16:creationId xmlns:a16="http://schemas.microsoft.com/office/drawing/2014/main" id="{368DCEE2-BDFB-433E-994B-F7C09DBD5A0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RESPONSIBILITY SPLIT</a:t>
            </a:r>
          </a:p>
        </p:txBody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B67D2CD2-CDDA-42CF-8E0E-32398B264F5B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Ownership ditetapkan per organisasi</a:t>
            </a:r>
          </a:p>
        </p:txBody>
      </p:sp>
      <p:sp>
        <p:nvSpPr>
          <p:cNvPr id="3" name="footer-rule-15">
            <a:extLst>
              <a:ext uri="{FF2B5EF4-FFF2-40B4-BE49-F238E27FC236}">
                <a16:creationId xmlns:a16="http://schemas.microsoft.com/office/drawing/2014/main" id="{D52C08A0-A98F-4F87-B91B-2A4F0549FFF6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5">
            <a:extLst>
              <a:ext uri="{FF2B5EF4-FFF2-40B4-BE49-F238E27FC236}">
                <a16:creationId xmlns:a16="http://schemas.microsoft.com/office/drawing/2014/main" id="{3AE0D565-AD4C-4A06-A274-64E70E55B99A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5">
            <a:extLst>
              <a:ext uri="{FF2B5EF4-FFF2-40B4-BE49-F238E27FC236}">
                <a16:creationId xmlns:a16="http://schemas.microsoft.com/office/drawing/2014/main" id="{BBA0C08C-EB66-40F5-A100-8E89BD8D824C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6" name="ownership-intro">
            <a:extLst>
              <a:ext uri="{FF2B5EF4-FFF2-40B4-BE49-F238E27FC236}">
                <a16:creationId xmlns:a16="http://schemas.microsoft.com/office/drawing/2014/main" id="{10298161-2BE5-4146-9DEF-24C69890E021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12014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Nama individual dan signatory harus disahkan; tidak disimpulkan dari audio tanpa diarization.</a:t>
            </a:r>
          </a:p>
        </p:txBody>
      </p:sp>
      <p:sp>
        <p:nvSpPr>
          <p:cNvPr id="7" name="owner-lgu">
            <a:extLst>
              <a:ext uri="{FF2B5EF4-FFF2-40B4-BE49-F238E27FC236}">
                <a16:creationId xmlns:a16="http://schemas.microsoft.com/office/drawing/2014/main" id="{D015F086-DB72-4F7E-AE92-C82165D4C27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33337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8" name="owner-pertamina">
            <a:extLst>
              <a:ext uri="{FF2B5EF4-FFF2-40B4-BE49-F238E27FC236}">
                <a16:creationId xmlns:a16="http://schemas.microsoft.com/office/drawing/2014/main" id="{35ADB863-4DD3-43ED-9AC9-F143D2BA9AF8}"/>
              </a:ext>
            </a:extLst>
          </p:cNvPr>
          <p:cNvSpPr>
            <a:spLocks noGrp="1"/>
          </p:cNvSpPr>
          <p:nvPr/>
        </p:nvSpPr>
        <p:spPr>
          <a:xfrm>
            <a:off x="4429125" y="1943100"/>
            <a:ext cx="3333750" cy="35623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9" name="owner-vendor">
            <a:extLst>
              <a:ext uri="{FF2B5EF4-FFF2-40B4-BE49-F238E27FC236}">
                <a16:creationId xmlns:a16="http://schemas.microsoft.com/office/drawing/2014/main" id="{C6F8AD4F-A4AE-4451-A4D1-DD2C27D808FA}"/>
              </a:ext>
            </a:extLst>
          </p:cNvPr>
          <p:cNvSpPr>
            <a:spLocks noGrp="1"/>
          </p:cNvSpPr>
          <p:nvPr/>
        </p:nvSpPr>
        <p:spPr>
          <a:xfrm>
            <a:off x="8362950" y="1943100"/>
            <a:ext cx="3333750" cy="35623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0" name="owner-lgu-title">
            <a:extLst>
              <a:ext uri="{FF2B5EF4-FFF2-40B4-BE49-F238E27FC236}">
                <a16:creationId xmlns:a16="http://schemas.microsoft.com/office/drawing/2014/main" id="{FAF1D51F-5382-4DA1-BD5B-D88E09EE56F4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2762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LGU</a:t>
            </a:r>
          </a:p>
        </p:txBody>
      </p:sp>
      <p:sp>
        <p:nvSpPr>
          <p:cNvPr id="11" name="owner-lgu-body">
            <a:extLst>
              <a:ext uri="{FF2B5EF4-FFF2-40B4-BE49-F238E27FC236}">
                <a16:creationId xmlns:a16="http://schemas.microsoft.com/office/drawing/2014/main" id="{C6CDE552-B453-4BA7-9BBB-F38136453AC7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2762250" cy="2133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A untuk:
• Device datasheet dan BOM
• GLD power/FAT dan CH energy
• Gateway config/test support
• Server package dan runbook
• Controlled design dossier</a:t>
            </a:r>
          </a:p>
        </p:txBody>
      </p:sp>
      <p:sp>
        <p:nvSpPr>
          <p:cNvPr id="12" name="owner-pertamina-title">
            <a:extLst>
              <a:ext uri="{FF2B5EF4-FFF2-40B4-BE49-F238E27FC236}">
                <a16:creationId xmlns:a16="http://schemas.microsoft.com/office/drawing/2014/main" id="{BA12C8D5-78C6-4084-A728-0072C960E446}"/>
              </a:ext>
            </a:extLst>
          </p:cNvPr>
          <p:cNvSpPr>
            <a:spLocks noGrp="1"/>
          </p:cNvSpPr>
          <p:nvPr/>
        </p:nvSpPr>
        <p:spPr>
          <a:xfrm>
            <a:off x="4714875" y="2247900"/>
            <a:ext cx="2762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PERTAMINA</a:t>
            </a:r>
          </a:p>
        </p:txBody>
      </p:sp>
      <p:sp>
        <p:nvSpPr>
          <p:cNvPr id="13" name="owner-pertamina-body">
            <a:extLst>
              <a:ext uri="{FF2B5EF4-FFF2-40B4-BE49-F238E27FC236}">
                <a16:creationId xmlns:a16="http://schemas.microsoft.com/office/drawing/2014/main" id="{5C34E6FB-F779-42D6-9880-05ED889F93B0}"/>
              </a:ext>
            </a:extLst>
          </p:cNvPr>
          <p:cNvSpPr>
            <a:spLocks noGrp="1"/>
          </p:cNvSpPr>
          <p:nvPr/>
        </p:nvSpPr>
        <p:spPr>
          <a:xfrm>
            <a:off x="4714875" y="2876550"/>
            <a:ext cx="2762250" cy="2133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/ C untuk:
• Area classification dan HSE basis
• Site power, cable, structure
• Permit, contractor, installation
• IT platform, VLAN/firewall/policy
• Acceptance dan sign-off</a:t>
            </a:r>
          </a:p>
        </p:txBody>
      </p:sp>
      <p:sp>
        <p:nvSpPr>
          <p:cNvPr id="14" name="owner-vendor-title">
            <a:extLst>
              <a:ext uri="{FF2B5EF4-FFF2-40B4-BE49-F238E27FC236}">
                <a16:creationId xmlns:a16="http://schemas.microsoft.com/office/drawing/2014/main" id="{19FA270E-D5DA-4788-8ED6-93BEE0B90CBD}"/>
              </a:ext>
            </a:extLst>
          </p:cNvPr>
          <p:cNvSpPr>
            <a:spLocks noGrp="1"/>
          </p:cNvSpPr>
          <p:nvPr/>
        </p:nvSpPr>
        <p:spPr>
          <a:xfrm>
            <a:off x="8648700" y="2247900"/>
            <a:ext cx="2762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VENDOR / ExCB</a:t>
            </a:r>
          </a:p>
        </p:txBody>
      </p:sp>
      <p:sp>
        <p:nvSpPr>
          <p:cNvPr id="15" name="owner-vendor-body">
            <a:extLst>
              <a:ext uri="{FF2B5EF4-FFF2-40B4-BE49-F238E27FC236}">
                <a16:creationId xmlns:a16="http://schemas.microsoft.com/office/drawing/2014/main" id="{AECB77D6-256A-482D-A26F-C5FAA24036A6}"/>
              </a:ext>
            </a:extLst>
          </p:cNvPr>
          <p:cNvSpPr>
            <a:spLocks noGrp="1"/>
          </p:cNvSpPr>
          <p:nvPr/>
        </p:nvSpPr>
        <p:spPr>
          <a:xfrm>
            <a:off x="8648700" y="2876550"/>
            <a:ext cx="2762250" cy="2133600"/>
          </a:xfrm>
          <a:prstGeom prst="rect">
            <a:avLst/>
          </a:prstGeom>
        </p:spPr>
        <p:txBody>
          <a:bodyPr wrap="square" lIns="0" tIns="0" rIns="0" bIns="0" anchor="t">
            <a:normAutofit fontScale="99217"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C untuk:
• Exact part dan certificate data
• Assessment/test schedule
• Certificate scope dan conditions
• Battery/solar/enclosure evidence
• Inspection support</a:t>
            </a:r>
          </a:p>
        </p:txBody>
      </p:sp>
      <p:sp>
        <p:nvSpPr>
          <p:cNvPr id="16" name="ownership-key">
            <a:extLst>
              <a:ext uri="{FF2B5EF4-FFF2-40B4-BE49-F238E27FC236}">
                <a16:creationId xmlns:a16="http://schemas.microsoft.com/office/drawing/2014/main" id="{BC9407B0-7B71-4045-A0AA-92C779CB620C}"/>
              </a:ext>
            </a:extLst>
          </p:cNvPr>
          <p:cNvSpPr>
            <a:spLocks noGrp="1"/>
          </p:cNvSpPr>
          <p:nvPr/>
        </p:nvSpPr>
        <p:spPr>
          <a:xfrm>
            <a:off x="495300" y="5772150"/>
            <a:ext cx="112014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 = Responsible • A = Accountable • C = Consulted</a:t>
            </a:r>
          </a:p>
        </p:txBody>
      </p:sp>
    </p:spTree>
    <p:extLst>
      <p:ext uri="{BB962C8B-B14F-4D97-AF65-F5344CB8AC3E}">
        <p14:creationId xmlns:p14="http://schemas.microsoft.com/office/powerpoint/2010/main" val="213345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ection-16">
            <a:extLst>
              <a:ext uri="{FF2B5EF4-FFF2-40B4-BE49-F238E27FC236}">
                <a16:creationId xmlns:a16="http://schemas.microsoft.com/office/drawing/2014/main" id="{D617E9F0-C3D2-40F8-A7CF-75F4AC6296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457200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DECISION REQUEST</a:t>
            </a:r>
          </a:p>
        </p:txBody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12C1A9DB-8B8D-40B2-B890-4C34F2CC56D2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2014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Enam keputusan untuk mulai bergerak</a:t>
            </a:r>
          </a:p>
        </p:txBody>
      </p:sp>
      <p:sp>
        <p:nvSpPr>
          <p:cNvPr id="3" name="footer-rule-16">
            <a:extLst>
              <a:ext uri="{FF2B5EF4-FFF2-40B4-BE49-F238E27FC236}">
                <a16:creationId xmlns:a16="http://schemas.microsoft.com/office/drawing/2014/main" id="{D8CC925A-A9C4-44CC-ACC9-A16CA0295879}"/>
              </a:ext>
            </a:extLst>
          </p:cNvPr>
          <p:cNvSpPr>
            <a:spLocks noGrp="1"/>
          </p:cNvSpPr>
          <p:nvPr/>
        </p:nvSpPr>
        <p:spPr>
          <a:xfrm>
            <a:off x="495300" y="6362700"/>
            <a:ext cx="11201400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footer-left-16">
            <a:extLst>
              <a:ext uri="{FF2B5EF4-FFF2-40B4-BE49-F238E27FC236}">
                <a16:creationId xmlns:a16="http://schemas.microsoft.com/office/drawing/2014/main" id="{E945D97B-17C7-4D7C-B21F-44308EAF9FCC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3429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6">
            <a:extLst>
              <a:ext uri="{FF2B5EF4-FFF2-40B4-BE49-F238E27FC236}">
                <a16:creationId xmlns:a16="http://schemas.microsoft.com/office/drawing/2014/main" id="{98113889-ACB5-44F2-9E3D-5533B5D5FDA0}"/>
              </a:ext>
            </a:extLst>
          </p:cNvPr>
          <p:cNvSpPr>
            <a:spLocks noGrp="1"/>
          </p:cNvSpPr>
          <p:nvPr/>
        </p:nvSpPr>
        <p:spPr>
          <a:xfrm>
            <a:off x="11220450" y="6477000"/>
            <a:ext cx="476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6" name="decision-intro">
            <a:extLst>
              <a:ext uri="{FF2B5EF4-FFF2-40B4-BE49-F238E27FC236}">
                <a16:creationId xmlns:a16="http://schemas.microsoft.com/office/drawing/2014/main" id="{59EAF7EB-340A-4F93-A9B1-C7104AA55F6C}"/>
              </a:ext>
            </a:extLst>
          </p:cNvPr>
          <p:cNvSpPr>
            <a:spLocks noGrp="1"/>
          </p:cNvSpPr>
          <p:nvPr/>
        </p:nvSpPr>
        <p:spPr>
          <a:xfrm>
            <a:off x="495300" y="1257300"/>
            <a:ext cx="112014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Setiap keputusan harus menghasilkan owner, due date, dan evidence gate.</a:t>
            </a:r>
          </a:p>
        </p:txBody>
      </p:sp>
      <p:sp>
        <p:nvSpPr>
          <p:cNvPr id="7" name="decision-1-num">
            <a:extLst>
              <a:ext uri="{FF2B5EF4-FFF2-40B4-BE49-F238E27FC236}">
                <a16:creationId xmlns:a16="http://schemas.microsoft.com/office/drawing/2014/main" id="{A20C6BD7-F53D-4175-9CCE-FB6899532F99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decision-1">
            <a:extLst>
              <a:ext uri="{FF2B5EF4-FFF2-40B4-BE49-F238E27FC236}">
                <a16:creationId xmlns:a16="http://schemas.microsoft.com/office/drawing/2014/main" id="{37296F42-E817-494B-BA64-B53A1E84FD82}"/>
              </a:ext>
            </a:extLst>
          </p:cNvPr>
          <p:cNvSpPr>
            <a:spLocks noGrp="1"/>
          </p:cNvSpPr>
          <p:nvPr/>
        </p:nvSpPr>
        <p:spPr>
          <a:xfrm>
            <a:off x="1238250" y="1924050"/>
            <a:ext cx="4476750" cy="457200"/>
          </a:xfrm>
          <a:prstGeom prst="rect">
            <a:avLst/>
          </a:prstGeom>
        </p:spPr>
        <p:txBody>
          <a:bodyPr wrap="square"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Setujui 24 VDC/2 A provisional dan closure proteksi input GLD.</a:t>
            </a:r>
          </a:p>
        </p:txBody>
      </p:sp>
      <p:sp>
        <p:nvSpPr>
          <p:cNvPr id="9" name="decision-2-num">
            <a:extLst>
              <a:ext uri="{FF2B5EF4-FFF2-40B4-BE49-F238E27FC236}">
                <a16:creationId xmlns:a16="http://schemas.microsoft.com/office/drawing/2014/main" id="{6DEAC38E-611A-4B02-8B47-74F2FC8CDF24}"/>
              </a:ext>
            </a:extLst>
          </p:cNvPr>
          <p:cNvSpPr>
            <a:spLocks noGrp="1"/>
          </p:cNvSpPr>
          <p:nvPr/>
        </p:nvSpPr>
        <p:spPr>
          <a:xfrm>
            <a:off x="495300" y="28003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decision-2">
            <a:extLst>
              <a:ext uri="{FF2B5EF4-FFF2-40B4-BE49-F238E27FC236}">
                <a16:creationId xmlns:a16="http://schemas.microsoft.com/office/drawing/2014/main" id="{968F7305-04E8-480A-B994-45E897C46801}"/>
              </a:ext>
            </a:extLst>
          </p:cNvPr>
          <p:cNvSpPr>
            <a:spLocks noGrp="1"/>
          </p:cNvSpPr>
          <p:nvPr/>
        </p:nvSpPr>
        <p:spPr>
          <a:xfrm>
            <a:off x="1238250" y="2800350"/>
            <a:ext cx="4476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Pertahankan safety hold; trial hanya pada titik tertulis non-hazardous.</a:t>
            </a:r>
          </a:p>
        </p:txBody>
      </p:sp>
      <p:sp>
        <p:nvSpPr>
          <p:cNvPr id="11" name="decision-3-num">
            <a:extLst>
              <a:ext uri="{FF2B5EF4-FFF2-40B4-BE49-F238E27FC236}">
                <a16:creationId xmlns:a16="http://schemas.microsoft.com/office/drawing/2014/main" id="{F321FCE9-318A-4B8A-AB08-626E9049CD4C}"/>
              </a:ext>
            </a:extLst>
          </p:cNvPr>
          <p:cNvSpPr>
            <a:spLocks noGrp="1"/>
          </p:cNvSpPr>
          <p:nvPr/>
        </p:nvSpPr>
        <p:spPr>
          <a:xfrm>
            <a:off x="495300" y="37528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decision-3">
            <a:extLst>
              <a:ext uri="{FF2B5EF4-FFF2-40B4-BE49-F238E27FC236}">
                <a16:creationId xmlns:a16="http://schemas.microsoft.com/office/drawing/2014/main" id="{3DBA3EE3-02FE-40F7-94E5-343CA2782C66}"/>
              </a:ext>
            </a:extLst>
          </p:cNvPr>
          <p:cNvSpPr>
            <a:spLocks noGrp="1"/>
          </p:cNvSpPr>
          <p:nvPr/>
        </p:nvSpPr>
        <p:spPr>
          <a:xfrm>
            <a:off x="1238250" y="3752850"/>
            <a:ext cx="4476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Pilih arah TLS end-to-end atau exception terisolasi yang formal.</a:t>
            </a:r>
          </a:p>
        </p:txBody>
      </p:sp>
      <p:sp>
        <p:nvSpPr>
          <p:cNvPr id="13" name="decision-4-num">
            <a:extLst>
              <a:ext uri="{FF2B5EF4-FFF2-40B4-BE49-F238E27FC236}">
                <a16:creationId xmlns:a16="http://schemas.microsoft.com/office/drawing/2014/main" id="{17FA11C4-004E-4836-8472-AD483F93546C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4" name="decision-4">
            <a:extLst>
              <a:ext uri="{FF2B5EF4-FFF2-40B4-BE49-F238E27FC236}">
                <a16:creationId xmlns:a16="http://schemas.microsoft.com/office/drawing/2014/main" id="{5092C4C7-09B6-46CE-A522-AFA55675EE40}"/>
              </a:ext>
            </a:extLst>
          </p:cNvPr>
          <p:cNvSpPr>
            <a:spLocks noGrp="1"/>
          </p:cNvSpPr>
          <p:nvPr/>
        </p:nvSpPr>
        <p:spPr>
          <a:xfrm>
            <a:off x="7048500" y="1924050"/>
            <a:ext cx="4476750" cy="457200"/>
          </a:xfrm>
          <a:prstGeom prst="rect">
            <a:avLst/>
          </a:prstGeom>
        </p:spPr>
        <p:txBody>
          <a:bodyPr wrap="square"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Approve baseline server pilot dan owner platform/operations.</a:t>
            </a:r>
          </a:p>
        </p:txBody>
      </p:sp>
      <p:sp>
        <p:nvSpPr>
          <p:cNvPr id="15" name="decision-5-num">
            <a:extLst>
              <a:ext uri="{FF2B5EF4-FFF2-40B4-BE49-F238E27FC236}">
                <a16:creationId xmlns:a16="http://schemas.microsoft.com/office/drawing/2014/main" id="{7E7C50CA-76B8-4D1D-98B5-C326F8F97488}"/>
              </a:ext>
            </a:extLst>
          </p:cNvPr>
          <p:cNvSpPr>
            <a:spLocks noGrp="1"/>
          </p:cNvSpPr>
          <p:nvPr/>
        </p:nvSpPr>
        <p:spPr>
          <a:xfrm>
            <a:off x="6305550" y="28003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decision-5">
            <a:extLst>
              <a:ext uri="{FF2B5EF4-FFF2-40B4-BE49-F238E27FC236}">
                <a16:creationId xmlns:a16="http://schemas.microsoft.com/office/drawing/2014/main" id="{C8535704-55E4-4100-ABB8-D7E92A00E120}"/>
              </a:ext>
            </a:extLst>
          </p:cNvPr>
          <p:cNvSpPr>
            <a:spLocks noGrp="1"/>
          </p:cNvSpPr>
          <p:nvPr/>
        </p:nvSpPr>
        <p:spPr>
          <a:xfrm>
            <a:off x="7048500" y="2800350"/>
            <a:ext cx="4476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Konfirmasi isi support pack akhir September dan agenda next survey.</a:t>
            </a:r>
          </a:p>
        </p:txBody>
      </p:sp>
      <p:sp>
        <p:nvSpPr>
          <p:cNvPr id="17" name="decision-6-num">
            <a:extLst>
              <a:ext uri="{FF2B5EF4-FFF2-40B4-BE49-F238E27FC236}">
                <a16:creationId xmlns:a16="http://schemas.microsoft.com/office/drawing/2014/main" id="{0A1212C2-5F14-48B1-928B-846F20864A8B}"/>
              </a:ext>
            </a:extLst>
          </p:cNvPr>
          <p:cNvSpPr>
            <a:spLocks noGrp="1"/>
          </p:cNvSpPr>
          <p:nvPr/>
        </p:nvSpPr>
        <p:spPr>
          <a:xfrm>
            <a:off x="6305550" y="37528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8" name="decision-6">
            <a:extLst>
              <a:ext uri="{FF2B5EF4-FFF2-40B4-BE49-F238E27FC236}">
                <a16:creationId xmlns:a16="http://schemas.microsoft.com/office/drawing/2014/main" id="{922D7890-92D5-425D-B927-2AD7A9649AAE}"/>
              </a:ext>
            </a:extLst>
          </p:cNvPr>
          <p:cNvSpPr>
            <a:spLocks noGrp="1"/>
          </p:cNvSpPr>
          <p:nvPr/>
        </p:nvSpPr>
        <p:spPr>
          <a:xfrm>
            <a:off x="7048500" y="3752850"/>
            <a:ext cx="4476750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Tetapkan accountable owner dan signatory untuk setiap workstream.</a:t>
            </a:r>
          </a:p>
        </p:txBody>
      </p:sp>
      <p:sp>
        <p:nvSpPr>
          <p:cNvPr id="19" name="decision-output">
            <a:extLst>
              <a:ext uri="{FF2B5EF4-FFF2-40B4-BE49-F238E27FC236}">
                <a16:creationId xmlns:a16="http://schemas.microsoft.com/office/drawing/2014/main" id="{7DFF271E-5413-436B-B579-5A6D61A66AB3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1201400" cy="11049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0" name="decision-output-title">
            <a:extLst>
              <a:ext uri="{FF2B5EF4-FFF2-40B4-BE49-F238E27FC236}">
                <a16:creationId xmlns:a16="http://schemas.microsoft.com/office/drawing/2014/main" id="{70421F8E-B94F-4F51-91D8-2AC12BB6C48A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2095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OUTPUT RAPAT</a:t>
            </a:r>
          </a:p>
        </p:txBody>
      </p:sp>
      <p:sp>
        <p:nvSpPr>
          <p:cNvPr id="21" name="decision-output-body">
            <a:extLst>
              <a:ext uri="{FF2B5EF4-FFF2-40B4-BE49-F238E27FC236}">
                <a16:creationId xmlns:a16="http://schemas.microsoft.com/office/drawing/2014/main" id="{B4D2476C-9AAD-478E-8EAE-3B482189AFD4}"/>
              </a:ext>
            </a:extLst>
          </p:cNvPr>
          <p:cNvSpPr>
            <a:spLocks noGrp="1"/>
          </p:cNvSpPr>
          <p:nvPr/>
        </p:nvSpPr>
        <p:spPr>
          <a:xfrm>
            <a:off x="2876550" y="5181600"/>
            <a:ext cx="8534400" cy="381000"/>
          </a:xfrm>
          <a:prstGeom prst="rect">
            <a:avLst/>
          </a:prstGeom>
        </p:spPr>
        <p:txBody>
          <a:bodyPr wrap="square" lIns="0" tIns="0" rIns="0" bIns="0" anchor="t">
            <a:normAutofit fontScale="86567"/>
          </a:bodyPr>
          <a:lstStyle/>
          <a:p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log • owner organisasi • due date • acceptance authority • bukti penutupan</a:t>
            </a:r>
          </a:p>
        </p:txBody>
      </p:sp>
      <p:sp>
        <p:nvSpPr>
          <p:cNvPr id="22" name="decision-output-note">
            <a:extLst>
              <a:ext uri="{FF2B5EF4-FFF2-40B4-BE49-F238E27FC236}">
                <a16:creationId xmlns:a16="http://schemas.microsoft.com/office/drawing/2014/main" id="{49434BDD-B872-4CA0-B9FF-BFA4210676B1}"/>
              </a:ext>
            </a:extLst>
          </p:cNvPr>
          <p:cNvSpPr>
            <a:spLocks noGrp="1"/>
          </p:cNvSpPr>
          <p:nvPr/>
        </p:nvSpPr>
        <p:spPr>
          <a:xfrm>
            <a:off x="2876550" y="5619750"/>
            <a:ext cx="85344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Dengan enam keputusan ini, tim dapat bergerak tanpa mengubah asumsi menjadi klaim readiness.</a:t>
            </a:r>
          </a:p>
        </p:txBody>
      </p:sp>
    </p:spTree>
    <p:extLst>
      <p:ext uri="{BB962C8B-B14F-4D97-AF65-F5344CB8AC3E}">
        <p14:creationId xmlns:p14="http://schemas.microsoft.com/office/powerpoint/2010/main" val="1532482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2418</Words>
  <Application>Microsoft Office PowerPoint</Application>
  <DocSecurity>0</DocSecurity>
  <PresentationFormat>Widescreen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MSI</cp:lastModifiedBy>
  <cp:revision>2</cp:revision>
  <dcterms:created xsi:type="dcterms:W3CDTF">2026-08-18T14:37:21Z</dcterms:created>
  <dcterms:modified xsi:type="dcterms:W3CDTF">2026-08-19T05:57:46Z</dcterms:modified>
</cp:coreProperties>
</file>